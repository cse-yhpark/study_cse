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9" userDrawn="1">
          <p15:clr>
            <a:srgbClr val="A4A3A4"/>
          </p15:clr>
        </p15:guide>
        <p15:guide id="3" pos="2955" userDrawn="1">
          <p15:clr>
            <a:srgbClr val="A4A3A4"/>
          </p15:clr>
        </p15:guide>
        <p15:guide id="4" pos="3030" userDrawn="1">
          <p15:clr>
            <a:srgbClr val="A4A3A4"/>
          </p15:clr>
        </p15:guide>
        <p15:guide id="5" orient="horz" pos="2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9" y="75"/>
      </p:cViewPr>
      <p:guideLst>
        <p:guide pos="329"/>
        <p:guide pos="2955"/>
        <p:guide pos="3030"/>
        <p:guide orient="horz" pos="26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BECE31-9A06-F057-B8A6-A484D22641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F56D83-6B76-D5AE-E0B2-6157D6520E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3497E-22E7-46F2-A530-E6F743E3A0F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0FB7BD-1CDC-0E88-C0A3-3DF29D30F2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BE78E-B995-0BF8-08D1-4C40B2915A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5B65B-AEC7-4DED-B5AE-7E349FFB9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191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3C34-A87E-4E4B-944F-D1641EB450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7B57-E826-4D9B-9022-BEDFEA26F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57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37EC53-04E9-741B-EB65-2DA97F35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"/>
            <a:ext cx="9144000" cy="3509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2CFACB-FDB6-24A7-5BC2-B211E25E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954"/>
            <a:ext cx="9144000" cy="33480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4A3B73-B170-C364-B8FB-D10D7709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50995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462443-F3BA-08F8-7E8C-EA226C413B6B}"/>
              </a:ext>
            </a:extLst>
          </p:cNvPr>
          <p:cNvSpPr/>
          <p:nvPr/>
        </p:nvSpPr>
        <p:spPr>
          <a:xfrm>
            <a:off x="0" y="-17"/>
            <a:ext cx="9144000" cy="3509967"/>
          </a:xfrm>
          <a:prstGeom prst="rect">
            <a:avLst/>
          </a:prstGeom>
          <a:solidFill>
            <a:srgbClr val="0D1F35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0" y="-16"/>
            <a:ext cx="8820000" cy="3509959"/>
          </a:xfrm>
        </p:spPr>
        <p:txBody>
          <a:bodyPr anchor="ctr"/>
          <a:lstStyle>
            <a:lvl1pPr algn="l">
              <a:lnSpc>
                <a:spcPct val="150000"/>
              </a:lnSpc>
              <a:defRPr sz="4000" b="1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8192DB-9F08-EC89-B261-1FF64899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698" t="25172" r="20343" b="25172"/>
          <a:stretch>
            <a:fillRect/>
          </a:stretch>
        </p:blipFill>
        <p:spPr>
          <a:xfrm>
            <a:off x="7766020" y="3781986"/>
            <a:ext cx="565691" cy="10476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AB88F28-518B-E993-1259-294B36574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65220" y="3911594"/>
            <a:ext cx="6400800" cy="2544763"/>
          </a:xfrm>
        </p:spPr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sz="1600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1F6F8F-2590-2E5C-14FC-D368774E3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0" t="25172" r="73541" b="25172"/>
          <a:stretch>
            <a:fillRect/>
          </a:stretch>
        </p:blipFill>
        <p:spPr>
          <a:xfrm>
            <a:off x="709583" y="3781836"/>
            <a:ext cx="8191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57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B296DDD-CDEF-4940-C8A5-3B788A0C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29556"/>
            <a:ext cx="8884800" cy="633600"/>
          </a:xfrm>
        </p:spPr>
        <p:txBody>
          <a:bodyPr/>
          <a:lstStyle>
            <a:lvl1pPr>
              <a:lnSpc>
                <a:spcPct val="100000"/>
              </a:lnSpc>
              <a:defRPr sz="2200" b="0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CACB84-D1A8-72BD-5C75-8335D4D98ED7}"/>
              </a:ext>
            </a:extLst>
          </p:cNvPr>
          <p:cNvSpPr/>
          <p:nvPr/>
        </p:nvSpPr>
        <p:spPr>
          <a:xfrm>
            <a:off x="1" y="1023504"/>
            <a:ext cx="9144000" cy="5658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9200"/>
            <a:ext cx="8884800" cy="5216400"/>
          </a:xfrm>
          <a:solidFill>
            <a:schemeClr val="bg1">
              <a:alpha val="58000"/>
            </a:schemeClr>
          </a:solidFill>
        </p:spPr>
        <p:txBody>
          <a:bodyPr/>
          <a:lstStyle>
            <a:lvl1pPr>
              <a:lnSpc>
                <a:spcPct val="100000"/>
              </a:lnSpc>
              <a:defRPr sz="2000" b="1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  <a:lvl2pPr>
              <a:lnSpc>
                <a:spcPct val="100000"/>
              </a:lnSpc>
              <a:buFont typeface="Aptos" panose="020B0004020202020204" pitchFamily="34" charset="0"/>
              <a:buChar char="-"/>
              <a:defRPr sz="18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SemiBold" panose="02000703000000020004" pitchFamily="50" charset="-127"/>
              </a:defRPr>
            </a:lvl3pPr>
            <a:lvl4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Medium" panose="02000603000000020004" pitchFamily="50" charset="-127"/>
              </a:defRPr>
            </a:lvl4pPr>
            <a:lvl5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7000" y="6301146"/>
            <a:ext cx="2057400" cy="365125"/>
          </a:xfrm>
        </p:spPr>
        <p:txBody>
          <a:bodyPr/>
          <a:lstStyle>
            <a:lvl1pPr>
              <a:defRPr sz="1600" b="1" baseline="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69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84940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4535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5843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69985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088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21361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8231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3741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47048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6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70946-7FD9-D2BC-352C-1AACCAD06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" y="277200"/>
            <a:ext cx="8820000" cy="2955600"/>
          </a:xfrm>
        </p:spPr>
        <p:txBody>
          <a:bodyPr/>
          <a:lstStyle/>
          <a:p>
            <a:r>
              <a:rPr lang="en-US" altLang="ko-KR" sz="2000"/>
              <a:t>chapter 01</a:t>
            </a:r>
            <a:br>
              <a:rPr lang="en-US" altLang="ko-KR"/>
            </a:br>
            <a:r>
              <a:rPr lang="ko-KR" altLang="en-US"/>
              <a:t>운영체제 소개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9C6DE4-C29D-07F8-D6C7-40F2CCE1F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유한대학교 컴퓨터소프트웨어공학과</a:t>
            </a:r>
            <a:endParaRPr lang="en-US" altLang="ko-KR"/>
          </a:p>
          <a:p>
            <a:r>
              <a:rPr lang="ko-KR" altLang="en-US"/>
              <a:t>박 영 환</a:t>
            </a:r>
          </a:p>
        </p:txBody>
      </p:sp>
    </p:spTree>
    <p:extLst>
      <p:ext uri="{BB962C8B-B14F-4D97-AF65-F5344CB8AC3E}">
        <p14:creationId xmlns:p14="http://schemas.microsoft.com/office/powerpoint/2010/main" val="418309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AC41C-02AB-2197-5B0D-AB87E0EB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92155-A9D5-88FA-20CD-7B34627C4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운영체제의 발전 및 환경 변화</a:t>
            </a:r>
            <a:endParaRPr lang="en-US" altLang="ko-KR"/>
          </a:p>
          <a:p>
            <a:pPr lvl="1"/>
            <a:r>
              <a:rPr lang="ko-KR" altLang="en-US"/>
              <a:t>컴퓨터 분야의 전례 없는 고속 진화</a:t>
            </a:r>
            <a:endParaRPr lang="en-US" altLang="ko-KR"/>
          </a:p>
          <a:p>
            <a:pPr lvl="2"/>
            <a:r>
              <a:rPr lang="ko-KR" altLang="en-US"/>
              <a:t>성능의 경이로운 비약적 향상</a:t>
            </a:r>
            <a:endParaRPr lang="en-US" altLang="ko-KR"/>
          </a:p>
          <a:p>
            <a:pPr lvl="2"/>
            <a:r>
              <a:rPr lang="ko-KR" altLang="en-US"/>
              <a:t>초당 수십억 개 명령 실행 환경 구축</a:t>
            </a:r>
            <a:endParaRPr lang="en-US" altLang="ko-KR"/>
          </a:p>
          <a:p>
            <a:pPr lvl="1"/>
            <a:r>
              <a:rPr lang="ko-KR" altLang="en-US"/>
              <a:t>컴퓨팅 자원의 대중화 및 활용 다변화</a:t>
            </a:r>
            <a:endParaRPr lang="en-US" altLang="ko-KR"/>
          </a:p>
          <a:p>
            <a:pPr lvl="2"/>
            <a:r>
              <a:rPr lang="ko-KR" altLang="en-US"/>
              <a:t>개인용 컴퓨터의 문서 작성</a:t>
            </a:r>
            <a:r>
              <a:rPr lang="en-US" altLang="ko-KR"/>
              <a:t>, </a:t>
            </a:r>
            <a:r>
              <a:rPr lang="ko-KR" altLang="en-US"/>
              <a:t>멀티미디어 활용 및 자산 관리</a:t>
            </a:r>
            <a:endParaRPr lang="en-US" altLang="ko-KR"/>
          </a:p>
          <a:p>
            <a:pPr lvl="2"/>
            <a:r>
              <a:rPr lang="ko-KR" altLang="en-US"/>
              <a:t>노트북</a:t>
            </a:r>
            <a:r>
              <a:rPr lang="en-US" altLang="ko-KR"/>
              <a:t>, PDA, </a:t>
            </a:r>
            <a:r>
              <a:rPr lang="ko-KR" altLang="en-US"/>
              <a:t>휴대폰 등 휴대 장치의 핵심 구성 요소 내장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컴퓨팅 네트워크 및 아키텍처의 혁신 </a:t>
            </a:r>
            <a:endParaRPr lang="en-US" altLang="ko-KR"/>
          </a:p>
          <a:p>
            <a:pPr lvl="1"/>
            <a:r>
              <a:rPr lang="ko-KR" altLang="en-US"/>
              <a:t>유무선 네트워크 아키텍처 발달</a:t>
            </a:r>
            <a:endParaRPr lang="en-US" altLang="ko-KR"/>
          </a:p>
          <a:p>
            <a:pPr lvl="2"/>
            <a:r>
              <a:rPr lang="ko-KR" altLang="en-US"/>
              <a:t>상호 연결성 증가로 인한 언제 어디서나 통신 가능 환경 조성</a:t>
            </a:r>
            <a:endParaRPr lang="en-US" altLang="ko-KR"/>
          </a:p>
          <a:p>
            <a:pPr lvl="2"/>
            <a:r>
              <a:rPr lang="ko-KR" altLang="en-US"/>
              <a:t>트랜잭션을 서비스하는 거대 컴퓨터 내트워크 구축</a:t>
            </a:r>
            <a:endParaRPr lang="en-US" altLang="ko-KR"/>
          </a:p>
          <a:p>
            <a:pPr lvl="1"/>
            <a:r>
              <a:rPr lang="ko-KR" altLang="en-US"/>
              <a:t>복잡한 연구 및 시뮬레이션 프로젝트 수행</a:t>
            </a:r>
            <a:endParaRPr lang="en-US" altLang="ko-KR"/>
          </a:p>
          <a:p>
            <a:pPr lvl="2"/>
            <a:r>
              <a:rPr lang="ko-KR" altLang="en-US"/>
              <a:t>기후 변화 모델링 및 인공지능 처리</a:t>
            </a:r>
            <a:endParaRPr lang="en-US" altLang="ko-KR"/>
          </a:p>
          <a:p>
            <a:pPr lvl="2"/>
            <a:r>
              <a:rPr lang="ko-KR" altLang="en-US"/>
              <a:t>생생한 </a:t>
            </a:r>
            <a:r>
              <a:rPr lang="en-US" altLang="ko-KR"/>
              <a:t>3D </a:t>
            </a:r>
            <a:r>
              <a:rPr lang="ko-KR" altLang="en-US"/>
              <a:t>애니메이션 및 시뮬레이션 수행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A34AB-F701-1876-86AB-9DFB57B0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76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D76CA-7E9E-399D-00AF-94BD11E7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2D302E-7E42-F3E5-2C76-759D4FD25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운영체제 개념의 변천 및 도입 배경</a:t>
            </a:r>
            <a:endParaRPr lang="en-US" altLang="ko-KR"/>
          </a:p>
          <a:p>
            <a:pPr lvl="1"/>
            <a:r>
              <a:rPr lang="en-US" altLang="ko-KR"/>
              <a:t>1960</a:t>
            </a:r>
            <a:r>
              <a:rPr lang="ko-KR" altLang="en-US"/>
              <a:t>년대 운영체제 정의</a:t>
            </a:r>
            <a:endParaRPr lang="en-US" altLang="ko-KR"/>
          </a:p>
          <a:p>
            <a:pPr lvl="2"/>
            <a:r>
              <a:rPr lang="ko-KR" altLang="en-US"/>
              <a:t>하드웨어를 제어하는 소프트웨어 수준의 개념</a:t>
            </a:r>
            <a:endParaRPr lang="en-US" altLang="ko-KR"/>
          </a:p>
          <a:p>
            <a:pPr lvl="2"/>
            <a:r>
              <a:rPr lang="ko-KR" altLang="en-US"/>
              <a:t>컴퓨팅 시스템에 대한 견해 변화에 따른 정밀하고 풍부한 정의 요구</a:t>
            </a:r>
            <a:endParaRPr lang="en-US" altLang="ko-KR"/>
          </a:p>
          <a:p>
            <a:pPr lvl="1"/>
            <a:r>
              <a:rPr lang="ko-KR" altLang="en-US"/>
              <a:t>하드웨어 사용 효율 극대화</a:t>
            </a:r>
            <a:endParaRPr lang="en-US" altLang="ko-KR"/>
          </a:p>
          <a:p>
            <a:pPr lvl="2"/>
            <a:r>
              <a:rPr lang="ko-KR" altLang="en-US"/>
              <a:t>수많은 응용 소프트웨어의 동시 실행 설계</a:t>
            </a:r>
            <a:endParaRPr lang="en-US" altLang="ko-KR"/>
          </a:p>
          <a:p>
            <a:pPr lvl="2"/>
            <a:r>
              <a:rPr lang="ko-KR" altLang="en-US"/>
              <a:t>응용 프로그램 간 상화 간 방지 및 분리 계층 형성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운영체제의 정의 및 색심 역할</a:t>
            </a:r>
            <a:endParaRPr lang="en-US" altLang="ko-KR"/>
          </a:p>
          <a:p>
            <a:pPr lvl="1"/>
            <a:r>
              <a:rPr lang="ko-KR" altLang="en-US"/>
              <a:t>응용 프로그램과 하드웨어 간 인터페이스 제공</a:t>
            </a:r>
            <a:endParaRPr lang="en-US" altLang="ko-KR"/>
          </a:p>
          <a:p>
            <a:pPr lvl="2"/>
            <a:r>
              <a:rPr lang="ko-KR" altLang="en-US"/>
              <a:t>응용프로그램의 하드웨어 상호작용 매개</a:t>
            </a:r>
            <a:endParaRPr lang="en-US" altLang="ko-KR"/>
          </a:p>
          <a:p>
            <a:pPr lvl="2"/>
            <a:r>
              <a:rPr lang="ko-KR" altLang="en-US"/>
              <a:t>핵심 구성 요소를 담은 커널</a:t>
            </a:r>
            <a:r>
              <a:rPr lang="en-US" altLang="ko-KR"/>
              <a:t>(Kernel) </a:t>
            </a:r>
            <a:r>
              <a:rPr lang="ko-KR" altLang="en-US"/>
              <a:t>구축</a:t>
            </a:r>
            <a:endParaRPr lang="en-US" altLang="ko-KR"/>
          </a:p>
          <a:p>
            <a:pPr lvl="1"/>
            <a:r>
              <a:rPr lang="ko-KR" altLang="en-US"/>
              <a:t>자원 관리자</a:t>
            </a:r>
            <a:r>
              <a:rPr lang="en-US" altLang="ko-KR"/>
              <a:t>(Resource Manager) </a:t>
            </a:r>
            <a:r>
              <a:rPr lang="ko-KR" altLang="en-US"/>
              <a:t>기능 수행</a:t>
            </a:r>
            <a:endParaRPr lang="en-US" altLang="ko-KR"/>
          </a:p>
          <a:p>
            <a:pPr lvl="2"/>
            <a:r>
              <a:rPr lang="ko-KR" altLang="en-US"/>
              <a:t>프로세서</a:t>
            </a:r>
            <a:r>
              <a:rPr lang="en-US" altLang="ko-KR"/>
              <a:t>, </a:t>
            </a:r>
            <a:r>
              <a:rPr lang="ko-KR" altLang="en-US"/>
              <a:t>메모리</a:t>
            </a:r>
            <a:r>
              <a:rPr lang="en-US" altLang="ko-KR"/>
              <a:t>, </a:t>
            </a:r>
            <a:r>
              <a:rPr lang="ko-KR" altLang="en-US"/>
              <a:t>입출력 장치</a:t>
            </a:r>
            <a:r>
              <a:rPr lang="en-US" altLang="ko-KR"/>
              <a:t>, </a:t>
            </a:r>
            <a:r>
              <a:rPr lang="ko-KR" altLang="en-US"/>
              <a:t>통신 장치 등 하드웨어 자원 관리</a:t>
            </a:r>
            <a:endParaRPr lang="en-US" altLang="ko-KR"/>
          </a:p>
          <a:p>
            <a:pPr lvl="2"/>
            <a:r>
              <a:rPr lang="ko-KR" altLang="en-US"/>
              <a:t>응용 프로그램 및 추상적 소프트웨어 객체 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9796D-E7D1-E2BD-38B7-BD26AB4E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27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45E1B-3F0A-028E-E14E-F765485F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4E9DB-6E15-70D7-F2D0-6EBC18378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컴퓨터 시스템 환경에서의 운영체제 작동 및 역사적 전개</a:t>
            </a:r>
            <a:endParaRPr lang="en-US" altLang="ko-KR"/>
          </a:p>
          <a:p>
            <a:pPr lvl="1"/>
            <a:r>
              <a:rPr lang="ko-KR" altLang="en-US"/>
              <a:t>사용자 관점의 시스템 조작 및 서비스 보장</a:t>
            </a:r>
            <a:endParaRPr lang="en-US" altLang="ko-KR"/>
          </a:p>
          <a:p>
            <a:pPr lvl="2"/>
            <a:r>
              <a:rPr lang="ko-KR" altLang="en-US"/>
              <a:t>문서 출력 및 프로그램 실행 요청에 대한 적절한 결과 보장</a:t>
            </a:r>
            <a:endParaRPr lang="en-US" altLang="ko-KR"/>
          </a:p>
          <a:p>
            <a:pPr lvl="2"/>
            <a:r>
              <a:rPr lang="ko-KR" altLang="en-US"/>
              <a:t>사용자 관점에서의 블랙박스</a:t>
            </a:r>
            <a:r>
              <a:rPr lang="en-US" altLang="ko-KR"/>
              <a:t>(Blackbox) </a:t>
            </a:r>
            <a:r>
              <a:rPr lang="ko-KR" altLang="en-US"/>
              <a:t>역할 수행</a:t>
            </a:r>
            <a:endParaRPr lang="en-US" altLang="ko-KR"/>
          </a:p>
          <a:p>
            <a:pPr lvl="1"/>
            <a:r>
              <a:rPr lang="ko-KR" altLang="en-US"/>
              <a:t>운영체제 역사적 발전 단계 고찰</a:t>
            </a:r>
            <a:endParaRPr lang="en-US" altLang="ko-KR"/>
          </a:p>
          <a:p>
            <a:pPr lvl="2"/>
            <a:r>
              <a:rPr lang="en-US" altLang="ko-KR"/>
              <a:t>1950</a:t>
            </a:r>
            <a:r>
              <a:rPr lang="ko-KR" altLang="en-US"/>
              <a:t>년대 단일 사용자 배치 시스템 파악</a:t>
            </a:r>
            <a:endParaRPr lang="en-US" altLang="ko-KR"/>
          </a:p>
          <a:p>
            <a:pPr lvl="2"/>
            <a:r>
              <a:rPr lang="ko-KR" altLang="en-US"/>
              <a:t>멀티프로세서</a:t>
            </a:r>
            <a:r>
              <a:rPr lang="en-US" altLang="ko-KR"/>
              <a:t>, </a:t>
            </a:r>
            <a:r>
              <a:rPr lang="ko-KR" altLang="en-US"/>
              <a:t>분산</a:t>
            </a:r>
            <a:r>
              <a:rPr lang="en-US" altLang="ko-KR"/>
              <a:t>, </a:t>
            </a:r>
            <a:r>
              <a:rPr lang="ko-KR" altLang="en-US"/>
              <a:t>다중 사용자 플랫폼으로의 확장 이해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82CC9-B462-1F52-265A-1D26118A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68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15E5B-BA4B-7C84-159C-F86C8668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81FCD-79D3-4EA5-5C7A-7C035AFE6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/>
              <a:t>운영체제 부재기 및 </a:t>
            </a:r>
            <a:r>
              <a:rPr lang="en-US" altLang="ko-KR"/>
              <a:t>1940</a:t>
            </a:r>
            <a:r>
              <a:rPr lang="ko-KR" altLang="en-US"/>
              <a:t>년대 컴퓨팅 환경</a:t>
            </a:r>
            <a:endParaRPr lang="en-US" altLang="ko-KR"/>
          </a:p>
          <a:p>
            <a:pPr lvl="1"/>
            <a:r>
              <a:rPr lang="ko-KR" altLang="en-US"/>
              <a:t>초기 디지털 컴퓨터의 운영체제 미포함 상태</a:t>
            </a:r>
            <a:endParaRPr lang="en-US" altLang="ko-KR"/>
          </a:p>
          <a:p>
            <a:pPr lvl="2"/>
            <a:r>
              <a:rPr lang="ko-KR" altLang="en-US"/>
              <a:t>프로그래머의 기계 스위치 조작을 통한 기계어 프로그램의 </a:t>
            </a:r>
            <a:r>
              <a:rPr lang="en-US" altLang="ko-KR"/>
              <a:t>1</a:t>
            </a:r>
            <a:r>
              <a:rPr lang="ko-KR" altLang="en-US"/>
              <a:t>비트씩 입력   </a:t>
            </a:r>
            <a:endParaRPr lang="en-US" altLang="ko-KR"/>
          </a:p>
          <a:p>
            <a:pPr lvl="2"/>
            <a:r>
              <a:rPr lang="ko-KR" altLang="en-US"/>
              <a:t>천공 카드</a:t>
            </a:r>
            <a:r>
              <a:rPr lang="en-US" altLang="ko-KR"/>
              <a:t>(Punched Card) </a:t>
            </a:r>
            <a:r>
              <a:rPr lang="ko-KR" altLang="en-US"/>
              <a:t>도입을 통한 기계어 프로그램 입력</a:t>
            </a:r>
          </a:p>
          <a:p>
            <a:pPr lvl="1"/>
            <a:r>
              <a:rPr lang="ko-KR" altLang="en-US"/>
              <a:t>어셈블리어 개발 및 프로그래밍 절차 개선   </a:t>
            </a:r>
            <a:endParaRPr lang="en-US" altLang="ko-KR"/>
          </a:p>
          <a:p>
            <a:pPr lvl="2"/>
            <a:r>
              <a:rPr lang="ko-KR" altLang="en-US"/>
              <a:t>영어 유사 약어를 활용한 컴퓨터 기본 연산 표현   </a:t>
            </a:r>
            <a:endParaRPr lang="en-US" altLang="ko-KR"/>
          </a:p>
          <a:p>
            <a:pPr lvl="2"/>
            <a:r>
              <a:rPr lang="ko-KR" altLang="en-US"/>
              <a:t>프로그래밍 작업 속도 향상 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en-US" altLang="ko-KR"/>
              <a:t>1950</a:t>
            </a:r>
            <a:r>
              <a:rPr lang="ko-KR" altLang="en-US"/>
              <a:t>년대 초기 운영체제 개발 및 배치 처리 시스템</a:t>
            </a:r>
          </a:p>
          <a:p>
            <a:pPr lvl="1"/>
            <a:r>
              <a:rPr lang="ko-KR" altLang="en-US"/>
              <a:t>최초의 운영체제 개발 및 작업 효율화 기법   </a:t>
            </a:r>
            <a:endParaRPr lang="en-US" altLang="ko-KR"/>
          </a:p>
          <a:p>
            <a:pPr lvl="2"/>
            <a:r>
              <a:rPr lang="ko-KR" altLang="en-US"/>
              <a:t>제너럴 모터스</a:t>
            </a:r>
            <a:r>
              <a:rPr lang="en-US" altLang="ko-KR"/>
              <a:t>(General Motors) </a:t>
            </a:r>
            <a:r>
              <a:rPr lang="ko-KR" altLang="en-US"/>
              <a:t>연구실의 </a:t>
            </a:r>
            <a:r>
              <a:rPr lang="en-US" altLang="ko-KR"/>
              <a:t>IBM 701 </a:t>
            </a:r>
            <a:r>
              <a:rPr lang="ko-KR" altLang="en-US"/>
              <a:t>컴퓨터용 최초 운영체제 개발   </a:t>
            </a:r>
            <a:r>
              <a:rPr lang="en-US" altLang="ko-KR"/>
              <a:t>	</a:t>
            </a:r>
          </a:p>
          <a:p>
            <a:pPr lvl="2"/>
            <a:r>
              <a:rPr lang="ko-KR" altLang="en-US"/>
              <a:t>작업 간 이동을 원활하게 하는 기술 적용을 통한 사용 효율 극대화</a:t>
            </a:r>
          </a:p>
          <a:p>
            <a:pPr lvl="1"/>
            <a:r>
              <a:rPr lang="ko-KR" altLang="en-US"/>
              <a:t>단일 스트림 배치 처리 시스템</a:t>
            </a:r>
            <a:r>
              <a:rPr lang="en-US" altLang="ko-KR"/>
              <a:t>(Single-stream Batch-processing System) </a:t>
            </a:r>
            <a:r>
              <a:rPr lang="ko-KR" altLang="en-US"/>
              <a:t>구현   </a:t>
            </a:r>
            <a:endParaRPr lang="en-US" altLang="ko-KR"/>
          </a:p>
          <a:p>
            <a:pPr lvl="2"/>
            <a:r>
              <a:rPr lang="ko-KR" altLang="en-US"/>
              <a:t>프로그램과 데이터를 순서대로 테이프나 디스크에 로드하여 그룹 및 일괄 처리   </a:t>
            </a:r>
            <a:endParaRPr lang="en-US" altLang="ko-KR"/>
          </a:p>
          <a:p>
            <a:pPr lvl="2"/>
            <a:r>
              <a:rPr lang="ko-KR" altLang="en-US"/>
              <a:t>작업 스트림 프로세서</a:t>
            </a:r>
            <a:r>
              <a:rPr lang="en-US" altLang="ko-KR"/>
              <a:t>(Job Stream Processor) </a:t>
            </a:r>
            <a:r>
              <a:rPr lang="ko-KR" altLang="en-US"/>
              <a:t>및 리더를 통한 작업 제어 환경 마련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38133-AB96-455F-B167-43DEA36E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51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DFB2-953C-EF72-F9ED-37691833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8D752A-15C6-DF61-4AF9-DDFFCA07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1950</a:t>
            </a:r>
            <a:r>
              <a:rPr lang="ko-KR" altLang="en-US"/>
              <a:t>년대 운영체제의 한계 및 제약 사항</a:t>
            </a:r>
          </a:p>
          <a:p>
            <a:pPr lvl="1"/>
            <a:r>
              <a:rPr lang="ko-KR" altLang="en-US"/>
              <a:t>작업 전환 시간 단축의 성과와 구조적 제약   </a:t>
            </a:r>
            <a:endParaRPr lang="en-US" altLang="ko-KR"/>
          </a:p>
          <a:p>
            <a:pPr lvl="2"/>
            <a:r>
              <a:rPr lang="ko-KR" altLang="en-US"/>
              <a:t>한 작업에서 다른 작업으로의 전환 시간 단축   </a:t>
            </a:r>
            <a:endParaRPr lang="en-US" altLang="ko-KR"/>
          </a:p>
          <a:p>
            <a:pPr lvl="2"/>
            <a:r>
              <a:rPr lang="ko-KR" altLang="en-US"/>
              <a:t>프로그래머의 메모리 및 입출력 장치 등 시스템 자원 직접 제어 부담</a:t>
            </a:r>
          </a:p>
          <a:p>
            <a:pPr lvl="1"/>
            <a:r>
              <a:rPr lang="ko-KR" altLang="en-US"/>
              <a:t>초기 시스템 환경에서의 프로그래밍 한계   </a:t>
            </a:r>
            <a:endParaRPr lang="en-US" altLang="ko-KR"/>
          </a:p>
          <a:p>
            <a:pPr lvl="2"/>
            <a:r>
              <a:rPr lang="ko-KR" altLang="en-US"/>
              <a:t>프로그램 전체를 메모리에 로드해야 하는 고되고 어려운 작업   </a:t>
            </a:r>
            <a:endParaRPr lang="en-US" altLang="ko-KR"/>
          </a:p>
          <a:p>
            <a:pPr lvl="2"/>
            <a:r>
              <a:rPr lang="ko-KR" altLang="en-US"/>
              <a:t>작은 메모리 용량을 고려한 제한적 작업 수행용 소형 프로그램 제작 불가피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D2602E-7BAA-AB36-44FC-CF654FE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94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164E1-31F9-5579-1EE6-58460E14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CBDC14-64E6-6B53-149D-69E560361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멀티프로그래밍 시스템과 자원 활용 최적화</a:t>
            </a:r>
          </a:p>
          <a:p>
            <a:pPr lvl="1"/>
            <a:r>
              <a:rPr lang="ko-KR" altLang="en-US"/>
              <a:t>멀티프로그래밍 도입 및 프로세서 효율화</a:t>
            </a:r>
            <a:endParaRPr lang="en-US" altLang="ko-KR"/>
          </a:p>
          <a:p>
            <a:pPr lvl="2"/>
            <a:r>
              <a:rPr lang="ko-KR" altLang="en-US"/>
              <a:t>여러 작업을 동시 실행하여 컴퓨터 자원의 효율적 사용  </a:t>
            </a:r>
            <a:endParaRPr lang="en-US" altLang="ko-KR"/>
          </a:p>
          <a:p>
            <a:pPr lvl="2"/>
            <a:r>
              <a:rPr lang="ko-KR" altLang="en-US"/>
              <a:t> 프로세서 중심 작업과 입출력 중심 작업의 병행 처리   </a:t>
            </a:r>
            <a:endParaRPr lang="en-US" altLang="ko-KR"/>
          </a:p>
          <a:p>
            <a:pPr lvl="2"/>
            <a:r>
              <a:rPr lang="ko-KR" altLang="en-US"/>
              <a:t>프로세서 재빠른 전환을 통한 멀티프로그래밍 정도</a:t>
            </a:r>
            <a:r>
              <a:rPr lang="en-US" altLang="ko-KR"/>
              <a:t>(Level) </a:t>
            </a:r>
            <a:r>
              <a:rPr lang="ko-KR" altLang="en-US"/>
              <a:t>구현</a:t>
            </a:r>
          </a:p>
          <a:p>
            <a:pPr lvl="1"/>
            <a:r>
              <a:rPr lang="ko-KR" altLang="en-US"/>
              <a:t>자원 공유 및 동시성 제어 과제   </a:t>
            </a:r>
            <a:endParaRPr lang="en-US" altLang="ko-KR"/>
          </a:p>
          <a:p>
            <a:pPr lvl="2"/>
            <a:r>
              <a:rPr lang="ko-KR" altLang="en-US"/>
              <a:t>프로세서 독점 대기 및 교착 상태 발생 가능성 인지   </a:t>
            </a:r>
            <a:endParaRPr lang="en-US" altLang="ko-KR"/>
          </a:p>
          <a:p>
            <a:pPr lvl="2"/>
            <a:r>
              <a:rPr lang="ko-KR" altLang="en-US"/>
              <a:t>시스템 자원 공유에 따른 안전성 확보 필요성 대두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C9B25-33DA-F2E8-DADD-724C5123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63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17CBB-CEDD-43AA-69D9-CDAC7000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6F001-D583-68DC-3E52-839148EE7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대화식 사용자 환경 및 시분할 시스템 발전</a:t>
            </a:r>
          </a:p>
          <a:p>
            <a:pPr lvl="1"/>
            <a:r>
              <a:rPr lang="ko-KR" altLang="en-US"/>
              <a:t>초기 배치 처리 시스템의 한계와 개선</a:t>
            </a:r>
            <a:endParaRPr lang="en-US" altLang="ko-KR"/>
          </a:p>
          <a:p>
            <a:pPr lvl="2"/>
            <a:r>
              <a:rPr lang="ko-KR" altLang="en-US"/>
              <a:t>천공 카드 제출 및 긴 처리 대기 시간 소요   </a:t>
            </a:r>
            <a:endParaRPr lang="en-US" altLang="ko-KR"/>
          </a:p>
          <a:p>
            <a:pPr lvl="2"/>
            <a:r>
              <a:rPr lang="ko-KR" altLang="en-US"/>
              <a:t>소프트웨어 개발 과정의 더디고 힘든 작업 환경</a:t>
            </a:r>
          </a:p>
          <a:p>
            <a:pPr lvl="1"/>
            <a:r>
              <a:rPr lang="en-US" altLang="ko-KR"/>
              <a:t>IBM System/360 </a:t>
            </a:r>
            <a:r>
              <a:rPr lang="ko-KR" altLang="en-US"/>
              <a:t>및 시분할</a:t>
            </a:r>
            <a:r>
              <a:rPr lang="en-US" altLang="ko-KR"/>
              <a:t>/</a:t>
            </a:r>
            <a:r>
              <a:rPr lang="ko-KR" altLang="en-US"/>
              <a:t>멀티모드 시스템 전개   </a:t>
            </a:r>
            <a:endParaRPr lang="en-US" altLang="ko-KR"/>
          </a:p>
          <a:p>
            <a:pPr lvl="2"/>
            <a:r>
              <a:rPr lang="en-US" altLang="ko-KR"/>
              <a:t>OS/360 </a:t>
            </a:r>
            <a:r>
              <a:rPr lang="ko-KR" altLang="en-US"/>
              <a:t>운영체제 도입 및 아키텍처 확장   </a:t>
            </a:r>
            <a:endParaRPr lang="en-US" altLang="ko-KR"/>
          </a:p>
          <a:p>
            <a:pPr lvl="2"/>
            <a:r>
              <a:rPr lang="ko-KR" altLang="en-US"/>
              <a:t>단순 단말기 기반의 온라인 형태 및 대화식 사용자 지원   </a:t>
            </a:r>
            <a:endParaRPr lang="en-US" altLang="ko-KR"/>
          </a:p>
          <a:p>
            <a:pPr lvl="2"/>
            <a:r>
              <a:rPr lang="ko-KR" altLang="en-US"/>
              <a:t>인적 자원 비용 절감 및 시분할</a:t>
            </a:r>
            <a:r>
              <a:rPr lang="en-US" altLang="ko-KR"/>
              <a:t>·</a:t>
            </a:r>
            <a:r>
              <a:rPr lang="ko-KR" altLang="en-US"/>
              <a:t>멀티모드 시스템 구축 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저장 장치 및 데이터 관리 시스템의 고도화</a:t>
            </a:r>
          </a:p>
          <a:p>
            <a:pPr lvl="1"/>
            <a:r>
              <a:rPr lang="ko-KR" altLang="en-US"/>
              <a:t>하드 디스크 도입과 데이터 접근성 향상</a:t>
            </a:r>
            <a:endParaRPr lang="en-US" altLang="ko-KR"/>
          </a:p>
          <a:p>
            <a:pPr lvl="2"/>
            <a:r>
              <a:rPr lang="ko-KR" altLang="en-US"/>
              <a:t>대량의 데이터 저장 및 테이프 대비 빠른 접근 수행   </a:t>
            </a:r>
            <a:endParaRPr lang="en-US" altLang="ko-KR"/>
          </a:p>
          <a:p>
            <a:pPr lvl="2"/>
            <a:r>
              <a:rPr lang="ko-KR" altLang="en-US"/>
              <a:t>디스크 입출력 요청 관리 및 성능 최적화</a:t>
            </a:r>
          </a:p>
          <a:p>
            <a:pPr lvl="1"/>
            <a:r>
              <a:rPr lang="ko-KR" altLang="en-US"/>
              <a:t>파일 시스템 구축 및 시스템 안정성 확보   </a:t>
            </a:r>
            <a:endParaRPr lang="en-US" altLang="ko-KR"/>
          </a:p>
          <a:p>
            <a:pPr lvl="2"/>
            <a:r>
              <a:rPr lang="ko-KR" altLang="en-US"/>
              <a:t>데이터를 파일 객체로 구성하고 저장소 공간 관리   </a:t>
            </a:r>
            <a:endParaRPr lang="en-US" altLang="ko-KR"/>
          </a:p>
          <a:p>
            <a:pPr lvl="2"/>
            <a:r>
              <a:rPr lang="ko-KR" altLang="en-US"/>
              <a:t>허가받지 않은 사용자 접근 방지 및 데이터 손실 예방 대책 수립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0AF2D-7E56-BC8D-CE2A-FB2A8271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20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85C8D-8DEB-5EBD-DF0C-64671612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E5DE3-2B4E-E25C-1881-A699CA901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1970</a:t>
            </a:r>
            <a:r>
              <a:rPr lang="ko-KR" altLang="en-US"/>
              <a:t>년대 시스템 특징 및 개인 컴퓨팅 태동</a:t>
            </a:r>
          </a:p>
          <a:p>
            <a:pPr lvl="1"/>
            <a:r>
              <a:rPr lang="ko-KR" altLang="en-US"/>
              <a:t>멀티모드 및 멀티프로그래밍 시스템의 진화</a:t>
            </a:r>
            <a:endParaRPr lang="en-US" altLang="ko-KR"/>
          </a:p>
          <a:p>
            <a:pPr lvl="2"/>
            <a:r>
              <a:rPr lang="ko-KR" altLang="en-US"/>
              <a:t>배치 처리</a:t>
            </a:r>
            <a:r>
              <a:rPr lang="en-US" altLang="ko-KR"/>
              <a:t>, </a:t>
            </a:r>
            <a:r>
              <a:rPr lang="ko-KR" altLang="en-US"/>
              <a:t>시분할</a:t>
            </a:r>
            <a:r>
              <a:rPr lang="en-US" altLang="ko-KR"/>
              <a:t>, </a:t>
            </a:r>
            <a:r>
              <a:rPr lang="ko-KR" altLang="en-US"/>
              <a:t>실시간 응용 프로그램 지원   </a:t>
            </a:r>
            <a:endParaRPr lang="en-US" altLang="ko-KR"/>
          </a:p>
          <a:p>
            <a:pPr lvl="2"/>
            <a:r>
              <a:rPr lang="ko-KR" altLang="en-US"/>
              <a:t>마이크로프로세서 기술에 기반한 개인 컴퓨팅의 시작</a:t>
            </a:r>
          </a:p>
          <a:p>
            <a:pPr lvl="1"/>
            <a:r>
              <a:rPr lang="ko-KR" altLang="en-US"/>
              <a:t>시분할 시스템의 상용화 및 발전   </a:t>
            </a:r>
            <a:endParaRPr lang="en-US" altLang="ko-KR"/>
          </a:p>
          <a:p>
            <a:pPr lvl="2"/>
            <a:r>
              <a:rPr lang="en-US" altLang="ko-KR"/>
              <a:t>1960</a:t>
            </a:r>
            <a:r>
              <a:rPr lang="ko-KR" altLang="en-US"/>
              <a:t>년대 실험적 사용을 거쳐 </a:t>
            </a:r>
            <a:r>
              <a:rPr lang="en-US" altLang="ko-KR"/>
              <a:t>1970</a:t>
            </a:r>
            <a:r>
              <a:rPr lang="ko-KR" altLang="en-US"/>
              <a:t>년대 견고화 및 상용 제품 발전   </a:t>
            </a:r>
            <a:endParaRPr lang="en-US" altLang="ko-KR"/>
          </a:p>
          <a:p>
            <a:pPr lvl="2"/>
            <a:r>
              <a:rPr lang="ko-KR" altLang="en-US"/>
              <a:t>국방부 </a:t>
            </a:r>
            <a:r>
              <a:rPr lang="en-US" altLang="ko-KR"/>
              <a:t>TCP/IP </a:t>
            </a:r>
            <a:r>
              <a:rPr lang="ko-KR" altLang="en-US"/>
              <a:t>통신 표준 도입 및 국방</a:t>
            </a:r>
            <a:r>
              <a:rPr lang="en-US" altLang="ko-KR"/>
              <a:t>·</a:t>
            </a:r>
            <a:r>
              <a:rPr lang="ko-KR" altLang="en-US"/>
              <a:t>대학교 컴퓨팅 환경 중심 확대   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통신망 환경 혁신 및 보안 기술 대두</a:t>
            </a:r>
          </a:p>
          <a:p>
            <a:pPr lvl="1"/>
            <a:r>
              <a:rPr lang="ko-KR" altLang="en-US"/>
              <a:t>이더넷</a:t>
            </a:r>
            <a:r>
              <a:rPr lang="en-US" altLang="ko-KR"/>
              <a:t>(Ethernet) </a:t>
            </a:r>
            <a:r>
              <a:rPr lang="ko-KR" altLang="en-US"/>
              <a:t>표준 도입과 근거리 통신망 확장</a:t>
            </a:r>
            <a:endParaRPr lang="en-US" altLang="ko-KR"/>
          </a:p>
          <a:p>
            <a:pPr lvl="2"/>
            <a:r>
              <a:rPr lang="ko-KR" altLang="en-US"/>
              <a:t>제록스 팔로알토 연구소 개발 이더넷 표준 적용   근거리 통신망</a:t>
            </a:r>
            <a:r>
              <a:rPr lang="en-US" altLang="ko-KR"/>
              <a:t>(LAN) </a:t>
            </a:r>
          </a:p>
          <a:p>
            <a:pPr lvl="2"/>
            <a:r>
              <a:rPr lang="ko-KR" altLang="en-US"/>
              <a:t>환경에서의 실제적이고 경제적인 통신 발전</a:t>
            </a:r>
          </a:p>
          <a:p>
            <a:pPr lvl="1"/>
            <a:r>
              <a:rPr lang="ko-KR" altLang="en-US"/>
              <a:t>통신 매체 취약성에 따른 보안 및 암호 기술 주목   </a:t>
            </a:r>
            <a:endParaRPr lang="en-US" altLang="ko-KR"/>
          </a:p>
          <a:p>
            <a:pPr lvl="2"/>
            <a:r>
              <a:rPr lang="ko-KR" altLang="en-US"/>
              <a:t>정보 양 증가에 따른 보안 문제 대두 및 암호 작성</a:t>
            </a:r>
            <a:r>
              <a:rPr lang="en-US" altLang="ko-KR"/>
              <a:t>·</a:t>
            </a:r>
            <a:r>
              <a:rPr lang="ko-KR" altLang="en-US"/>
              <a:t>해독 기술 발전   </a:t>
            </a:r>
            <a:endParaRPr lang="en-US" altLang="ko-KR"/>
          </a:p>
          <a:p>
            <a:pPr lvl="2"/>
            <a:r>
              <a:rPr lang="ko-KR" altLang="en-US"/>
              <a:t>지식재산권 보호 및 사적 데이터 암호화를 통한 정보 감춤 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2AA6F8-BEDA-D291-B377-2D6FF7F3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8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ED7FD-DD02-2B39-3DCB-32A10003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8D318-5293-4094-FD86-B5A729E5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운영체제 성능 개선 및 개인 컴퓨팅 혁명</a:t>
            </a:r>
          </a:p>
          <a:p>
            <a:pPr lvl="1"/>
            <a:r>
              <a:rPr lang="ko-KR" altLang="en-US"/>
              <a:t>네트워킹과 보안을 아우르는 시스템 고도화</a:t>
            </a:r>
            <a:endParaRPr lang="en-US" altLang="ko-KR"/>
          </a:p>
          <a:p>
            <a:pPr lvl="2"/>
            <a:r>
              <a:rPr lang="ko-KR" altLang="en-US"/>
              <a:t>허가받지 않은 사용자의 중요 정보 접근 방지 체계 마련   </a:t>
            </a:r>
            <a:endParaRPr lang="en-US" altLang="ko-KR"/>
          </a:p>
          <a:p>
            <a:pPr lvl="2"/>
            <a:r>
              <a:rPr lang="ko-KR" altLang="en-US"/>
              <a:t>상업적 요구를 충족할 만큼의 네트워킹 및 보안 성능 향상</a:t>
            </a:r>
          </a:p>
          <a:p>
            <a:pPr lvl="1"/>
            <a:r>
              <a:rPr lang="en-US" altLang="ko-KR"/>
              <a:t>1970</a:t>
            </a:r>
            <a:r>
              <a:rPr lang="ko-KR" altLang="en-US"/>
              <a:t>년대 후반 개인 컴퓨팅의 폭발적 성장   </a:t>
            </a:r>
            <a:endParaRPr lang="en-US" altLang="ko-KR"/>
          </a:p>
          <a:p>
            <a:pPr lvl="2"/>
            <a:r>
              <a:rPr lang="ko-KR" altLang="en-US"/>
              <a:t>애플 </a:t>
            </a:r>
            <a:r>
              <a:rPr lang="en-US" altLang="ko-KR"/>
              <a:t>II(Apple II) </a:t>
            </a:r>
            <a:r>
              <a:rPr lang="ko-KR" altLang="en-US"/>
              <a:t>등의 등장   </a:t>
            </a:r>
            <a:endParaRPr lang="en-US" altLang="ko-KR"/>
          </a:p>
          <a:p>
            <a:pPr lvl="2"/>
            <a:r>
              <a:rPr lang="ko-KR" altLang="en-US"/>
              <a:t>개인 컴퓨팅 혁명 시작 및 </a:t>
            </a:r>
            <a:r>
              <a:rPr lang="en-US" altLang="ko-KR"/>
              <a:t>1980</a:t>
            </a:r>
            <a:r>
              <a:rPr lang="ko-KR" altLang="en-US"/>
              <a:t>년대 폭발적 증가 전개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E0D42-375B-BAD3-3FA9-028D64DE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2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A4537-8AB1-54FF-D24A-1E9649E2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10BF6-FF6C-F1A0-74FB-1F1325A6B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개인용 컴퓨터 및 워크스테이션 시대의 도래</a:t>
            </a:r>
          </a:p>
          <a:p>
            <a:pPr lvl="1"/>
            <a:r>
              <a:rPr lang="ko-KR" altLang="en-US"/>
              <a:t>마이크로프로세서 기술 발전에 따른 고성능화</a:t>
            </a:r>
            <a:endParaRPr lang="en-US" altLang="ko-KR"/>
          </a:p>
          <a:p>
            <a:pPr lvl="2"/>
            <a:r>
              <a:rPr lang="ko-KR" altLang="en-US"/>
              <a:t>중앙 처리 장치</a:t>
            </a:r>
            <a:r>
              <a:rPr lang="en-US" altLang="ko-KR"/>
              <a:t>(CPU)</a:t>
            </a:r>
            <a:r>
              <a:rPr lang="ko-KR" altLang="en-US"/>
              <a:t>인 마이크로프로세서 기술 진보   </a:t>
            </a:r>
            <a:endParaRPr lang="en-US" altLang="ko-KR"/>
          </a:p>
          <a:p>
            <a:pPr lvl="2"/>
            <a:r>
              <a:rPr lang="ko-KR" altLang="en-US"/>
              <a:t>십여 년 전 메인프레임 수준의 강력한 데스크톱 컴퓨터</a:t>
            </a:r>
            <a:r>
              <a:rPr lang="en-US" altLang="ko-KR"/>
              <a:t>(</a:t>
            </a:r>
            <a:r>
              <a:rPr lang="ko-KR" altLang="en-US"/>
              <a:t>워크스테이션</a:t>
            </a:r>
            <a:r>
              <a:rPr lang="en-US" altLang="ko-KR"/>
              <a:t>) </a:t>
            </a:r>
            <a:r>
              <a:rPr lang="ko-KR" altLang="en-US"/>
              <a:t>구축</a:t>
            </a:r>
          </a:p>
          <a:p>
            <a:pPr lvl="1"/>
            <a:r>
              <a:rPr lang="ko-KR" altLang="en-US"/>
              <a:t>개인용 컴퓨터 출시 및 비즈니스 환경 확산   </a:t>
            </a:r>
            <a:r>
              <a:rPr lang="en-US" altLang="ko-KR"/>
              <a:t>	</a:t>
            </a:r>
          </a:p>
          <a:p>
            <a:pPr lvl="2"/>
            <a:r>
              <a:rPr lang="en-US" altLang="ko-KR"/>
              <a:t>1981</a:t>
            </a:r>
            <a:r>
              <a:rPr lang="ko-KR" altLang="en-US"/>
              <a:t>년 </a:t>
            </a:r>
            <a:r>
              <a:rPr lang="en-US" altLang="ko-KR"/>
              <a:t>IBM </a:t>
            </a:r>
            <a:r>
              <a:rPr lang="ko-KR" altLang="en-US"/>
              <a:t>개인용 컴퓨터 및 </a:t>
            </a:r>
            <a:r>
              <a:rPr lang="en-US" altLang="ko-KR"/>
              <a:t>1984</a:t>
            </a:r>
            <a:r>
              <a:rPr lang="ko-KR" altLang="en-US"/>
              <a:t>년 애플 매킨토시 출시   </a:t>
            </a:r>
            <a:endParaRPr lang="en-US" altLang="ko-KR"/>
          </a:p>
          <a:p>
            <a:pPr lvl="2"/>
            <a:r>
              <a:rPr lang="ko-KR" altLang="en-US"/>
              <a:t>스프레드시트</a:t>
            </a:r>
            <a:r>
              <a:rPr lang="en-US" altLang="ko-KR"/>
              <a:t>, </a:t>
            </a:r>
            <a:r>
              <a:rPr lang="ko-KR" altLang="en-US"/>
              <a:t>워드 프로세서</a:t>
            </a:r>
            <a:r>
              <a:rPr lang="en-US" altLang="ko-KR"/>
              <a:t>, </a:t>
            </a:r>
            <a:r>
              <a:rPr lang="ko-KR" altLang="en-US"/>
              <a:t>데이터베이스 등의 소프트웨어를 통한 생산성 향상 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그래픽 사용자 인터페이스</a:t>
            </a:r>
            <a:r>
              <a:rPr lang="en-US" altLang="ko-KR"/>
              <a:t>(GUI) </a:t>
            </a:r>
            <a:r>
              <a:rPr lang="ko-KR" altLang="en-US"/>
              <a:t>및 분산 컴퓨팅 발전</a:t>
            </a:r>
          </a:p>
          <a:p>
            <a:pPr lvl="1"/>
            <a:r>
              <a:rPr lang="ko-KR" altLang="en-US"/>
              <a:t>가</a:t>
            </a:r>
            <a:r>
              <a:rPr lang="en-US" altLang="ko-KR"/>
              <a:t>. </a:t>
            </a:r>
            <a:r>
              <a:rPr lang="ko-KR" altLang="en-US"/>
              <a:t>그래픽 사용자 인터페이스</a:t>
            </a:r>
            <a:r>
              <a:rPr lang="en-US" altLang="ko-KR"/>
              <a:t>(GUI) </a:t>
            </a:r>
            <a:r>
              <a:rPr lang="ko-KR" altLang="en-US"/>
              <a:t>도입 및 사용자 편의성 향상</a:t>
            </a:r>
            <a:endParaRPr lang="en-US" altLang="ko-KR"/>
          </a:p>
          <a:p>
            <a:pPr lvl="2"/>
            <a:r>
              <a:rPr lang="ko-KR" altLang="en-US"/>
              <a:t>윈도우</a:t>
            </a:r>
            <a:r>
              <a:rPr lang="en-US" altLang="ko-KR"/>
              <a:t>, </a:t>
            </a:r>
            <a:r>
              <a:rPr lang="ko-KR" altLang="en-US"/>
              <a:t>아이콘</a:t>
            </a:r>
            <a:r>
              <a:rPr lang="en-US" altLang="ko-KR"/>
              <a:t>, </a:t>
            </a:r>
            <a:r>
              <a:rPr lang="ko-KR" altLang="en-US"/>
              <a:t>메뉴 등 가시적 심볼을 활용한 프로그램 상호작용   </a:t>
            </a:r>
            <a:endParaRPr lang="en-US" altLang="ko-KR"/>
          </a:p>
          <a:p>
            <a:pPr lvl="3"/>
            <a:r>
              <a:rPr lang="ko-KR" altLang="en-US"/>
              <a:t>매킨토시 운영체제 내장 </a:t>
            </a:r>
            <a:r>
              <a:rPr lang="en-US" altLang="ko-KR"/>
              <a:t>GUI</a:t>
            </a:r>
            <a:r>
              <a:rPr lang="ko-KR" altLang="en-US"/>
              <a:t>를 통한 일관된 룩앤필</a:t>
            </a:r>
            <a:r>
              <a:rPr lang="en-US" altLang="ko-KR"/>
              <a:t>(Look and Feel) </a:t>
            </a:r>
            <a:r>
              <a:rPr lang="ko-KR" altLang="en-US"/>
              <a:t>제공</a:t>
            </a:r>
          </a:p>
          <a:p>
            <a:pPr lvl="1"/>
            <a:r>
              <a:rPr lang="ko-KR" altLang="en-US"/>
              <a:t>나</a:t>
            </a:r>
            <a:r>
              <a:rPr lang="en-US" altLang="ko-KR"/>
              <a:t>. </a:t>
            </a:r>
            <a:r>
              <a:rPr lang="ko-KR" altLang="en-US"/>
              <a:t>네트워크 비용 감소 및 분산 컴퓨팅 환경 구축   </a:t>
            </a:r>
            <a:endParaRPr lang="en-US" altLang="ko-KR"/>
          </a:p>
          <a:p>
            <a:pPr lvl="2"/>
            <a:r>
              <a:rPr lang="ko-KR" altLang="en-US"/>
              <a:t>이메일</a:t>
            </a:r>
            <a:r>
              <a:rPr lang="en-US" altLang="ko-KR"/>
              <a:t>, </a:t>
            </a:r>
            <a:r>
              <a:rPr lang="ko-KR" altLang="en-US"/>
              <a:t>파일 전송</a:t>
            </a:r>
            <a:r>
              <a:rPr lang="en-US" altLang="ko-KR"/>
              <a:t>, </a:t>
            </a:r>
            <a:r>
              <a:rPr lang="ko-KR" altLang="en-US"/>
              <a:t>원격 데이터베이스 접속 프로그램 확산   </a:t>
            </a:r>
            <a:r>
              <a:rPr lang="en-US" altLang="ko-KR"/>
              <a:t>	</a:t>
            </a:r>
          </a:p>
          <a:p>
            <a:pPr lvl="2"/>
            <a:r>
              <a:rPr lang="ko-KR" altLang="en-US"/>
              <a:t>독립적인 컴퓨터 간 공동 작업을 수행하는 클라이언트</a:t>
            </a:r>
            <a:r>
              <a:rPr lang="en-US" altLang="ko-KR"/>
              <a:t>/</a:t>
            </a:r>
            <a:r>
              <a:rPr lang="ko-KR" altLang="en-US"/>
              <a:t>서버 모델 정착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432B1-B6DA-DF4D-204F-ACC50B35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99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24794-0FAB-DB82-4BEA-D6F99CA2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11ADD-B868-91B0-DF4C-5DBDA03CE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소프트웨어 공학의 고도화 및 프로젝트 통제 체계</a:t>
            </a:r>
          </a:p>
          <a:p>
            <a:pPr lvl="1"/>
            <a:r>
              <a:rPr lang="ko-KR" altLang="en-US"/>
              <a:t>서버의 특화된 임무 수행</a:t>
            </a:r>
            <a:endParaRPr lang="en-US" altLang="ko-KR"/>
          </a:p>
          <a:p>
            <a:pPr lvl="2"/>
            <a:r>
              <a:rPr lang="ko-KR" altLang="en-US"/>
              <a:t>그래픽 표출</a:t>
            </a:r>
            <a:r>
              <a:rPr lang="en-US" altLang="ko-KR"/>
              <a:t>, </a:t>
            </a:r>
            <a:r>
              <a:rPr lang="ko-KR" altLang="en-US"/>
              <a:t>데이터베이스 관리</a:t>
            </a:r>
            <a:r>
              <a:rPr lang="en-US" altLang="ko-KR"/>
              <a:t>, </a:t>
            </a:r>
            <a:r>
              <a:rPr lang="ko-KR" altLang="en-US"/>
              <a:t>웹 서비스 등의 특정 임무 할당   </a:t>
            </a:r>
            <a:endParaRPr lang="en-US" altLang="ko-KR"/>
          </a:p>
          <a:p>
            <a:pPr lvl="2"/>
            <a:r>
              <a:rPr lang="ko-KR" altLang="en-US"/>
              <a:t>서비스 요청 처리 컴퓨터</a:t>
            </a:r>
            <a:r>
              <a:rPr lang="en-US" altLang="ko-KR"/>
              <a:t>(</a:t>
            </a:r>
            <a:r>
              <a:rPr lang="ko-KR" altLang="en-US"/>
              <a:t>서버</a:t>
            </a:r>
            <a:r>
              <a:rPr lang="en-US" altLang="ko-KR"/>
              <a:t>)</a:t>
            </a:r>
            <a:r>
              <a:rPr lang="ko-KR" altLang="en-US"/>
              <a:t>와 서비스 요청 컴퓨터</a:t>
            </a:r>
            <a:r>
              <a:rPr lang="en-US" altLang="ko-KR"/>
              <a:t>(</a:t>
            </a:r>
            <a:r>
              <a:rPr lang="ko-KR" altLang="en-US"/>
              <a:t>클라이언트</a:t>
            </a:r>
            <a:r>
              <a:rPr lang="en-US" altLang="ko-KR"/>
              <a:t>)</a:t>
            </a:r>
            <a:r>
              <a:rPr lang="ko-KR" altLang="en-US"/>
              <a:t>의 역할 분담</a:t>
            </a:r>
          </a:p>
          <a:p>
            <a:pPr lvl="1"/>
            <a:r>
              <a:rPr lang="ko-KR" altLang="en-US"/>
              <a:t>소프트웨어 공학 분야의 발전 및 개발 통제   </a:t>
            </a:r>
            <a:endParaRPr lang="en-US" altLang="ko-KR"/>
          </a:p>
          <a:p>
            <a:pPr lvl="2"/>
            <a:r>
              <a:rPr lang="ko-KR" altLang="en-US"/>
              <a:t>미국 정부 국방부 소프트웨어 프로젝트의 면밀한 통제 필요성 대두   </a:t>
            </a:r>
            <a:endParaRPr lang="en-US" altLang="ko-KR"/>
          </a:p>
          <a:p>
            <a:pPr lvl="2"/>
            <a:r>
              <a:rPr lang="ko-KR" altLang="en-US"/>
              <a:t>코드 재사용 촉진 및 프로토타입 개발을 통한 초기 수정 방향 설정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8AC592-E8C4-EE34-19EA-6A2D7C30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1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08E9D-5188-44B6-9F6B-C54383D8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4A3BB-8691-E43E-BB24-1E1F2D728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인터넷의 태동 및 </a:t>
            </a:r>
            <a:r>
              <a:rPr lang="en-US" altLang="ko-KR"/>
              <a:t>ARPANET </a:t>
            </a:r>
            <a:r>
              <a:rPr lang="ko-KR" altLang="en-US"/>
              <a:t>구축</a:t>
            </a:r>
          </a:p>
          <a:p>
            <a:pPr lvl="1"/>
            <a:r>
              <a:rPr lang="ko-KR" altLang="en-US"/>
              <a:t>초기 네트워크 연결 청사진 및 컴퓨팅 환경</a:t>
            </a:r>
            <a:endParaRPr lang="en-US" altLang="ko-KR"/>
          </a:p>
          <a:p>
            <a:pPr lvl="2"/>
            <a:r>
              <a:rPr lang="ko-KR" altLang="en-US"/>
              <a:t>미 국방부 </a:t>
            </a:r>
            <a:r>
              <a:rPr lang="en-US" altLang="ko-KR"/>
              <a:t>ARPA</a:t>
            </a:r>
            <a:r>
              <a:rPr lang="ko-KR" altLang="en-US"/>
              <a:t>의 대학 및 연구 기관 메인 컴퓨터 네트워크 연결 추진   </a:t>
            </a:r>
            <a:endParaRPr lang="en-US" altLang="ko-KR"/>
          </a:p>
          <a:p>
            <a:pPr lvl="2"/>
            <a:r>
              <a:rPr lang="ko-KR" altLang="en-US"/>
              <a:t>하버드 연구자들의 복잡한 계산 문제 해결을 위한 유니박</a:t>
            </a:r>
            <a:r>
              <a:rPr lang="en-US" altLang="ko-KR"/>
              <a:t>(Univac) 1108 </a:t>
            </a:r>
            <a:r>
              <a:rPr lang="ko-KR" altLang="en-US"/>
              <a:t>슈퍼컴퓨터 설치</a:t>
            </a:r>
          </a:p>
          <a:p>
            <a:pPr lvl="1"/>
            <a:r>
              <a:rPr lang="en-US" altLang="ko-KR"/>
              <a:t>ARPANET </a:t>
            </a:r>
            <a:r>
              <a:rPr lang="ko-KR" altLang="en-US"/>
              <a:t>구현 및 통신 규약 도입   </a:t>
            </a:r>
            <a:endParaRPr lang="en-US" altLang="ko-KR"/>
          </a:p>
          <a:p>
            <a:pPr lvl="2"/>
            <a:r>
              <a:rPr lang="ko-KR" altLang="en-US"/>
              <a:t>오늘날 인터넷의 시조가 된 </a:t>
            </a:r>
            <a:r>
              <a:rPr lang="en-US" altLang="ko-KR"/>
              <a:t>ARPANET </a:t>
            </a:r>
            <a:r>
              <a:rPr lang="ko-KR" altLang="en-US"/>
              <a:t>구현   </a:t>
            </a:r>
            <a:endParaRPr lang="en-US" altLang="ko-KR"/>
          </a:p>
          <a:p>
            <a:pPr lvl="2"/>
            <a:r>
              <a:rPr lang="ko-KR" altLang="en-US"/>
              <a:t>메시지 송수신 보장을 위한 </a:t>
            </a:r>
            <a:r>
              <a:rPr lang="en-US" altLang="ko-KR"/>
              <a:t>TCP/IP </a:t>
            </a:r>
            <a:r>
              <a:rPr lang="ko-KR" altLang="en-US"/>
              <a:t>통신 규약</a:t>
            </a:r>
            <a:r>
              <a:rPr lang="en-US" altLang="ko-KR"/>
              <a:t>(</a:t>
            </a:r>
            <a:r>
              <a:rPr lang="ko-KR" altLang="en-US"/>
              <a:t>프로토콜</a:t>
            </a:r>
            <a:r>
              <a:rPr lang="en-US" altLang="ko-KR"/>
              <a:t>) </a:t>
            </a:r>
            <a:r>
              <a:rPr lang="ko-KR" altLang="en-US"/>
              <a:t>적용  </a:t>
            </a:r>
            <a:endParaRPr lang="en-US" altLang="ko-KR"/>
          </a:p>
          <a:p>
            <a:pPr marL="342900" lvl="1" indent="0">
              <a:buNone/>
            </a:pP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인터넷의 상용화 및 월드 와이드 웹</a:t>
            </a:r>
            <a:r>
              <a:rPr lang="en-US" altLang="ko-KR"/>
              <a:t>(WWW) </a:t>
            </a:r>
            <a:r>
              <a:rPr lang="ko-KR" altLang="en-US"/>
              <a:t>탄생</a:t>
            </a:r>
          </a:p>
          <a:p>
            <a:pPr lvl="1"/>
            <a:r>
              <a:rPr lang="ko-KR" altLang="en-US"/>
              <a:t>상업적 활용 확산 및 네트워크 인프라 발전</a:t>
            </a:r>
            <a:endParaRPr lang="en-US" altLang="ko-KR"/>
          </a:p>
          <a:p>
            <a:pPr lvl="2"/>
            <a:r>
              <a:rPr lang="ko-KR" altLang="en-US"/>
              <a:t>기업들의 업무 관리 및 고객 서비스 제공 목적의 인터넷 도입   </a:t>
            </a:r>
            <a:endParaRPr lang="en-US" altLang="ko-KR"/>
          </a:p>
          <a:p>
            <a:pPr lvl="2"/>
            <a:r>
              <a:rPr lang="ko-KR" altLang="en-US"/>
              <a:t>통신 인프라 요구 조건 충족에 따른 대역폭 증가 및 통신 비용 절감</a:t>
            </a:r>
          </a:p>
          <a:p>
            <a:pPr lvl="1"/>
            <a:r>
              <a:rPr lang="ko-KR" altLang="en-US"/>
              <a:t>월드 와이드 웹 개발 및 하이퍼텍스트 정보 시스템 구축   </a:t>
            </a:r>
            <a:endParaRPr lang="en-US" altLang="ko-KR"/>
          </a:p>
          <a:p>
            <a:pPr lvl="2"/>
            <a:r>
              <a:rPr lang="en-US" altLang="ko-KR"/>
              <a:t>1989</a:t>
            </a:r>
            <a:r>
              <a:rPr lang="ko-KR" altLang="en-US"/>
              <a:t>년 </a:t>
            </a:r>
            <a:r>
              <a:rPr lang="en-US" altLang="ko-KR"/>
              <a:t>CERN </a:t>
            </a:r>
            <a:r>
              <a:rPr lang="ko-KR" altLang="en-US"/>
              <a:t>팀 버너스 리의 하이퍼링크 문서 공유 방법 개발   </a:t>
            </a:r>
            <a:endParaRPr lang="en-US" altLang="ko-KR"/>
          </a:p>
          <a:p>
            <a:pPr lvl="2"/>
            <a:r>
              <a:rPr lang="en-US" altLang="ko-KR"/>
              <a:t>HTML </a:t>
            </a:r>
            <a:r>
              <a:rPr lang="ko-KR" altLang="en-US"/>
              <a:t>제작 및 </a:t>
            </a:r>
            <a:r>
              <a:rPr lang="en-US" altLang="ko-KR"/>
              <a:t>HTTP</a:t>
            </a:r>
            <a:r>
              <a:rPr lang="ko-KR" altLang="en-US"/>
              <a:t>를 활용한 월드 와이드 웹 통신 근간 마련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ED325-95A8-F2BD-3576-34F1F99F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3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0FB6D-3F6A-77B3-2CA6-7A85A02A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E6FCC-144A-4BFA-2935-3F27C3F3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721EE-7C45-290F-AE1F-68ED3FDD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72710"/>
      </p:ext>
    </p:extLst>
  </p:cSld>
  <p:clrMapOvr>
    <a:masterClrMapping/>
  </p:clrMapOvr>
</p:sld>
</file>

<file path=ppt/theme/theme1.xml><?xml version="1.0" encoding="utf-8"?>
<a:theme xmlns:a="http://schemas.openxmlformats.org/drawingml/2006/main" name="PPT 서식(크몽)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서식(크몽)</Template>
  <TotalTime>623</TotalTime>
  <Words>1160</Words>
  <Application>Microsoft Office PowerPoint</Application>
  <PresentationFormat>화면 슬라이드 쇼(4:3)</PresentationFormat>
  <Paragraphs>159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Verdana</vt:lpstr>
      <vt:lpstr>맑은 고딕</vt:lpstr>
      <vt:lpstr>PPT 서식(크몽)</vt:lpstr>
      <vt:lpstr>chapter 01 운영체제 소개</vt:lpstr>
      <vt:lpstr>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user1</cp:lastModifiedBy>
  <cp:revision>43</cp:revision>
  <dcterms:created xsi:type="dcterms:W3CDTF">2026-10-07T00:40:47Z</dcterms:created>
  <dcterms:modified xsi:type="dcterms:W3CDTF">2026-10-29T07:30:48Z</dcterms:modified>
</cp:coreProperties>
</file>