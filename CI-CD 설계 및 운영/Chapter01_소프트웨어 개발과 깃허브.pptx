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9" userDrawn="1">
          <p15:clr>
            <a:srgbClr val="A4A3A4"/>
          </p15:clr>
        </p15:guide>
        <p15:guide id="3" pos="2955" userDrawn="1">
          <p15:clr>
            <a:srgbClr val="A4A3A4"/>
          </p15:clr>
        </p15:guide>
        <p15:guide id="4" pos="3030" userDrawn="1">
          <p15:clr>
            <a:srgbClr val="A4A3A4"/>
          </p15:clr>
        </p15:guide>
        <p15:guide id="5" orient="horz" pos="26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2" autoAdjust="0"/>
    <p:restoredTop sz="94660"/>
  </p:normalViewPr>
  <p:slideViewPr>
    <p:cSldViewPr snapToGrid="0">
      <p:cViewPr varScale="1">
        <p:scale>
          <a:sx n="88" d="100"/>
          <a:sy n="88" d="100"/>
        </p:scale>
        <p:origin x="369" y="75"/>
      </p:cViewPr>
      <p:guideLst>
        <p:guide pos="329"/>
        <p:guide pos="2955"/>
        <p:guide pos="3030"/>
        <p:guide orient="horz" pos="26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D3C34-A87E-4E4B-944F-D1641EB450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B7B57-E826-4D9B-9022-BEDFEA26F6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57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E37EC53-04E9-741B-EB65-2DA97F354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"/>
            <a:ext cx="9144000" cy="35099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2CFACB-FDB6-24A7-5BC2-B211E25EB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9954"/>
            <a:ext cx="9144000" cy="33480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B4A3B73-B170-C364-B8FB-D10D77098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50995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F462443-F3BA-08F8-7E8C-EA226C413B6B}"/>
              </a:ext>
            </a:extLst>
          </p:cNvPr>
          <p:cNvSpPr/>
          <p:nvPr/>
        </p:nvSpPr>
        <p:spPr>
          <a:xfrm>
            <a:off x="0" y="-17"/>
            <a:ext cx="9144000" cy="3509967"/>
          </a:xfrm>
          <a:prstGeom prst="rect">
            <a:avLst/>
          </a:prstGeom>
          <a:solidFill>
            <a:srgbClr val="0D1F35">
              <a:alpha val="576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0" y="277200"/>
            <a:ext cx="8820000" cy="2955600"/>
          </a:xfrm>
        </p:spPr>
        <p:txBody>
          <a:bodyPr anchor="ctr"/>
          <a:lstStyle>
            <a:lvl1pPr algn="l">
              <a:lnSpc>
                <a:spcPct val="150000"/>
              </a:lnSpc>
              <a:defRPr sz="4000" b="1" baseline="0">
                <a:solidFill>
                  <a:schemeClr val="bg1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08192DB-9F08-EC89-B261-1FF6489979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698" t="25172" r="20343" b="25172"/>
          <a:stretch>
            <a:fillRect/>
          </a:stretch>
        </p:blipFill>
        <p:spPr>
          <a:xfrm>
            <a:off x="7766020" y="3781986"/>
            <a:ext cx="565691" cy="104760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5AB88F28-518B-E993-1259-294B36574E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65220" y="3911594"/>
            <a:ext cx="6400800" cy="2544763"/>
          </a:xfrm>
        </p:spPr>
        <p:txBody>
          <a:bodyPr/>
          <a:lstStyle>
            <a:lvl1pPr marL="0" indent="0" algn="ctr">
              <a:lnSpc>
                <a:spcPct val="150000"/>
              </a:lnSpc>
              <a:buFontTx/>
              <a:buNone/>
              <a:defRPr sz="1600" baseline="0">
                <a:solidFill>
                  <a:srgbClr val="17365D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1F6F8F-2590-2E5C-14FC-D368774E3F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00" t="25172" r="73541" b="25172"/>
          <a:stretch>
            <a:fillRect/>
          </a:stretch>
        </p:blipFill>
        <p:spPr>
          <a:xfrm>
            <a:off x="709583" y="3781836"/>
            <a:ext cx="8191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23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4B296DDD-CDEF-4940-C8A5-3B788A0C0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00" y="329556"/>
            <a:ext cx="8884800" cy="633600"/>
          </a:xfrm>
        </p:spPr>
        <p:txBody>
          <a:bodyPr/>
          <a:lstStyle>
            <a:lvl1pPr>
              <a:lnSpc>
                <a:spcPct val="100000"/>
              </a:lnSpc>
              <a:defRPr sz="2200" b="0" baseline="0">
                <a:solidFill>
                  <a:schemeClr val="bg1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CACB84-D1A8-72BD-5C75-8335D4D98ED7}"/>
              </a:ext>
            </a:extLst>
          </p:cNvPr>
          <p:cNvSpPr/>
          <p:nvPr/>
        </p:nvSpPr>
        <p:spPr>
          <a:xfrm>
            <a:off x="1" y="1023504"/>
            <a:ext cx="9144000" cy="5658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600" y="1069200"/>
            <a:ext cx="8884800" cy="5216400"/>
          </a:xfrm>
          <a:solidFill>
            <a:schemeClr val="bg1">
              <a:alpha val="58000"/>
            </a:schemeClr>
          </a:solidFill>
        </p:spPr>
        <p:txBody>
          <a:bodyPr/>
          <a:lstStyle>
            <a:lvl1pPr>
              <a:lnSpc>
                <a:spcPct val="100000"/>
              </a:lnSpc>
              <a:defRPr sz="2000" b="1" baseline="0">
                <a:solidFill>
                  <a:srgbClr val="17365D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1pPr>
            <a:lvl2pPr>
              <a:lnSpc>
                <a:spcPct val="100000"/>
              </a:lnSpc>
              <a:buFont typeface="Aptos" panose="020B0004020202020204" pitchFamily="34" charset="0"/>
              <a:buChar char="-"/>
              <a:defRPr sz="18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2pPr>
            <a:lvl3pPr>
              <a:lnSpc>
                <a:spcPct val="100000"/>
              </a:lnSpc>
              <a:defRPr sz="16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SemiBold" panose="02000703000000020004" pitchFamily="50" charset="-127"/>
              </a:defRPr>
            </a:lvl3pPr>
            <a:lvl4pPr>
              <a:lnSpc>
                <a:spcPct val="100000"/>
              </a:lnSpc>
              <a:defRPr sz="16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Medium" panose="02000603000000020004" pitchFamily="50" charset="-127"/>
              </a:defRPr>
            </a:lvl4pPr>
            <a:lvl5pPr>
              <a:lnSpc>
                <a:spcPct val="100000"/>
              </a:lnSpc>
              <a:defRPr sz="16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57000" y="6301146"/>
            <a:ext cx="2057400" cy="365125"/>
          </a:xfrm>
        </p:spPr>
        <p:txBody>
          <a:bodyPr/>
          <a:lstStyle>
            <a:lvl1pPr>
              <a:defRPr sz="1600" b="1" baseline="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" panose="02000503000000020004" pitchFamily="50" charset="-127"/>
              </a:defRPr>
            </a:lvl1pPr>
          </a:lstStyle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28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13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88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99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15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29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243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68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77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90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09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2BC80-8AC5-439E-A28C-146E29DC6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Chapter 01</a:t>
            </a:r>
            <a:br>
              <a:rPr lang="en-US" altLang="ko-KR"/>
            </a:br>
            <a:r>
              <a:rPr lang="ko-KR" altLang="en-US"/>
              <a:t>소프트웨어 개발과 깃허브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6DABBE-9D3F-4FC1-8CF1-F4784EED07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유한대학교 </a:t>
            </a:r>
            <a:r>
              <a:rPr lang="ko-KR" altLang="en-US" err="1"/>
              <a:t>컴퓨터소프트웨어공학과</a:t>
            </a:r>
            <a:r>
              <a:rPr lang="ko-KR" altLang="en-US"/>
              <a:t> </a:t>
            </a:r>
            <a:endParaRPr lang="en-US" altLang="ko-KR"/>
          </a:p>
          <a:p>
            <a:r>
              <a:rPr lang="ko-KR" altLang="en-US"/>
              <a:t>박 영 환</a:t>
            </a:r>
          </a:p>
        </p:txBody>
      </p:sp>
    </p:spTree>
    <p:extLst>
      <p:ext uri="{BB962C8B-B14F-4D97-AF65-F5344CB8AC3E}">
        <p14:creationId xmlns:p14="http://schemas.microsoft.com/office/powerpoint/2010/main" val="321489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E5D84-1EC5-48D3-864D-73947E8F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소프트웨어 개발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F87F04-9FFE-4B84-AA81-A42807FE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소프트웨어 엔지니어링의 본질과 </a:t>
            </a:r>
            <a:r>
              <a:rPr lang="en-US" altLang="ko-KR"/>
              <a:t>CI/CD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역할</a:t>
            </a:r>
            <a:endParaRPr lang="en-US" altLang="ko-KR"/>
          </a:p>
          <a:p>
            <a:pPr lvl="1"/>
            <a:r>
              <a:rPr lang="ko-KR" altLang="en-US"/>
              <a:t>소프트웨어 엔지니어링의 핵심 목표를 사용자 가치 전달로 정의함</a:t>
            </a:r>
            <a:endParaRPr lang="en-US" altLang="ko-KR"/>
          </a:p>
          <a:p>
            <a:pPr lvl="2"/>
            <a:r>
              <a:rPr lang="ko-KR" altLang="en-US"/>
              <a:t>단순 코드 작성을 넘어 가치 전달을 위한 필수 활동 존재를 강조</a:t>
            </a:r>
            <a:endParaRPr lang="en-US" altLang="ko-KR"/>
          </a:p>
          <a:p>
            <a:pPr lvl="2"/>
            <a:r>
              <a:rPr lang="ko-KR" altLang="en-US"/>
              <a:t>코드를 소프트웨어로 변환하고 정상 실행 여부를 검증함</a:t>
            </a:r>
            <a:endParaRPr lang="en-US" altLang="ko-KR"/>
          </a:p>
          <a:p>
            <a:pPr lvl="1"/>
            <a:r>
              <a:rPr lang="ko-KR" altLang="en-US"/>
              <a:t>소프트웨어를 사용자가 실제 사용할 수 있는 상태로 전환</a:t>
            </a:r>
            <a:endParaRPr lang="en-US" altLang="ko-KR"/>
          </a:p>
          <a:p>
            <a:pPr lvl="1"/>
            <a:r>
              <a:rPr lang="en-US" altLang="ko-KR"/>
              <a:t>CI/CD</a:t>
            </a:r>
            <a:r>
              <a:rPr lang="ko-KR" altLang="en-US"/>
              <a:t>를 소프트웨어 유형과 무관하게 적용되는 보편적 해결책으로 제시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소프트웨어 개발의 특성</a:t>
            </a:r>
            <a:endParaRPr lang="en-US" altLang="ko-KR"/>
          </a:p>
          <a:p>
            <a:pPr lvl="1"/>
            <a:r>
              <a:rPr lang="ko-KR" altLang="en-US"/>
              <a:t>소프트웨어 개발 본연의 문제 영역 탐구</a:t>
            </a:r>
            <a:endParaRPr lang="en-US" altLang="ko-KR"/>
          </a:p>
          <a:p>
            <a:pPr lvl="2"/>
            <a:r>
              <a:rPr lang="en-US" altLang="ko-KR"/>
              <a:t>CI/CD </a:t>
            </a:r>
            <a:r>
              <a:rPr lang="ko-KR" altLang="en-US"/>
              <a:t>도입에 앞서 소프트웨어 개발의 내재적 특성을 먼저 파악함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27D70-4485-4A46-8931-9F7B7251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2</a:t>
            </a:fld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4C549F8-F403-452B-B714-15F206F91DA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498849" y="4919296"/>
            <a:ext cx="37255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4B26DC-A480-43BF-AF58-DD2552FA4EFE}"/>
              </a:ext>
            </a:extLst>
          </p:cNvPr>
          <p:cNvGrpSpPr/>
          <p:nvPr/>
        </p:nvGrpSpPr>
        <p:grpSpPr>
          <a:xfrm>
            <a:off x="2391849" y="4576396"/>
            <a:ext cx="4066101" cy="685800"/>
            <a:chOff x="2762733" y="3429000"/>
            <a:chExt cx="5421468" cy="9144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954E232-1623-4322-A9D6-738750039032}"/>
                </a:ext>
              </a:extLst>
            </p:cNvPr>
            <p:cNvSpPr/>
            <p:nvPr/>
          </p:nvSpPr>
          <p:spPr>
            <a:xfrm>
              <a:off x="2762733" y="3429000"/>
              <a:ext cx="1476000" cy="914400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>
                  <a:latin typeface="Verdana" panose="020B0604030504040204" pitchFamily="34" charset="0"/>
                  <a:ea typeface="HY헤드라인M" panose="02030600000101010101" pitchFamily="18" charset="-127"/>
                </a:rPr>
                <a:t>코드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1C57B23-6B3D-4D01-B4B6-D05DE3C4A272}"/>
                </a:ext>
              </a:extLst>
            </p:cNvPr>
            <p:cNvSpPr/>
            <p:nvPr/>
          </p:nvSpPr>
          <p:spPr>
            <a:xfrm>
              <a:off x="4735467" y="3429000"/>
              <a:ext cx="1476000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>
                  <a:latin typeface="Verdana" panose="020B0604030504040204" pitchFamily="34" charset="0"/>
                  <a:ea typeface="HY헤드라인M" panose="02030600000101010101" pitchFamily="18" charset="-127"/>
                </a:rPr>
                <a:t>소프트웨어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1B85B86-1330-4FAE-96E3-D2C36744B9A7}"/>
                </a:ext>
              </a:extLst>
            </p:cNvPr>
            <p:cNvSpPr/>
            <p:nvPr/>
          </p:nvSpPr>
          <p:spPr>
            <a:xfrm>
              <a:off x="6708201" y="3429000"/>
              <a:ext cx="1476000" cy="9144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>
                  <a:latin typeface="Verdana" panose="020B0604030504040204" pitchFamily="34" charset="0"/>
                  <a:ea typeface="HY헤드라인M" panose="02030600000101010101" pitchFamily="18" charset="-127"/>
                </a:rPr>
                <a:t>가치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DFBF7837-2DD9-4D1E-92FC-324C46FC97AB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6211467" y="3886200"/>
              <a:ext cx="49673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4460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B474B-DF58-4A52-9DB9-D57EA1F2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소프트웨어 개발의 특성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0B3776-39BF-420F-9BD7-5507247A9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복잡성과 변화</a:t>
            </a:r>
            <a:endParaRPr lang="en-US" altLang="ko-KR"/>
          </a:p>
          <a:p>
            <a:pPr lvl="1"/>
            <a:r>
              <a:rPr lang="ko-KR" altLang="en-US"/>
              <a:t>소프트웨어 구성 요소의 다기능성 및 상호 작용으로 예상치 못한 동작이 발생</a:t>
            </a:r>
            <a:endParaRPr lang="en-US" altLang="ko-KR"/>
          </a:p>
          <a:p>
            <a:pPr lvl="1"/>
            <a:r>
              <a:rPr lang="ko-KR" altLang="en-US"/>
              <a:t>시장 환경</a:t>
            </a:r>
            <a:r>
              <a:rPr lang="en-US" altLang="ko-KR"/>
              <a:t>, </a:t>
            </a:r>
            <a:r>
              <a:rPr lang="ko-KR" altLang="en-US"/>
              <a:t>사용자 니즈</a:t>
            </a:r>
            <a:r>
              <a:rPr lang="en-US" altLang="ko-KR"/>
              <a:t>, </a:t>
            </a:r>
            <a:r>
              <a:rPr lang="ko-KR" altLang="en-US"/>
              <a:t>요건 등의 지속적 변화를 강조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품질과 기대치</a:t>
            </a:r>
            <a:endParaRPr lang="en-US" altLang="ko-KR"/>
          </a:p>
          <a:p>
            <a:pPr lvl="1"/>
            <a:r>
              <a:rPr lang="ko-KR" altLang="en-US"/>
              <a:t>단순 실행을 넘어 정상 동작 여부의 중요성을 제시</a:t>
            </a:r>
            <a:endParaRPr lang="en-US" altLang="ko-KR"/>
          </a:p>
          <a:p>
            <a:pPr lvl="1"/>
            <a:r>
              <a:rPr lang="ko-KR" altLang="en-US"/>
              <a:t>가볍고 빠른 실행</a:t>
            </a:r>
            <a:r>
              <a:rPr lang="en-US" altLang="ko-KR"/>
              <a:t>, </a:t>
            </a:r>
            <a:r>
              <a:rPr lang="ko-KR" altLang="en-US"/>
              <a:t>프라이버시 보호 등 높아진 사용자 기대치에 부응함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피할 수 없는 시행착오</a:t>
            </a:r>
            <a:endParaRPr lang="en-US" altLang="ko-KR"/>
          </a:p>
          <a:p>
            <a:pPr lvl="1"/>
            <a:r>
              <a:rPr lang="ko-KR" altLang="en-US"/>
              <a:t>복잡하고 빠른 변화 속에서 사전 완벽 계획의 불가능성을 지적</a:t>
            </a:r>
            <a:endParaRPr lang="en-US" altLang="ko-KR"/>
          </a:p>
          <a:p>
            <a:pPr lvl="1"/>
            <a:r>
              <a:rPr lang="ko-KR" altLang="en-US"/>
              <a:t>반복적으로 시행착오를 통해 목표 결과에 접근함</a:t>
            </a:r>
            <a:endParaRPr lang="en-US" altLang="ko-KR"/>
          </a:p>
          <a:p>
            <a:pPr lvl="1"/>
            <a:r>
              <a:rPr lang="ko-KR" altLang="en-US"/>
              <a:t>소프트웨어 개발이 지속적으로 진행됨으로 설명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04F56-97A8-4C18-A94A-CA3D0C39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11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A0101-BF7B-41FF-B32E-1E3A0664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CI/CD - 1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3C815-29DD-4D55-8E83-5D9F01C4B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소프트웨어 개발 생명 주기</a:t>
            </a:r>
            <a:r>
              <a:rPr lang="en-US" altLang="ko-KR"/>
              <a:t>(SDLC)</a:t>
            </a:r>
          </a:p>
          <a:p>
            <a:pPr lvl="1"/>
            <a:r>
              <a:rPr lang="ko-KR" altLang="en-US"/>
              <a:t>복잡한 스텝의 반복을 거치는 소프트웨어 개발 수명 주기를 정의</a:t>
            </a:r>
            <a:endParaRPr lang="en-US" altLang="ko-KR"/>
          </a:p>
          <a:p>
            <a:pPr lvl="1"/>
            <a:r>
              <a:rPr lang="ko-KR" altLang="en-US"/>
              <a:t>주기의 지속적 반복을 통해 사용자에게 가치를 전달하는 활동으로 규정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CI/CD</a:t>
            </a:r>
            <a:r>
              <a:rPr lang="ko-KR" altLang="en-US"/>
              <a:t>의 역할 및 구조</a:t>
            </a:r>
            <a:endParaRPr lang="en-US" altLang="ko-KR"/>
          </a:p>
          <a:p>
            <a:pPr lvl="1"/>
            <a:r>
              <a:rPr lang="en-US" altLang="ko-KR"/>
              <a:t>CI/CD</a:t>
            </a:r>
            <a:r>
              <a:rPr lang="ko-KR" altLang="en-US"/>
              <a:t>의 기본 역할</a:t>
            </a:r>
            <a:endParaRPr lang="en-US" altLang="ko-KR"/>
          </a:p>
          <a:p>
            <a:pPr lvl="2"/>
            <a:r>
              <a:rPr lang="en-US" altLang="ko-KR"/>
              <a:t>‘</a:t>
            </a:r>
            <a:r>
              <a:rPr lang="ko-KR" altLang="en-US"/>
              <a:t>빌드</a:t>
            </a:r>
            <a:r>
              <a:rPr lang="en-US" altLang="ko-KR"/>
              <a:t>’</a:t>
            </a:r>
            <a:r>
              <a:rPr lang="ko-KR" altLang="en-US"/>
              <a:t>부터 </a:t>
            </a:r>
            <a:r>
              <a:rPr lang="en-US" altLang="ko-KR"/>
              <a:t>‘</a:t>
            </a:r>
            <a:r>
              <a:rPr lang="ko-KR" altLang="en-US"/>
              <a:t>릴리스</a:t>
            </a:r>
            <a:r>
              <a:rPr lang="en-US" altLang="ko-KR"/>
              <a:t>＇</a:t>
            </a:r>
            <a:r>
              <a:rPr lang="ko-KR" altLang="en-US"/>
              <a:t>까지의 과정을 자동화함</a:t>
            </a:r>
            <a:endParaRPr lang="en-US" altLang="ko-KR"/>
          </a:p>
          <a:p>
            <a:pPr lvl="2"/>
            <a:r>
              <a:rPr lang="ko-KR" altLang="en-US"/>
              <a:t>자동화를 통해 각 스텝을 지속해서 실행함</a:t>
            </a:r>
            <a:endParaRPr lang="en-US" altLang="ko-KR"/>
          </a:p>
          <a:p>
            <a:pPr lvl="2"/>
            <a:r>
              <a:rPr lang="ko-KR" altLang="en-US"/>
              <a:t>시행착오 속도 및 횟수를 늘려 더 큰 가치를 창출함</a:t>
            </a:r>
            <a:endParaRPr lang="en-US" altLang="ko-KR"/>
          </a:p>
          <a:p>
            <a:pPr lvl="2"/>
            <a:r>
              <a:rPr lang="en-US" altLang="ko-KR"/>
              <a:t>CI(</a:t>
            </a:r>
            <a:r>
              <a:rPr lang="ko-KR" altLang="en-US"/>
              <a:t>지속적 통합</a:t>
            </a:r>
            <a:r>
              <a:rPr lang="en-US" altLang="ko-KR"/>
              <a:t>)</a:t>
            </a:r>
            <a:r>
              <a:rPr lang="ko-KR" altLang="en-US"/>
              <a:t>와 </a:t>
            </a:r>
            <a:r>
              <a:rPr lang="en-US" altLang="ko-KR"/>
              <a:t>CD(</a:t>
            </a:r>
            <a:r>
              <a:rPr lang="ko-KR" altLang="en-US"/>
              <a:t>지속적 전달</a:t>
            </a:r>
            <a:r>
              <a:rPr lang="en-US" altLang="ko-KR"/>
              <a:t>) </a:t>
            </a:r>
            <a:r>
              <a:rPr lang="ko-KR" altLang="en-US"/>
              <a:t>두 개념으로 구성됨</a:t>
            </a:r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97D197-43A1-4DD0-B77D-B1B64D2A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4</a:t>
            </a:fld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7955741-99B2-4BC4-A85D-7793641ECC6D}"/>
              </a:ext>
            </a:extLst>
          </p:cNvPr>
          <p:cNvGrpSpPr/>
          <p:nvPr/>
        </p:nvGrpSpPr>
        <p:grpSpPr>
          <a:xfrm>
            <a:off x="666717" y="4576396"/>
            <a:ext cx="7810565" cy="685800"/>
            <a:chOff x="885811" y="5221362"/>
            <a:chExt cx="10414087" cy="9144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EA8C8BB-5E60-4075-AD4B-769F53E4D456}"/>
                </a:ext>
              </a:extLst>
            </p:cNvPr>
            <p:cNvSpPr/>
            <p:nvPr/>
          </p:nvSpPr>
          <p:spPr>
            <a:xfrm>
              <a:off x="2673428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>
                  <a:latin typeface="Verdana" panose="020B0604030504040204" pitchFamily="34" charset="0"/>
                  <a:ea typeface="HY헤드라인M" panose="02030600000101010101" pitchFamily="18" charset="-127"/>
                </a:rPr>
                <a:t>개발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C9E7EF-BF0A-4BE4-A1D3-5CEDB8242A7B}"/>
                </a:ext>
              </a:extLst>
            </p:cNvPr>
            <p:cNvSpPr/>
            <p:nvPr/>
          </p:nvSpPr>
          <p:spPr>
            <a:xfrm>
              <a:off x="4461045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>
                  <a:latin typeface="Verdana" panose="020B0604030504040204" pitchFamily="34" charset="0"/>
                  <a:ea typeface="HY헤드라인M" panose="02030600000101010101" pitchFamily="18" charset="-127"/>
                </a:rPr>
                <a:t>빌드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1958B84-D49E-4D07-828B-DB126083FC07}"/>
                </a:ext>
              </a:extLst>
            </p:cNvPr>
            <p:cNvSpPr/>
            <p:nvPr/>
          </p:nvSpPr>
          <p:spPr>
            <a:xfrm>
              <a:off x="6248662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>
                  <a:latin typeface="Verdana" panose="020B0604030504040204" pitchFamily="34" charset="0"/>
                  <a:ea typeface="HY헤드라인M" panose="02030600000101010101" pitchFamily="18" charset="-127"/>
                </a:rPr>
                <a:t>테스트</a:t>
              </a:r>
              <a:endParaRPr lang="en-US" altLang="ko-KR" sz="1350">
                <a:latin typeface="Verdana" panose="020B0604030504040204" pitchFamily="34" charset="0"/>
                <a:ea typeface="HY헤드라인M" panose="02030600000101010101" pitchFamily="18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F32DA88-B745-48C0-A475-65B636E2808D}"/>
                </a:ext>
              </a:extLst>
            </p:cNvPr>
            <p:cNvSpPr/>
            <p:nvPr/>
          </p:nvSpPr>
          <p:spPr>
            <a:xfrm>
              <a:off x="8036279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>
                  <a:latin typeface="Verdana" panose="020B0604030504040204" pitchFamily="34" charset="0"/>
                  <a:ea typeface="HY헤드라인M" panose="02030600000101010101" pitchFamily="18" charset="-127"/>
                </a:rPr>
                <a:t>릴리스</a:t>
              </a:r>
              <a:endParaRPr lang="en-US" altLang="ko-KR" sz="1350">
                <a:latin typeface="Verdana" panose="020B0604030504040204" pitchFamily="34" charset="0"/>
                <a:ea typeface="HY헤드라인M" panose="02030600000101010101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8E84835-2BA2-40BB-BE09-5D47DAE9FBB6}"/>
                </a:ext>
              </a:extLst>
            </p:cNvPr>
            <p:cNvSpPr/>
            <p:nvPr/>
          </p:nvSpPr>
          <p:spPr>
            <a:xfrm>
              <a:off x="885811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>
                  <a:latin typeface="Verdana" panose="020B0604030504040204" pitchFamily="34" charset="0"/>
                  <a:ea typeface="HY헤드라인M" panose="02030600000101010101" pitchFamily="18" charset="-127"/>
                </a:rPr>
                <a:t>계획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205B63-2705-4910-99A9-709AFBF7E63E}"/>
                </a:ext>
              </a:extLst>
            </p:cNvPr>
            <p:cNvSpPr/>
            <p:nvPr/>
          </p:nvSpPr>
          <p:spPr>
            <a:xfrm>
              <a:off x="9823898" y="5221362"/>
              <a:ext cx="1476000" cy="914400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>
                  <a:latin typeface="Verdana" panose="020B0604030504040204" pitchFamily="34" charset="0"/>
                  <a:ea typeface="HY헤드라인M" panose="02030600000101010101" pitchFamily="18" charset="-127"/>
                </a:rPr>
                <a:t>운영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690A43CE-89F0-4BD6-901D-FEADDE473530}"/>
                </a:ext>
              </a:extLst>
            </p:cNvPr>
            <p:cNvCxnSpPr>
              <a:cxnSpLocks/>
            </p:cNvCxnSpPr>
            <p:nvPr/>
          </p:nvCxnSpPr>
          <p:spPr>
            <a:xfrm>
              <a:off x="2361811" y="5684912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C69024C7-8337-45D8-84A6-711995D9E8E6}"/>
                </a:ext>
              </a:extLst>
            </p:cNvPr>
            <p:cNvCxnSpPr>
              <a:cxnSpLocks/>
            </p:cNvCxnSpPr>
            <p:nvPr/>
          </p:nvCxnSpPr>
          <p:spPr>
            <a:xfrm>
              <a:off x="4149428" y="5688094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C06C5D4B-626F-429C-8BEF-A50C6D279A4F}"/>
                </a:ext>
              </a:extLst>
            </p:cNvPr>
            <p:cNvCxnSpPr>
              <a:cxnSpLocks/>
            </p:cNvCxnSpPr>
            <p:nvPr/>
          </p:nvCxnSpPr>
          <p:spPr>
            <a:xfrm>
              <a:off x="5940190" y="5700973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74917F25-DCF9-467C-A741-9B35FDF7C04C}"/>
                </a:ext>
              </a:extLst>
            </p:cNvPr>
            <p:cNvCxnSpPr>
              <a:cxnSpLocks/>
            </p:cNvCxnSpPr>
            <p:nvPr/>
          </p:nvCxnSpPr>
          <p:spPr>
            <a:xfrm>
              <a:off x="7724662" y="5700973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A1FDD0EC-F628-4ABB-8857-85FC113F2E5B}"/>
                </a:ext>
              </a:extLst>
            </p:cNvPr>
            <p:cNvCxnSpPr>
              <a:cxnSpLocks/>
            </p:cNvCxnSpPr>
            <p:nvPr/>
          </p:nvCxnSpPr>
          <p:spPr>
            <a:xfrm>
              <a:off x="9512281" y="5700973"/>
              <a:ext cx="3116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420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6723D-A4BF-4E06-835D-DEDE5C8B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CI/CD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050A5-F628-4844-BF3E-430197A4C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지속적 통합</a:t>
            </a:r>
            <a:r>
              <a:rPr lang="en-US" altLang="ko-KR"/>
              <a:t>(Continuous Integration, CI)</a:t>
            </a:r>
          </a:p>
          <a:p>
            <a:pPr lvl="1"/>
            <a:r>
              <a:rPr lang="en-US" altLang="ko-KR"/>
              <a:t>CI</a:t>
            </a:r>
            <a:r>
              <a:rPr lang="ko-KR" altLang="en-US"/>
              <a:t>의 개념 및 핵심</a:t>
            </a:r>
            <a:endParaRPr lang="en-US" altLang="ko-KR"/>
          </a:p>
          <a:p>
            <a:pPr lvl="2"/>
            <a:r>
              <a:rPr lang="ko-KR" altLang="en-US"/>
              <a:t>변경 코드를 코드베이스에 반영하고 검증하는 것을 의미함</a:t>
            </a:r>
            <a:endParaRPr lang="en-US" altLang="ko-KR"/>
          </a:p>
          <a:p>
            <a:pPr lvl="2"/>
            <a:r>
              <a:rPr lang="ko-KR" altLang="en-US"/>
              <a:t>단순 코드베이스 통합을 넘어</a:t>
            </a:r>
            <a:r>
              <a:rPr lang="en-US" altLang="ko-KR"/>
              <a:t> ‘</a:t>
            </a:r>
            <a:r>
              <a:rPr lang="ko-KR" altLang="en-US"/>
              <a:t>검증</a:t>
            </a:r>
            <a:r>
              <a:rPr lang="en-US" altLang="ko-KR"/>
              <a:t>’</a:t>
            </a:r>
            <a:r>
              <a:rPr lang="ko-KR" altLang="en-US"/>
              <a:t>을 핵심 활동으로 규정</a:t>
            </a:r>
            <a:endParaRPr lang="en-US" altLang="ko-KR"/>
          </a:p>
          <a:p>
            <a:pPr lvl="1"/>
            <a:r>
              <a:rPr lang="en-US" altLang="ko-KR"/>
              <a:t>CI</a:t>
            </a:r>
            <a:r>
              <a:rPr lang="ko-KR" altLang="en-US"/>
              <a:t>의 주요 과정</a:t>
            </a:r>
            <a:endParaRPr lang="en-US" altLang="ko-KR"/>
          </a:p>
          <a:p>
            <a:pPr lvl="2"/>
            <a:r>
              <a:rPr lang="ko-KR" altLang="en-US"/>
              <a:t>코드 변경사항을 자주 코드베이스와 통합함</a:t>
            </a:r>
            <a:endParaRPr lang="en-US" altLang="ko-KR"/>
          </a:p>
          <a:p>
            <a:pPr lvl="2"/>
            <a:r>
              <a:rPr lang="ko-KR" altLang="en-US"/>
              <a:t>제대로 실행되는지 반복해서 검증함</a:t>
            </a:r>
            <a:endParaRPr lang="en-US" altLang="ko-KR"/>
          </a:p>
          <a:p>
            <a:pPr lvl="1"/>
            <a:r>
              <a:rPr lang="en-US" altLang="ko-KR"/>
              <a:t>CI</a:t>
            </a:r>
            <a:r>
              <a:rPr lang="ko-KR" altLang="en-US"/>
              <a:t>도입의 효과</a:t>
            </a:r>
            <a:endParaRPr lang="en-US" altLang="ko-KR"/>
          </a:p>
          <a:p>
            <a:pPr lvl="2"/>
            <a:r>
              <a:rPr lang="ko-KR" altLang="en-US"/>
              <a:t>코드를 통합 빈도를 늘려 충돌발생을 감소시킴</a:t>
            </a:r>
            <a:endParaRPr lang="en-US" altLang="ko-KR"/>
          </a:p>
          <a:p>
            <a:pPr lvl="2"/>
            <a:r>
              <a:rPr lang="ko-KR" altLang="en-US"/>
              <a:t>반복적 검증을 통해 버그를 재빠르게 발견 및 수정함</a:t>
            </a:r>
            <a:endParaRPr lang="en-US" altLang="ko-KR"/>
          </a:p>
          <a:p>
            <a:pPr lvl="2"/>
            <a:r>
              <a:rPr lang="ko-KR" altLang="en-US"/>
              <a:t>소프트웨어의 안정적 실행으로 사용자 만족도를 제공함</a:t>
            </a:r>
            <a:endParaRPr lang="en-US" altLang="ko-KR"/>
          </a:p>
          <a:p>
            <a:pPr lvl="2"/>
            <a:r>
              <a:rPr lang="ko-KR" altLang="en-US"/>
              <a:t>지속적인 검증을 통해 개발팀의 자신감을 부여함</a:t>
            </a:r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E604E-569C-484E-ACE6-8A396A97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148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BA18B-DEAD-4757-95D9-B517DE2B1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CI/CD - 3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3B6B8-257E-4870-BB16-C9E2B9130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지속적 전달</a:t>
            </a:r>
            <a:r>
              <a:rPr lang="en-US" altLang="ko-KR"/>
              <a:t>(Continuous Delivery, CD)</a:t>
            </a:r>
          </a:p>
          <a:p>
            <a:pPr lvl="1"/>
            <a:r>
              <a:rPr lang="ko-KR" altLang="en-US"/>
              <a:t>릴리스</a:t>
            </a:r>
            <a:r>
              <a:rPr lang="en-US" altLang="ko-KR"/>
              <a:t>(Release)</a:t>
            </a:r>
            <a:r>
              <a:rPr lang="ko-KR" altLang="en-US"/>
              <a:t>의 필요성</a:t>
            </a:r>
            <a:endParaRPr lang="en-US" altLang="ko-KR"/>
          </a:p>
          <a:p>
            <a:pPr lvl="2"/>
            <a:r>
              <a:rPr lang="ko-KR" altLang="en-US"/>
              <a:t>생성된 소프트웨어를 사용자에게 전달하는 릴리스 과정이 필수적임</a:t>
            </a:r>
            <a:endParaRPr lang="en-US" altLang="ko-KR"/>
          </a:p>
          <a:p>
            <a:pPr lvl="2"/>
            <a:r>
              <a:rPr lang="ko-KR" altLang="en-US"/>
              <a:t>사람의 실수가 발생하기 쉽고 과정이 복잡함을 설명</a:t>
            </a:r>
            <a:endParaRPr lang="en-US" altLang="ko-KR"/>
          </a:p>
          <a:p>
            <a:pPr lvl="2"/>
            <a:r>
              <a:rPr lang="ko-KR" altLang="en-US"/>
              <a:t>단일 이벤트가 아닌 수차례 반복 수행해야하는 특성을 지님</a:t>
            </a:r>
            <a:endParaRPr lang="en-US" altLang="ko-KR"/>
          </a:p>
          <a:p>
            <a:pPr lvl="1"/>
            <a:r>
              <a:rPr lang="en-US" altLang="ko-KR"/>
              <a:t>CD</a:t>
            </a:r>
            <a:r>
              <a:rPr lang="ko-KR" altLang="en-US"/>
              <a:t>의 주요 과정</a:t>
            </a:r>
            <a:endParaRPr lang="en-US" altLang="ko-KR"/>
          </a:p>
          <a:p>
            <a:pPr lvl="2"/>
            <a:r>
              <a:rPr lang="ko-KR" altLang="en-US"/>
              <a:t>언제나 안전하게 </a:t>
            </a:r>
            <a:r>
              <a:rPr lang="ko-KR" altLang="en-US" err="1"/>
              <a:t>릴리스할</a:t>
            </a:r>
            <a:r>
              <a:rPr lang="ko-KR" altLang="en-US"/>
              <a:t> 수 있는 상태를 유지함</a:t>
            </a:r>
            <a:endParaRPr lang="en-US" altLang="ko-KR"/>
          </a:p>
          <a:p>
            <a:pPr lvl="2"/>
            <a:r>
              <a:rPr lang="ko-KR" altLang="en-US"/>
              <a:t>소프트웨어를 반복해서 개선함</a:t>
            </a:r>
            <a:endParaRPr lang="en-US" altLang="ko-KR"/>
          </a:p>
          <a:p>
            <a:pPr lvl="1"/>
            <a:r>
              <a:rPr lang="en-US" altLang="ko-KR"/>
              <a:t>CD</a:t>
            </a:r>
            <a:r>
              <a:rPr lang="ko-KR" altLang="en-US"/>
              <a:t>의 핵심 가치</a:t>
            </a:r>
            <a:endParaRPr lang="en-US" altLang="ko-KR"/>
          </a:p>
          <a:p>
            <a:pPr lvl="2"/>
            <a:r>
              <a:rPr lang="en-US" altLang="ko-KR"/>
              <a:t>CD</a:t>
            </a:r>
            <a:r>
              <a:rPr lang="ko-KR" altLang="en-US"/>
              <a:t>의 핵심을 </a:t>
            </a:r>
            <a:r>
              <a:rPr lang="en-US" altLang="ko-KR"/>
              <a:t>‘</a:t>
            </a:r>
            <a:r>
              <a:rPr lang="ko-KR" altLang="en-US"/>
              <a:t>자동화</a:t>
            </a:r>
            <a:r>
              <a:rPr lang="en-US" altLang="ko-KR"/>
              <a:t>＇</a:t>
            </a:r>
            <a:r>
              <a:rPr lang="ko-KR" altLang="en-US"/>
              <a:t>로 정의함</a:t>
            </a:r>
            <a:endParaRPr lang="en-US" altLang="ko-KR"/>
          </a:p>
          <a:p>
            <a:pPr lvl="2"/>
            <a:r>
              <a:rPr lang="ko-KR" altLang="en-US"/>
              <a:t>자동화를 통해 반복 작업에 강해지고 인적 관여 여지를 줄여 언제든 안전하게 전달할 수 있게 됨</a:t>
            </a:r>
            <a:endParaRPr lang="en-US" altLang="ko-KR"/>
          </a:p>
          <a:p>
            <a:pPr lvl="1"/>
            <a:r>
              <a:rPr lang="en-US" altLang="ko-KR"/>
              <a:t>CI</a:t>
            </a:r>
            <a:r>
              <a:rPr lang="ko-KR" altLang="en-US"/>
              <a:t>와 </a:t>
            </a:r>
            <a:r>
              <a:rPr lang="en-US" altLang="ko-KR"/>
              <a:t>CD</a:t>
            </a:r>
            <a:r>
              <a:rPr lang="ko-KR" altLang="en-US"/>
              <a:t>의 관계 및 역할 </a:t>
            </a:r>
            <a:endParaRPr lang="en-US" altLang="ko-KR"/>
          </a:p>
          <a:p>
            <a:pPr lvl="2"/>
            <a:r>
              <a:rPr lang="ko-KR" altLang="en-US"/>
              <a:t>새로운 기능 </a:t>
            </a:r>
            <a:r>
              <a:rPr lang="ko-KR" altLang="en-US" err="1"/>
              <a:t>추가뿐만</a:t>
            </a:r>
            <a:r>
              <a:rPr lang="ko-KR" altLang="en-US"/>
              <a:t> 아니라 품질 개선의 중요성을 강조</a:t>
            </a:r>
            <a:endParaRPr lang="en-US" altLang="ko-KR"/>
          </a:p>
          <a:p>
            <a:pPr lvl="2"/>
            <a:r>
              <a:rPr lang="ko-KR" altLang="en-US"/>
              <a:t>품질을 확보하는 </a:t>
            </a:r>
            <a:r>
              <a:rPr lang="en-US" altLang="ko-KR"/>
              <a:t>CI</a:t>
            </a:r>
            <a:r>
              <a:rPr lang="ko-KR" altLang="en-US"/>
              <a:t>가 </a:t>
            </a:r>
            <a:r>
              <a:rPr lang="en-US" altLang="ko-KR"/>
              <a:t>CD</a:t>
            </a:r>
            <a:r>
              <a:rPr lang="ko-KR" altLang="en-US"/>
              <a:t>에 포함되는 구조임을 설명</a:t>
            </a:r>
            <a:endParaRPr lang="en-US" altLang="ko-KR"/>
          </a:p>
          <a:p>
            <a:pPr lvl="2"/>
            <a:r>
              <a:rPr lang="ko-KR" altLang="en-US"/>
              <a:t>높은 품질의 소프트웨어를 신속하게 제공하는 것을 </a:t>
            </a:r>
            <a:r>
              <a:rPr lang="en-US" altLang="ko-KR"/>
              <a:t>CD</a:t>
            </a:r>
            <a:r>
              <a:rPr lang="ko-KR" altLang="en-US"/>
              <a:t>의 주요 역할로 규정</a:t>
            </a:r>
            <a:endParaRPr lang="en-US" altLang="ko-KR"/>
          </a:p>
          <a:p>
            <a:pPr lvl="2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F4E251-AE9B-47F3-9C6F-C575384D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67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2A5B5-4F7D-4574-91A2-7E7A42DB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CI/CD - 3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1FBBCD-6A16-4D24-B83D-F075938E5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/>
              <a:t>소프트웨어 개발의 지속 가능성</a:t>
            </a:r>
            <a:endParaRPr lang="en-US" altLang="ko-KR"/>
          </a:p>
          <a:p>
            <a:pPr lvl="1"/>
            <a:r>
              <a:rPr lang="ko-KR" altLang="en-US"/>
              <a:t>지속 가능성</a:t>
            </a:r>
            <a:r>
              <a:rPr lang="en-US" altLang="ko-KR"/>
              <a:t>(Sustainability)</a:t>
            </a:r>
            <a:r>
              <a:rPr lang="ko-KR" altLang="en-US"/>
              <a:t>과의 연계</a:t>
            </a:r>
            <a:endParaRPr lang="en-US" altLang="ko-KR"/>
          </a:p>
          <a:p>
            <a:pPr lvl="2"/>
            <a:r>
              <a:rPr lang="ko-KR" altLang="en-US"/>
              <a:t>시행착오와 개선을 유도하여 개발의 지속 가능성을 확보함</a:t>
            </a:r>
            <a:endParaRPr lang="en-US" altLang="ko-KR"/>
          </a:p>
          <a:p>
            <a:pPr lvl="2"/>
            <a:r>
              <a:rPr lang="ko-KR" altLang="en-US"/>
              <a:t>시간 축 개념을 추가하여 정기적으로 사용자 가치를 제공함</a:t>
            </a:r>
            <a:endParaRPr lang="en-US" altLang="ko-KR"/>
          </a:p>
          <a:p>
            <a:pPr lvl="1"/>
            <a:r>
              <a:rPr lang="en-US" altLang="ko-KR"/>
              <a:t>CI/CD</a:t>
            </a:r>
            <a:r>
              <a:rPr lang="ko-KR" altLang="en-US"/>
              <a:t>의 핵심 목적</a:t>
            </a:r>
            <a:endParaRPr lang="en-US" altLang="ko-KR"/>
          </a:p>
          <a:p>
            <a:pPr lvl="2"/>
            <a:r>
              <a:rPr lang="ko-KR" altLang="en-US"/>
              <a:t>소프트웨어 개발의 지속 가능성을 높이고 장기적 가치를 제공함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CI/CD </a:t>
            </a:r>
            <a:r>
              <a:rPr lang="ko-KR" altLang="en-US"/>
              <a:t>도입에 따른 이점 </a:t>
            </a:r>
            <a:r>
              <a:rPr lang="en-US" altLang="ko-KR"/>
              <a:t>- 1</a:t>
            </a:r>
          </a:p>
          <a:p>
            <a:pPr lvl="1"/>
            <a:r>
              <a:rPr lang="ko-KR" altLang="en-US"/>
              <a:t>사용자 만족도 향상</a:t>
            </a:r>
            <a:endParaRPr lang="en-US" altLang="ko-KR"/>
          </a:p>
          <a:p>
            <a:pPr lvl="2"/>
            <a:r>
              <a:rPr lang="ko-KR" altLang="en-US"/>
              <a:t>지속적 테스트 실행으로 버그를 초기 스텝에서 발견한고 위험을 최소화함</a:t>
            </a:r>
            <a:endParaRPr lang="en-US" altLang="ko-KR"/>
          </a:p>
          <a:p>
            <a:pPr lvl="2"/>
            <a:r>
              <a:rPr lang="ko-KR" altLang="en-US"/>
              <a:t>정상 실행 소프트웨어의 지속적 전달을 통해 사용자 신뢰 확보 및 이탈을 방지함</a:t>
            </a:r>
            <a:endParaRPr lang="en-US" altLang="ko-KR"/>
          </a:p>
          <a:p>
            <a:pPr lvl="2"/>
            <a:r>
              <a:rPr lang="ko-KR" altLang="en-US"/>
              <a:t>릴리스 자동화로 신속한 니즈 검증 및 피드백 기반 지속 개선을 달성함</a:t>
            </a:r>
            <a:endParaRPr lang="en-US" altLang="ko-KR"/>
          </a:p>
          <a:p>
            <a:pPr lvl="1"/>
            <a:r>
              <a:rPr lang="ko-KR" altLang="en-US"/>
              <a:t>비즈니스 경쟁력 향상</a:t>
            </a:r>
            <a:endParaRPr lang="en-US" altLang="ko-KR"/>
          </a:p>
          <a:p>
            <a:pPr lvl="2"/>
            <a:r>
              <a:rPr lang="ko-KR" altLang="en-US"/>
              <a:t>시장 변화 및 사용자 필요에 대한 유연히 대처를 가능하게 함</a:t>
            </a:r>
            <a:endParaRPr lang="en-US" altLang="ko-KR"/>
          </a:p>
          <a:p>
            <a:pPr lvl="2"/>
            <a:r>
              <a:rPr lang="ko-KR" altLang="en-US"/>
              <a:t>피드백 주기 반복을 통한 비즈니스 기회 창출 및 성공 확률을 향상시킴</a:t>
            </a:r>
            <a:endParaRPr lang="en-US" altLang="ko-KR"/>
          </a:p>
          <a:p>
            <a:pPr lvl="2"/>
            <a:r>
              <a:rPr lang="ko-KR" altLang="en-US"/>
              <a:t>빠른 가설 검증과 학습 능력으로 시장 내 경쟁력 우위를 확보함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B89B5-5E3B-4AB7-BD00-E01F3AD3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63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3AC8D-AEE6-448A-89D2-F89638FAE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CI/CD - 3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1A52D3-BEAD-4B4B-9749-FF0A58F3F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CI/CD </a:t>
            </a:r>
            <a:r>
              <a:rPr lang="ko-KR" altLang="en-US"/>
              <a:t>도입에 따른 이점 </a:t>
            </a:r>
            <a:r>
              <a:rPr lang="en-US" altLang="ko-KR"/>
              <a:t>– 2</a:t>
            </a:r>
          </a:p>
          <a:p>
            <a:pPr lvl="1"/>
            <a:r>
              <a:rPr lang="ko-KR" altLang="en-US"/>
              <a:t>소프트웨어 엔지니어의 창의성 향상</a:t>
            </a:r>
            <a:endParaRPr lang="en-US" altLang="ko-KR"/>
          </a:p>
          <a:p>
            <a:pPr lvl="2"/>
            <a:r>
              <a:rPr lang="ko-KR" altLang="en-US"/>
              <a:t>조기 문제 발견을 통해 해결 절차를 단순화하고 실패 두려움을 완화함</a:t>
            </a:r>
            <a:endParaRPr lang="en-US" altLang="ko-KR"/>
          </a:p>
          <a:p>
            <a:pPr lvl="2"/>
            <a:r>
              <a:rPr lang="ko-KR" altLang="en-US"/>
              <a:t>자동화를 통한 수작업 오류 및 복구 시간 단축으로 가치 창출에 집중함</a:t>
            </a:r>
            <a:endParaRPr lang="en-US" altLang="ko-KR"/>
          </a:p>
          <a:p>
            <a:pPr lvl="2"/>
            <a:r>
              <a:rPr lang="ko-KR" altLang="en-US"/>
              <a:t>업무 효율화로 확보된 시간 여유를 학습</a:t>
            </a:r>
            <a:r>
              <a:rPr lang="en-US" altLang="ko-KR"/>
              <a:t>·</a:t>
            </a:r>
            <a:r>
              <a:rPr lang="ko-KR" altLang="en-US"/>
              <a:t>실험에 투자하여 기술력과 개발 민첩성을 제공함</a:t>
            </a:r>
            <a:endParaRPr lang="en-US" altLang="ko-KR"/>
          </a:p>
          <a:p>
            <a:pPr lvl="2"/>
            <a:endParaRPr lang="en-US" altLang="ko-KR"/>
          </a:p>
          <a:p>
            <a:r>
              <a:rPr lang="ko-KR" altLang="en-US"/>
              <a:t>버전 관리 시스템</a:t>
            </a:r>
            <a:r>
              <a:rPr lang="en-US" altLang="ko-KR"/>
              <a:t>(VCS) </a:t>
            </a:r>
          </a:p>
          <a:p>
            <a:pPr lvl="1"/>
            <a:r>
              <a:rPr lang="ko-KR" altLang="en-US"/>
              <a:t>버전 관리 시스템의 개념 및 필요성</a:t>
            </a:r>
            <a:endParaRPr lang="en-US" altLang="ko-KR"/>
          </a:p>
          <a:p>
            <a:pPr lvl="2"/>
            <a:r>
              <a:rPr lang="en-US" altLang="ko-KR"/>
              <a:t>CI/CD </a:t>
            </a:r>
            <a:r>
              <a:rPr lang="ko-KR" altLang="en-US"/>
              <a:t>적용의 필수 전체 조건으로 버전 관리 시스템</a:t>
            </a:r>
            <a:r>
              <a:rPr lang="en-US" altLang="ko-KR"/>
              <a:t>(VCS) </a:t>
            </a:r>
            <a:r>
              <a:rPr lang="ko-KR" altLang="en-US"/>
              <a:t>도입을 제시</a:t>
            </a:r>
            <a:endParaRPr lang="en-US" altLang="ko-KR"/>
          </a:p>
          <a:p>
            <a:pPr lvl="2"/>
            <a:r>
              <a:rPr lang="ko-KR" altLang="en-US"/>
              <a:t>코드 보관 및 변경 이력</a:t>
            </a:r>
            <a:r>
              <a:rPr lang="en-US" altLang="ko-KR"/>
              <a:t>(</a:t>
            </a:r>
            <a:r>
              <a:rPr lang="ko-KR" altLang="en-US"/>
              <a:t>체인지로그</a:t>
            </a:r>
            <a:r>
              <a:rPr lang="en-US" altLang="ko-KR"/>
              <a:t>) </a:t>
            </a:r>
            <a:r>
              <a:rPr lang="ko-KR" altLang="en-US"/>
              <a:t>관리 기능을 수행함</a:t>
            </a:r>
            <a:endParaRPr lang="en-US" altLang="ko-KR"/>
          </a:p>
          <a:p>
            <a:pPr lvl="2"/>
            <a:r>
              <a:rPr lang="ko-KR" altLang="en-US"/>
              <a:t>이의 시점으로의 복구를 지원하여 안정적인 개발 환경을 제공함</a:t>
            </a:r>
            <a:endParaRPr lang="en-US" altLang="ko-KR"/>
          </a:p>
          <a:p>
            <a:pPr lvl="2"/>
            <a:r>
              <a:rPr lang="ko-KR" altLang="en-US"/>
              <a:t>대표적 버전 관리 시스템으로 깃</a:t>
            </a:r>
            <a:r>
              <a:rPr lang="en-US" altLang="ko-KR"/>
              <a:t>(Git)</a:t>
            </a:r>
            <a:r>
              <a:rPr lang="ko-KR" altLang="en-US"/>
              <a:t>을 제시</a:t>
            </a:r>
            <a:endParaRPr lang="en-US" altLang="ko-KR"/>
          </a:p>
          <a:p>
            <a:pPr lvl="1"/>
            <a:r>
              <a:rPr lang="ko-KR" altLang="en-US"/>
              <a:t>팀 개발 환경과 </a:t>
            </a:r>
            <a:r>
              <a:rPr lang="ko-KR" altLang="en-US" err="1"/>
              <a:t>깃허브</a:t>
            </a:r>
            <a:endParaRPr lang="en-US" altLang="ko-KR"/>
          </a:p>
          <a:p>
            <a:pPr lvl="2"/>
            <a:r>
              <a:rPr lang="ko-KR" altLang="en-US"/>
              <a:t>팀 단위 개발 시 원격 접속을 통한 공동 버전 관리 필요성을 강조</a:t>
            </a:r>
            <a:endParaRPr lang="en-US" altLang="ko-KR"/>
          </a:p>
          <a:p>
            <a:pPr lvl="2"/>
            <a:r>
              <a:rPr lang="ko-KR" altLang="en-US"/>
              <a:t>원격 저장소 및 공동 관리 플랫폼으로 </a:t>
            </a:r>
            <a:r>
              <a:rPr lang="ko-KR" altLang="en-US" err="1"/>
              <a:t>깃허브</a:t>
            </a:r>
            <a:r>
              <a:rPr lang="en-US" altLang="ko-KR"/>
              <a:t>(GitHub)</a:t>
            </a:r>
            <a:r>
              <a:rPr lang="ko-KR" altLang="en-US"/>
              <a:t>가 등장함을 설명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84CA67-3132-47C0-9726-149921ED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20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0E3FD-3A39-F0EB-DC20-1069EA7E0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깃허브 </a:t>
            </a:r>
            <a:r>
              <a:rPr lang="en-US" altLang="ko-KR"/>
              <a:t>- 1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B27B4-FAB9-08F5-F173-30EB71704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/>
              <a:t>깃허브의 개요 및 정의</a:t>
            </a:r>
            <a:endParaRPr lang="en-US" altLang="ko-KR"/>
          </a:p>
          <a:p>
            <a:pPr lvl="1"/>
            <a:r>
              <a:rPr lang="ko-KR" altLang="en-US"/>
              <a:t>소프트웨어 개발 자원 플랫폼 서비스의 개념</a:t>
            </a:r>
            <a:endParaRPr lang="en-US" altLang="ko-KR"/>
          </a:p>
          <a:p>
            <a:pPr lvl="2"/>
            <a:r>
              <a:rPr lang="ko-KR" altLang="en-US"/>
              <a:t>소프트웨어 개발 생명주기 전체를 아우르는 종합 협업 플랫폼 기능 제공</a:t>
            </a:r>
            <a:endParaRPr lang="en-US" altLang="ko-KR"/>
          </a:p>
          <a:p>
            <a:pPr lvl="2"/>
            <a:r>
              <a:rPr lang="ko-KR" altLang="en-US"/>
              <a:t>오픈소스 프로젝트뿐만 아니라 일반 기업 환경에서도 표준적인 개발 인프라로 채택</a:t>
            </a:r>
            <a:endParaRPr lang="en-US" altLang="ko-KR"/>
          </a:p>
          <a:p>
            <a:pPr lvl="1"/>
            <a:r>
              <a:rPr lang="ko-KR" altLang="en-US"/>
              <a:t>원격 서버 코드 보관 및 호스팅 기능</a:t>
            </a:r>
            <a:endParaRPr lang="en-US" altLang="ko-KR"/>
          </a:p>
          <a:p>
            <a:pPr lvl="2"/>
            <a:r>
              <a:rPr lang="ko-KR" altLang="en-US"/>
              <a:t>로컬 환경에서 작성된 소스코드를 안전하게 중앙 원격 서버 백업 및 저장</a:t>
            </a:r>
            <a:endParaRPr lang="en-US" altLang="ko-KR"/>
          </a:p>
          <a:p>
            <a:pPr lvl="2"/>
            <a:r>
              <a:rPr lang="ko-KR" altLang="en-US"/>
              <a:t>프로젝트 참여자 누구나 언제 어디서나 동일한 소스 기반에 접근 가능한 환경 조성</a:t>
            </a:r>
            <a:endParaRPr lang="en-US" altLang="ko-KR"/>
          </a:p>
          <a:p>
            <a:pPr lvl="1"/>
            <a:r>
              <a:rPr lang="ko-KR" altLang="en-US"/>
              <a:t>다수 인원의 공동 버전 수행</a:t>
            </a:r>
            <a:endParaRPr lang="en-US" altLang="ko-KR"/>
          </a:p>
          <a:p>
            <a:pPr lvl="2"/>
            <a:r>
              <a:rPr lang="ko-KR" altLang="en-US"/>
              <a:t>분산 버전 관리 시스템인 깃</a:t>
            </a:r>
            <a:r>
              <a:rPr lang="en-US" altLang="ko-KR"/>
              <a:t>(Git)</a:t>
            </a:r>
            <a:r>
              <a:rPr lang="ko-KR" altLang="en-US"/>
              <a:t>을 기반으로 여러 개발자가 동시에 코드를 수정하고 병합 가능</a:t>
            </a:r>
            <a:endParaRPr lang="en-US" altLang="ko-KR"/>
          </a:p>
          <a:p>
            <a:pPr lvl="2"/>
            <a:r>
              <a:rPr lang="ko-KR" altLang="en-US"/>
              <a:t>소스 코드의 변경 이력 추적</a:t>
            </a:r>
            <a:r>
              <a:rPr lang="en-US" altLang="ko-KR"/>
              <a:t>, </a:t>
            </a:r>
            <a:r>
              <a:rPr lang="ko-KR" altLang="en-US"/>
              <a:t>충돌 방지</a:t>
            </a:r>
            <a:r>
              <a:rPr lang="en-US" altLang="ko-KR"/>
              <a:t>, </a:t>
            </a:r>
            <a:r>
              <a:rPr lang="ko-KR" altLang="en-US"/>
              <a:t>코드 리뷰를 위한 </a:t>
            </a:r>
            <a:r>
              <a:rPr lang="en-US" altLang="ko-KR"/>
              <a:t>‘</a:t>
            </a:r>
            <a:r>
              <a:rPr lang="ko-KR" altLang="en-US"/>
              <a:t>풀 리퀘스트</a:t>
            </a:r>
            <a:r>
              <a:rPr lang="en-US" altLang="ko-KR"/>
              <a:t>(Pull Request)’ </a:t>
            </a:r>
            <a:r>
              <a:rPr lang="ko-KR" altLang="en-US"/>
              <a:t>메커니즘 지원</a:t>
            </a:r>
            <a:endParaRPr lang="en-US" altLang="ko-KR"/>
          </a:p>
          <a:p>
            <a:pPr lvl="1"/>
            <a:r>
              <a:rPr lang="ko-KR" altLang="en-US"/>
              <a:t>확장 부가 서비스 생태계</a:t>
            </a:r>
            <a:endParaRPr lang="en-US" altLang="ko-KR"/>
          </a:p>
          <a:p>
            <a:pPr lvl="2"/>
            <a:r>
              <a:rPr lang="en-US" altLang="ko-KR"/>
              <a:t>CI/CD </a:t>
            </a:r>
            <a:r>
              <a:rPr lang="ko-KR" altLang="en-US"/>
              <a:t>자동화를 위한 범용 워크플로 엔진인 </a:t>
            </a:r>
            <a:r>
              <a:rPr lang="en-US" altLang="ko-KR"/>
              <a:t>‘</a:t>
            </a:r>
            <a:r>
              <a:rPr lang="ko-KR" altLang="en-US"/>
              <a:t>깃허브 액션</a:t>
            </a:r>
            <a:r>
              <a:rPr lang="en-US" altLang="ko-KR"/>
              <a:t>(GitHub Actions’)</a:t>
            </a:r>
            <a:r>
              <a:rPr lang="ko-KR" altLang="en-US"/>
              <a:t>를 제공</a:t>
            </a:r>
            <a:endParaRPr lang="en-US" altLang="ko-KR"/>
          </a:p>
          <a:p>
            <a:pPr lvl="2"/>
            <a:r>
              <a:rPr lang="ko-KR" altLang="en-US"/>
              <a:t>클라우드 기반 개발 환경을 즉시 구축하는 </a:t>
            </a:r>
            <a:r>
              <a:rPr lang="en-US" altLang="ko-KR"/>
              <a:t>‘</a:t>
            </a:r>
            <a:r>
              <a:rPr lang="ko-KR" altLang="en-US"/>
              <a:t>깃허브 코드스페이스</a:t>
            </a:r>
            <a:r>
              <a:rPr lang="en-US" altLang="ko-KR"/>
              <a:t>(GitHub CodeSpaces)’ </a:t>
            </a:r>
            <a:r>
              <a:rPr lang="ko-KR" altLang="en-US"/>
              <a:t>지원</a:t>
            </a:r>
            <a:endParaRPr lang="en-US" altLang="ko-KR"/>
          </a:p>
          <a:p>
            <a:pPr lvl="2"/>
            <a:r>
              <a:rPr lang="ko-KR" altLang="en-US"/>
              <a:t>인공 지능 기반 코드 자동 완성 및 보안을 지원하는 </a:t>
            </a:r>
            <a:r>
              <a:rPr lang="en-US" altLang="ko-KR"/>
              <a:t>‘</a:t>
            </a:r>
            <a:r>
              <a:rPr lang="ko-KR" altLang="en-US"/>
              <a:t>깃허브 코파일럿</a:t>
            </a:r>
            <a:r>
              <a:rPr lang="en-US" altLang="ko-KR"/>
              <a:t>(GitHub Copilot)’ </a:t>
            </a:r>
            <a:r>
              <a:rPr lang="ko-KR" altLang="en-US"/>
              <a:t>도입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361056-E672-8166-669B-68FDB21E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42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126FA-292D-5A2D-8488-2D614843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깃허브 </a:t>
            </a:r>
            <a:r>
              <a:rPr lang="en-US" altLang="ko-KR"/>
              <a:t>- 2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BF30D3-6115-5E08-DCD2-0E98DA558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깃허브 계정 체계</a:t>
            </a:r>
            <a:endParaRPr lang="en-US" altLang="ko-KR"/>
          </a:p>
          <a:p>
            <a:pPr lvl="1"/>
            <a:r>
              <a:rPr lang="ko-KR" altLang="en-US"/>
              <a:t>개인 계정</a:t>
            </a:r>
            <a:r>
              <a:rPr lang="en-US" altLang="ko-KR"/>
              <a:t>(Personal Account) </a:t>
            </a:r>
            <a:r>
              <a:rPr lang="ko-KR" altLang="en-US"/>
              <a:t>운영</a:t>
            </a:r>
            <a:endParaRPr lang="en-US" altLang="ko-KR"/>
          </a:p>
          <a:p>
            <a:pPr lvl="2"/>
            <a:r>
              <a:rPr lang="ko-KR" altLang="en-US"/>
              <a:t>플랫폼 가입 시 기본적으로 부여되는 가장 기본적인 사용자 계정 단위</a:t>
            </a:r>
            <a:endParaRPr lang="en-US" altLang="ko-KR"/>
          </a:p>
          <a:p>
            <a:pPr lvl="2"/>
            <a:r>
              <a:rPr lang="ko-KR" altLang="en-US"/>
              <a:t>개인 리포지토리 생성</a:t>
            </a:r>
            <a:r>
              <a:rPr lang="en-US" altLang="ko-KR"/>
              <a:t>, </a:t>
            </a:r>
            <a:r>
              <a:rPr lang="ko-KR" altLang="en-US"/>
              <a:t>소프트웨어 패키지 관리</a:t>
            </a:r>
            <a:r>
              <a:rPr lang="en-US" altLang="ko-KR"/>
              <a:t>, </a:t>
            </a:r>
            <a:r>
              <a:rPr lang="ko-KR" altLang="en-US"/>
              <a:t>프로젝트 보드 등의 기본 리소스 제공</a:t>
            </a:r>
            <a:endParaRPr lang="en-US" altLang="ko-KR"/>
          </a:p>
          <a:p>
            <a:pPr lvl="1"/>
            <a:r>
              <a:rPr lang="ko-KR" altLang="en-US"/>
              <a:t>조직 계정</a:t>
            </a:r>
            <a:r>
              <a:rPr lang="en-US" altLang="ko-KR"/>
              <a:t>(Organization Account) </a:t>
            </a:r>
            <a:r>
              <a:rPr lang="ko-KR" altLang="en-US"/>
              <a:t>관리  </a:t>
            </a:r>
            <a:endParaRPr lang="en-US" altLang="ko-KR"/>
          </a:p>
          <a:p>
            <a:pPr lvl="2"/>
            <a:r>
              <a:rPr lang="ko-KR" altLang="en-US"/>
              <a:t>다수의 개인 계정을 하나의 조직 단위로 묶어서 관리하는 협업 중심 계정</a:t>
            </a:r>
            <a:endParaRPr lang="en-US" altLang="ko-KR"/>
          </a:p>
          <a:p>
            <a:pPr lvl="2"/>
            <a:r>
              <a:rPr lang="ko-KR" altLang="en-US"/>
              <a:t>팀원별 세부 권한 제어</a:t>
            </a:r>
            <a:r>
              <a:rPr lang="en-US" altLang="ko-KR"/>
              <a:t>, </a:t>
            </a:r>
            <a:r>
              <a:rPr lang="ko-KR" altLang="en-US"/>
              <a:t>사용자 관리</a:t>
            </a:r>
            <a:r>
              <a:rPr lang="en-US" altLang="ko-KR"/>
              <a:t>, </a:t>
            </a:r>
            <a:r>
              <a:rPr lang="ko-KR" altLang="en-US"/>
              <a:t>기업 수준의 리소스 공유 및 보안 정책 일괄 적용 가능</a:t>
            </a:r>
            <a:endParaRPr lang="en-US" altLang="ko-KR"/>
          </a:p>
          <a:p>
            <a:pPr lvl="1"/>
            <a:r>
              <a:rPr lang="ko-KR" altLang="en-US"/>
              <a:t>엔터프라이즈 계정</a:t>
            </a:r>
            <a:r>
              <a:rPr lang="en-US" altLang="ko-KR"/>
              <a:t>(Enterprise Account) </a:t>
            </a:r>
            <a:r>
              <a:rPr lang="ko-KR" altLang="en-US"/>
              <a:t>통합</a:t>
            </a:r>
            <a:endParaRPr lang="en-US" altLang="ko-KR"/>
          </a:p>
          <a:p>
            <a:pPr lvl="2"/>
            <a:r>
              <a:rPr lang="ko-KR" altLang="en-US"/>
              <a:t>여러 개의 조직 계정을 포괄하여 거대한 기업 구조 전체를 관리하는 최상위 계정 체계</a:t>
            </a:r>
            <a:endParaRPr lang="en-US" altLang="ko-KR"/>
          </a:p>
          <a:p>
            <a:pPr lvl="2"/>
            <a:r>
              <a:rPr lang="ko-KR" altLang="en-US"/>
              <a:t>대규모 조직 운영 위한 통합 인증</a:t>
            </a:r>
            <a:r>
              <a:rPr lang="en-US" altLang="ko-KR"/>
              <a:t>(Single Sign-On, SSO) </a:t>
            </a:r>
            <a:r>
              <a:rPr lang="ko-KR" altLang="en-US"/>
              <a:t>등 고급 관리 기능 연동 지원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890A3-4EB8-3254-1BAB-9DB0EB62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317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C7390-5AE6-9350-C8EF-968D6A73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깃허브 </a:t>
            </a:r>
            <a:r>
              <a:rPr lang="en-US" altLang="ko-KR"/>
              <a:t>- 3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09D33F-CE10-9D69-F3DC-01C5803DC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err="1"/>
              <a:t>깃허브</a:t>
            </a:r>
            <a:r>
              <a:rPr lang="ko-KR" altLang="en-US"/>
              <a:t> 요금제 체계</a:t>
            </a:r>
            <a:endParaRPr lang="en-US" altLang="ko-KR"/>
          </a:p>
          <a:p>
            <a:pPr lvl="1"/>
            <a:r>
              <a:rPr lang="ko-KR" altLang="en-US" err="1"/>
              <a:t>깃허브</a:t>
            </a:r>
            <a:r>
              <a:rPr lang="ko-KR" altLang="en-US"/>
              <a:t> 프리</a:t>
            </a:r>
            <a:r>
              <a:rPr lang="en-US" altLang="ko-KR"/>
              <a:t>(GitHub Fee)</a:t>
            </a:r>
          </a:p>
          <a:p>
            <a:pPr lvl="2"/>
            <a:r>
              <a:rPr lang="ko-KR" altLang="en-US"/>
              <a:t>개인 사용자 및 소규모 조직을 위한 기본적인 무료 요금제 모델</a:t>
            </a:r>
            <a:endParaRPr lang="en-US" altLang="ko-KR"/>
          </a:p>
          <a:p>
            <a:pPr lvl="2"/>
            <a:r>
              <a:rPr lang="ko-KR" altLang="en-US"/>
              <a:t>일부 기능에 제한이 존재하나 기본적인 공개</a:t>
            </a:r>
            <a:r>
              <a:rPr lang="en-US" altLang="ko-KR"/>
              <a:t>/</a:t>
            </a:r>
            <a:r>
              <a:rPr lang="ko-KR" altLang="en-US"/>
              <a:t>비공개 </a:t>
            </a:r>
            <a:r>
              <a:rPr lang="ko-KR" altLang="en-US" err="1"/>
              <a:t>리포지토리</a:t>
            </a:r>
            <a:r>
              <a:rPr lang="ko-KR" altLang="en-US"/>
              <a:t> 운영 가능</a:t>
            </a:r>
            <a:endParaRPr lang="en-US" altLang="ko-KR"/>
          </a:p>
          <a:p>
            <a:pPr lvl="1"/>
            <a:r>
              <a:rPr lang="ko-KR" altLang="en-US" err="1"/>
              <a:t>깃허브</a:t>
            </a:r>
            <a:r>
              <a:rPr lang="ko-KR" altLang="en-US"/>
              <a:t> 프로</a:t>
            </a:r>
            <a:r>
              <a:rPr lang="en-US" altLang="ko-KR"/>
              <a:t>(GitHub Pro)</a:t>
            </a:r>
          </a:p>
          <a:p>
            <a:pPr lvl="2"/>
            <a:r>
              <a:rPr lang="ko-KR" altLang="en-US"/>
              <a:t>개인 계정 사용자를 위한 고급 기능 포함 유로 요금제</a:t>
            </a:r>
            <a:endParaRPr lang="en-US" altLang="ko-KR"/>
          </a:p>
          <a:p>
            <a:pPr lvl="2"/>
            <a:r>
              <a:rPr lang="ko-KR" altLang="en-US"/>
              <a:t>프리 요금제 대비 향상된 기술 지원 및 추가 저장 용량</a:t>
            </a:r>
            <a:r>
              <a:rPr lang="en-US" altLang="ko-KR"/>
              <a:t>/</a:t>
            </a:r>
            <a:r>
              <a:rPr lang="ko-KR" altLang="en-US"/>
              <a:t>기능 제공</a:t>
            </a:r>
            <a:endParaRPr lang="en-US" altLang="ko-KR"/>
          </a:p>
          <a:p>
            <a:pPr lvl="1"/>
            <a:r>
              <a:rPr lang="ko-KR" altLang="en-US" err="1"/>
              <a:t>깃허브</a:t>
            </a:r>
            <a:r>
              <a:rPr lang="ko-KR" altLang="en-US"/>
              <a:t> 팀</a:t>
            </a:r>
            <a:r>
              <a:rPr lang="en-US" altLang="ko-KR"/>
              <a:t>(Git Hub Team)</a:t>
            </a:r>
          </a:p>
          <a:p>
            <a:pPr lvl="2"/>
            <a:r>
              <a:rPr lang="ko-KR" altLang="en-US"/>
              <a:t>조직 단위 협업에 최적화된 기업</a:t>
            </a:r>
            <a:r>
              <a:rPr lang="en-US" altLang="ko-KR"/>
              <a:t>/</a:t>
            </a:r>
            <a:r>
              <a:rPr lang="ko-KR" altLang="en-US"/>
              <a:t>팀 전용 유로 요금제</a:t>
            </a:r>
            <a:endParaRPr lang="en-US" altLang="ko-KR"/>
          </a:p>
          <a:p>
            <a:pPr lvl="2"/>
            <a:r>
              <a:rPr lang="ko-KR" altLang="en-US"/>
              <a:t>기업 현장에서 무료 요금제의 기능적 한계를 극복하고 원활한 협업의 수행하기 위해 보편적으로 도입</a:t>
            </a:r>
            <a:endParaRPr lang="en-US" altLang="ko-KR"/>
          </a:p>
          <a:p>
            <a:pPr lvl="1"/>
            <a:r>
              <a:rPr lang="ko-KR" altLang="en-US" err="1"/>
              <a:t>깃허브</a:t>
            </a:r>
            <a:r>
              <a:rPr lang="ko-KR" altLang="en-US"/>
              <a:t> 엔터프라이즈</a:t>
            </a:r>
            <a:r>
              <a:rPr lang="en-US" altLang="ko-KR"/>
              <a:t>(GitHub Enterprise)</a:t>
            </a:r>
          </a:p>
          <a:p>
            <a:pPr lvl="2"/>
            <a:r>
              <a:rPr lang="ko-KR" altLang="en-US"/>
              <a:t>보안과 대규모 관리가 필수적인 기업을 위한 최상위 유로 요금제</a:t>
            </a:r>
            <a:endParaRPr lang="en-US" altLang="ko-KR"/>
          </a:p>
          <a:p>
            <a:pPr lvl="2"/>
            <a:r>
              <a:rPr lang="ko-KR" altLang="en-US"/>
              <a:t>클라우드 기반</a:t>
            </a:r>
            <a:r>
              <a:rPr lang="en-US" altLang="ko-KR"/>
              <a:t>(Cloud) </a:t>
            </a:r>
            <a:r>
              <a:rPr lang="ko-KR" altLang="en-US"/>
              <a:t>또는 자체 서버 구축형</a:t>
            </a:r>
            <a:r>
              <a:rPr lang="en-US" altLang="ko-KR"/>
              <a:t>(Server) </a:t>
            </a:r>
            <a:r>
              <a:rPr lang="ko-KR" altLang="en-US"/>
              <a:t>중 코드 호스팅 위치를 유연하게 선택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48E069-9DE4-7A09-F827-98E10F15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466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58DD0-2C13-7830-B196-7F9C186C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깃허브 </a:t>
            </a:r>
            <a:r>
              <a:rPr lang="en-US" altLang="ko-KR"/>
              <a:t>- 4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F767F3-23F3-29EC-BDD0-EE637956A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리포지토리</a:t>
            </a:r>
            <a:r>
              <a:rPr lang="en-US" altLang="ko-KR"/>
              <a:t>(Repository)</a:t>
            </a:r>
            <a:r>
              <a:rPr lang="ko-KR" altLang="en-US"/>
              <a:t>의 종류 및 특성</a:t>
            </a:r>
            <a:endParaRPr lang="en-US" altLang="ko-KR"/>
          </a:p>
          <a:p>
            <a:pPr lvl="1"/>
            <a:r>
              <a:rPr lang="ko-KR" altLang="en-US"/>
              <a:t>퍼블릭 리포지토리</a:t>
            </a:r>
            <a:r>
              <a:rPr lang="en-US" altLang="ko-KR"/>
              <a:t>(Public Repository)</a:t>
            </a:r>
          </a:p>
          <a:p>
            <a:pPr lvl="2"/>
            <a:r>
              <a:rPr lang="ko-KR" altLang="en-US"/>
              <a:t>인터넷 상에 완전히 공개되어 누구나 자유롭게 소스 코드에 접근하고 기여할 수 있는 구조</a:t>
            </a:r>
            <a:endParaRPr lang="en-US" altLang="ko-KR"/>
          </a:p>
          <a:p>
            <a:pPr lvl="2"/>
            <a:r>
              <a:rPr lang="ko-KR" altLang="en-US"/>
              <a:t>개인 취미 프로젝트</a:t>
            </a:r>
            <a:r>
              <a:rPr lang="en-US" altLang="ko-KR"/>
              <a:t>, </a:t>
            </a:r>
            <a:r>
              <a:rPr lang="ko-KR" altLang="en-US"/>
              <a:t>학습용 기록</a:t>
            </a:r>
            <a:r>
              <a:rPr lang="en-US" altLang="ko-KR"/>
              <a:t>, </a:t>
            </a:r>
            <a:r>
              <a:rPr lang="ko-KR" altLang="en-US"/>
              <a:t>글로벌 오픈소스 소프트웨어 공개에 가장 적합</a:t>
            </a:r>
            <a:endParaRPr lang="en-US" altLang="ko-KR"/>
          </a:p>
          <a:p>
            <a:pPr lvl="1"/>
            <a:r>
              <a:rPr lang="ko-KR" altLang="en-US"/>
              <a:t>프라이빗 리포지토리</a:t>
            </a:r>
            <a:r>
              <a:rPr lang="en-US" altLang="ko-KR"/>
              <a:t>(Private Repository)</a:t>
            </a:r>
          </a:p>
          <a:p>
            <a:pPr lvl="2"/>
            <a:r>
              <a:rPr lang="ko-KR" altLang="en-US"/>
              <a:t>사전 권한이 부여된 지정된 인원만 접근할 수 있는 비공개 코드 관리 공간</a:t>
            </a:r>
            <a:endParaRPr lang="en-US" altLang="ko-KR"/>
          </a:p>
          <a:p>
            <a:pPr lvl="2"/>
            <a:r>
              <a:rPr lang="ko-KR" altLang="en-US"/>
              <a:t>기업 비즈니스 소스 코드나 외부 노출이 불가능한 기밀 프로젝트 관리에 필수적</a:t>
            </a:r>
            <a:endParaRPr lang="en-US" altLang="ko-KR"/>
          </a:p>
          <a:p>
            <a:pPr lvl="1"/>
            <a:r>
              <a:rPr lang="ko-KR" altLang="en-US"/>
              <a:t>인터널 리포지토리</a:t>
            </a:r>
            <a:r>
              <a:rPr lang="en-US" altLang="ko-KR"/>
              <a:t>(Internal Repository)</a:t>
            </a:r>
          </a:p>
          <a:p>
            <a:pPr lvl="2"/>
            <a:r>
              <a:rPr lang="ko-KR" altLang="en-US"/>
              <a:t>엔터프라이즈 계정 구조 내에서 사내 구성원</a:t>
            </a:r>
            <a:r>
              <a:rPr lang="en-US" altLang="ko-KR"/>
              <a:t>(</a:t>
            </a:r>
            <a:r>
              <a:rPr lang="ko-KR" altLang="en-US"/>
              <a:t>그룹</a:t>
            </a:r>
            <a:r>
              <a:rPr lang="en-US" altLang="ko-KR"/>
              <a:t>) </a:t>
            </a:r>
            <a:r>
              <a:rPr lang="ko-KR" altLang="en-US"/>
              <a:t>전체가 공유할 수 있는 사내 공개 구조</a:t>
            </a:r>
            <a:endParaRPr lang="en-US" altLang="ko-KR"/>
          </a:p>
          <a:p>
            <a:pPr lvl="2"/>
            <a:r>
              <a:rPr lang="ko-KR" altLang="en-US"/>
              <a:t>프라이빗의 보안성과 조직 내 공유의 편리함을 동시에 충족하는 내부 협업 모델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A5417-67D2-E098-E82F-7CBBAEB96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90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BF673-28B3-CE9E-7ADB-1AAD57C0A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깃허브 </a:t>
            </a:r>
            <a:r>
              <a:rPr lang="en-US" altLang="ko-KR"/>
              <a:t>- 5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3A651-485E-A539-7DB3-C9B2301FA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공식 문서 활용 및 학습 가이드</a:t>
            </a:r>
            <a:endParaRPr lang="en-US" altLang="ko-KR"/>
          </a:p>
          <a:p>
            <a:pPr lvl="1"/>
            <a:r>
              <a:rPr lang="ko-KR" altLang="en-US"/>
              <a:t>공식 문서 사이트 체계적 접근</a:t>
            </a:r>
            <a:endParaRPr lang="en-US" altLang="ko-KR"/>
          </a:p>
          <a:p>
            <a:pPr lvl="2"/>
            <a:r>
              <a:rPr lang="ko-KR" altLang="en-US"/>
              <a:t>지속적으로 업데이트되는 최신 기능과 의문점 해소를 위해 공식 문서 채널 상시 활용</a:t>
            </a:r>
            <a:endParaRPr lang="en-US" altLang="ko-KR"/>
          </a:p>
          <a:p>
            <a:pPr lvl="2"/>
            <a:r>
              <a:rPr lang="ko-KR" altLang="en-US"/>
              <a:t>정확한 정보 검색과 실무 적용을 위해 주요 기술 키워드는 영문 명칭을 함께 병기하여 학습</a:t>
            </a:r>
            <a:endParaRPr lang="en-US" altLang="ko-KR"/>
          </a:p>
          <a:p>
            <a:pPr lvl="1"/>
            <a:r>
              <a:rPr lang="ko-KR" altLang="en-US"/>
              <a:t>버전 관리 및 주의사항 준수</a:t>
            </a:r>
            <a:endParaRPr lang="en-US" altLang="ko-KR"/>
          </a:p>
          <a:p>
            <a:pPr lvl="2"/>
            <a:r>
              <a:rPr lang="ko-KR" altLang="en-US"/>
              <a:t>문서 참조 시 화면 상단의 정보를 반드시 확인하여 현재 사용중인 환경과 일치하는지 대조</a:t>
            </a:r>
            <a:endParaRPr lang="en-US" altLang="ko-KR"/>
          </a:p>
          <a:p>
            <a:pPr lvl="2"/>
            <a:r>
              <a:rPr lang="ko-KR" altLang="en-US"/>
              <a:t>엔터프라이즈 전용 요금제 기능 및 문서는 일반 영역과 별도로 분리되어 있으므로 혼동하지 않도록 주의</a:t>
            </a:r>
            <a:endParaRPr lang="en-US" altLang="ko-KR"/>
          </a:p>
          <a:p>
            <a:pPr marL="685800" lvl="2" indent="0">
              <a:buNone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265F5D-FBCF-AB17-D3B7-54140A65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567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31D38-6521-E243-9340-08383667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 구축 </a:t>
            </a:r>
            <a:r>
              <a:rPr lang="en-US" altLang="ko-KR"/>
              <a:t>- 1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803D50-A25B-5745-CACE-6F8C6D147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깃허브 </a:t>
            </a:r>
            <a:r>
              <a:rPr lang="en-US" altLang="ko-KR"/>
              <a:t>CLI - 1</a:t>
            </a:r>
          </a:p>
          <a:p>
            <a:pPr lvl="1"/>
            <a:r>
              <a:rPr lang="ko-KR" altLang="en-US"/>
              <a:t>깃허브의 </a:t>
            </a:r>
            <a:r>
              <a:rPr lang="en-US" altLang="ko-KR"/>
              <a:t>CLI</a:t>
            </a:r>
            <a:r>
              <a:rPr lang="ko-KR" altLang="en-US"/>
              <a:t>의 개념 및 역할</a:t>
            </a:r>
            <a:endParaRPr lang="en-US" altLang="ko-KR"/>
          </a:p>
          <a:p>
            <a:pPr lvl="2"/>
            <a:r>
              <a:rPr lang="ko-KR" altLang="en-US"/>
              <a:t>명령줄 인터페이스</a:t>
            </a:r>
            <a:r>
              <a:rPr lang="en-US" altLang="ko-KR"/>
              <a:t>(CLI)</a:t>
            </a:r>
            <a:r>
              <a:rPr lang="ko-KR" altLang="en-US"/>
              <a:t>를 통한 깃허브 기능 제어</a:t>
            </a:r>
            <a:endParaRPr lang="en-US" altLang="ko-KR"/>
          </a:p>
          <a:p>
            <a:pPr lvl="2"/>
            <a:r>
              <a:rPr lang="ko-KR" altLang="en-US"/>
              <a:t>풀 리퀘스트</a:t>
            </a:r>
            <a:r>
              <a:rPr lang="en-US" altLang="ko-KR"/>
              <a:t>, </a:t>
            </a:r>
            <a:r>
              <a:rPr lang="ko-KR" altLang="en-US"/>
              <a:t>코멘트</a:t>
            </a:r>
            <a:r>
              <a:rPr lang="en-US" altLang="ko-KR"/>
              <a:t>, </a:t>
            </a:r>
            <a:r>
              <a:rPr lang="ko-KR" altLang="en-US"/>
              <a:t>병합</a:t>
            </a:r>
            <a:r>
              <a:rPr lang="en-US" altLang="ko-KR"/>
              <a:t>(merge) </a:t>
            </a:r>
            <a:r>
              <a:rPr lang="ko-KR" altLang="en-US"/>
              <a:t>등 일상 작업의 자동화</a:t>
            </a:r>
            <a:endParaRPr lang="en-US" altLang="ko-KR"/>
          </a:p>
          <a:p>
            <a:pPr lvl="2"/>
            <a:r>
              <a:rPr lang="ko-KR" altLang="en-US"/>
              <a:t>리포지토리 작성</a:t>
            </a:r>
            <a:r>
              <a:rPr lang="en-US" altLang="ko-KR"/>
              <a:t>, </a:t>
            </a:r>
            <a:r>
              <a:rPr lang="ko-KR" altLang="en-US"/>
              <a:t>설정</a:t>
            </a:r>
            <a:r>
              <a:rPr lang="en-US" altLang="ko-KR"/>
              <a:t>, </a:t>
            </a:r>
            <a:r>
              <a:rPr lang="ko-KR" altLang="en-US"/>
              <a:t>포크</a:t>
            </a:r>
            <a:r>
              <a:rPr lang="en-US" altLang="ko-KR"/>
              <a:t>(fork), </a:t>
            </a:r>
            <a:r>
              <a:rPr lang="ko-KR" altLang="en-US"/>
              <a:t>아카이브 관리</a:t>
            </a:r>
            <a:endParaRPr lang="en-US" altLang="ko-KR"/>
          </a:p>
          <a:p>
            <a:pPr lvl="1"/>
            <a:r>
              <a:rPr lang="ko-KR" altLang="en-US"/>
              <a:t>깃허브 </a:t>
            </a:r>
            <a:r>
              <a:rPr lang="en-US" altLang="ko-KR"/>
              <a:t>CLI </a:t>
            </a:r>
            <a:r>
              <a:rPr lang="ko-KR" altLang="en-US"/>
              <a:t>설치</a:t>
            </a:r>
            <a:endParaRPr lang="en-US" altLang="ko-KR"/>
          </a:p>
          <a:p>
            <a:pPr lvl="2"/>
            <a:r>
              <a:rPr lang="en-US" altLang="ko-KR"/>
              <a:t>macOS : </a:t>
            </a:r>
            <a:r>
              <a:rPr lang="ko-KR" altLang="en-US"/>
              <a:t>환경에서의 홈브루</a:t>
            </a:r>
            <a:r>
              <a:rPr lang="en-US" altLang="ko-KR"/>
              <a:t>(Homebrew) </a:t>
            </a:r>
            <a:r>
              <a:rPr lang="ko-KR" altLang="en-US"/>
              <a:t>활용 및 설치 명령어 실행</a:t>
            </a:r>
            <a:endParaRPr lang="en-US" altLang="ko-KR"/>
          </a:p>
          <a:p>
            <a:pPr marL="1028700" lvl="3" indent="0">
              <a:buNone/>
            </a:pPr>
            <a:r>
              <a:rPr lang="en-US" altLang="ko-KR">
                <a:highlight>
                  <a:srgbClr val="C0C0C0"/>
                </a:highlight>
              </a:rPr>
              <a:t>$ brew install gh</a:t>
            </a:r>
          </a:p>
          <a:p>
            <a:pPr lvl="2"/>
            <a:r>
              <a:rPr lang="ko-KR" altLang="en-US"/>
              <a:t>윈도우 환경에서의 윈도우 패키지 관리자</a:t>
            </a:r>
            <a:r>
              <a:rPr lang="en-US" altLang="ko-KR"/>
              <a:t>(winget) </a:t>
            </a:r>
            <a:r>
              <a:rPr lang="ko-KR" altLang="en-US"/>
              <a:t>활용</a:t>
            </a:r>
            <a:endParaRPr lang="en-US" altLang="ko-KR"/>
          </a:p>
          <a:p>
            <a:pPr marL="1028700" lvl="3" indent="0">
              <a:buNone/>
            </a:pPr>
            <a:r>
              <a:rPr lang="en-US" altLang="ko-KR">
                <a:highlight>
                  <a:srgbClr val="C0C0C0"/>
                </a:highlight>
              </a:rPr>
              <a:t>$ winget instll id GitHub.cli</a:t>
            </a:r>
          </a:p>
          <a:p>
            <a:pPr lvl="2"/>
            <a:r>
              <a:rPr lang="ko-KR" altLang="en-US"/>
              <a:t>설치 완료 후 버전 확인 및 계정 인증</a:t>
            </a:r>
            <a:r>
              <a:rPr lang="en-US" altLang="ko-KR"/>
              <a:t>(</a:t>
            </a:r>
            <a:r>
              <a:rPr lang="ko-KR" altLang="en-US"/>
              <a:t>로그인</a:t>
            </a:r>
            <a:r>
              <a:rPr lang="en-US" altLang="ko-KR"/>
              <a:t>) </a:t>
            </a:r>
            <a:r>
              <a:rPr lang="ko-KR" altLang="en-US"/>
              <a:t>수행</a:t>
            </a:r>
            <a:endParaRPr lang="en-US" altLang="ko-KR"/>
          </a:p>
          <a:p>
            <a:pPr marL="1028700" lvl="3" indent="0">
              <a:buNone/>
            </a:pPr>
            <a:r>
              <a:rPr lang="en-US" altLang="ko-KR">
                <a:highlight>
                  <a:srgbClr val="C0C0C0"/>
                </a:highlight>
              </a:rPr>
              <a:t>$ gh –version</a:t>
            </a:r>
            <a:br>
              <a:rPr lang="en-US" altLang="ko-KR">
                <a:highlight>
                  <a:srgbClr val="C0C0C0"/>
                </a:highlight>
              </a:rPr>
            </a:br>
            <a:r>
              <a:rPr lang="en-US" altLang="ko-KR">
                <a:highlight>
                  <a:srgbClr val="C0C0C0"/>
                </a:highlight>
              </a:rPr>
              <a:t>gh version 2.45.0 (20XX-XX-XX)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3C5B89-D1F3-6EE3-70C9-18165ADE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265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1E14C-DBB8-17A8-1DF4-0C10DBC0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 구축 </a:t>
            </a:r>
            <a:r>
              <a:rPr lang="en-US" altLang="ko-KR"/>
              <a:t>- 2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DE1FDD-D35C-9A23-B709-DF7FC0BEE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깃허브 </a:t>
            </a:r>
            <a:r>
              <a:rPr lang="en-US" altLang="ko-KR"/>
              <a:t>CLI – 2</a:t>
            </a:r>
          </a:p>
          <a:p>
            <a:pPr lvl="1"/>
            <a:r>
              <a:rPr lang="ko-KR" altLang="en-US"/>
              <a:t>깃허브 </a:t>
            </a:r>
            <a:r>
              <a:rPr lang="en-US" altLang="ko-KR"/>
              <a:t>CLI </a:t>
            </a:r>
            <a:r>
              <a:rPr lang="ko-KR" altLang="en-US"/>
              <a:t>사용법</a:t>
            </a:r>
            <a:endParaRPr lang="en-US" altLang="ko-KR"/>
          </a:p>
          <a:p>
            <a:pPr lvl="2"/>
            <a:r>
              <a:rPr lang="ko-KR" altLang="en-US"/>
              <a:t>도움말 확인 및 리포지토리 목록 조회</a:t>
            </a:r>
            <a:endParaRPr lang="en-US" altLang="ko-KR"/>
          </a:p>
          <a:p>
            <a:pPr marL="1028700" lvl="3" indent="0">
              <a:buNone/>
            </a:pPr>
            <a:r>
              <a:rPr lang="en-US" altLang="ko-KR">
                <a:highlight>
                  <a:srgbClr val="C0C0C0"/>
                </a:highlight>
              </a:rPr>
              <a:t>$ gh --help</a:t>
            </a:r>
          </a:p>
          <a:p>
            <a:pPr lvl="2"/>
            <a:r>
              <a:rPr lang="ko-KR" altLang="en-US"/>
              <a:t>풀 리퀘스트 생성 및 웹 플래그 활용</a:t>
            </a:r>
            <a:endParaRPr lang="en-US" altLang="ko-KR"/>
          </a:p>
          <a:p>
            <a:pPr marL="1028700" lvl="3" indent="0">
              <a:buNone/>
            </a:pPr>
            <a:r>
              <a:rPr lang="en-US" altLang="ko-KR">
                <a:highlight>
                  <a:srgbClr val="C0C0C0"/>
                </a:highlight>
              </a:rPr>
              <a:t>$ gh repo list</a:t>
            </a:r>
          </a:p>
          <a:p>
            <a:pPr lvl="2"/>
            <a:r>
              <a:rPr lang="ko-KR" altLang="en-US"/>
              <a:t>자주 사용하는 명령어의 엘리어스</a:t>
            </a:r>
            <a:r>
              <a:rPr lang="en-US" altLang="ko-KR"/>
              <a:t>(alias)</a:t>
            </a:r>
            <a:r>
              <a:rPr lang="ko-KR" altLang="en-US"/>
              <a:t> 등록 및 관리</a:t>
            </a:r>
            <a:endParaRPr lang="en-US" altLang="ko-KR"/>
          </a:p>
          <a:p>
            <a:pPr marL="1028700" lvl="3" indent="0">
              <a:buNone/>
            </a:pPr>
            <a:r>
              <a:rPr lang="en-US" altLang="ko-KR">
                <a:highlight>
                  <a:srgbClr val="C0C0C0"/>
                </a:highlight>
              </a:rPr>
              <a:t>$ gh pr create --fill --web</a:t>
            </a:r>
          </a:p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D09CE9-DD11-2096-E676-A966AEE5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51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BB0BA-5E7C-0B6D-A551-0937E098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 구축 </a:t>
            </a:r>
            <a:r>
              <a:rPr lang="en-US" altLang="ko-KR"/>
              <a:t>- 3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DF10F7-370C-448F-BCBA-7B9276D2C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리포지토리 작성</a:t>
            </a:r>
            <a:endParaRPr lang="en-US" altLang="ko-KR"/>
          </a:p>
          <a:p>
            <a:pPr lvl="1"/>
            <a:r>
              <a:rPr lang="ko-KR" altLang="en-US"/>
              <a:t>퍼블릭 리포지토리 권장 및 활용</a:t>
            </a:r>
            <a:endParaRPr lang="en-US" altLang="ko-KR"/>
          </a:p>
          <a:p>
            <a:pPr lvl="2"/>
            <a:r>
              <a:rPr lang="ko-KR" altLang="en-US"/>
              <a:t>무료 사용 조건 및 기능 제약 최소화 환경 구축</a:t>
            </a:r>
            <a:endParaRPr lang="en-US" altLang="ko-KR"/>
          </a:p>
          <a:p>
            <a:pPr lvl="2"/>
            <a:r>
              <a:rPr lang="ko-KR" altLang="en-US"/>
              <a:t>명령어 기반의 퍼블릭 리포지토리 생성</a:t>
            </a:r>
            <a:r>
              <a:rPr lang="en-US" altLang="ko-KR"/>
              <a:t>, </a:t>
            </a:r>
            <a:r>
              <a:rPr lang="ko-KR" altLang="en-US"/>
              <a:t>복제</a:t>
            </a:r>
            <a:r>
              <a:rPr lang="en-US" altLang="ko-KR"/>
              <a:t>, </a:t>
            </a:r>
            <a:r>
              <a:rPr lang="ko-KR" altLang="en-US"/>
              <a:t>리드미</a:t>
            </a:r>
            <a:r>
              <a:rPr lang="en-US" altLang="ko-KR"/>
              <a:t>(README.md) </a:t>
            </a:r>
            <a:r>
              <a:rPr lang="ko-KR" altLang="en-US"/>
              <a:t>추가</a:t>
            </a:r>
            <a:endParaRPr lang="en-US" altLang="ko-KR"/>
          </a:p>
          <a:p>
            <a:pPr marL="1028700" lvl="3" indent="0">
              <a:buNone/>
            </a:pPr>
            <a:r>
              <a:rPr lang="en-US" altLang="ko-KR">
                <a:highlight>
                  <a:srgbClr val="C0C0C0"/>
                </a:highlight>
              </a:rPr>
              <a:t>$ gh repo create my-repo --public –clone –add-readme</a:t>
            </a:r>
          </a:p>
          <a:p>
            <a:pPr lvl="1"/>
            <a:r>
              <a:rPr lang="ko-KR" altLang="en-US"/>
              <a:t>프라이빗 리포지토리 운용 검토</a:t>
            </a:r>
            <a:endParaRPr lang="en-US" altLang="ko-KR"/>
          </a:p>
          <a:p>
            <a:pPr lvl="2"/>
            <a:r>
              <a:rPr lang="ko-KR" altLang="en-US"/>
              <a:t>유로 요금제 가입 조건 확인</a:t>
            </a:r>
            <a:endParaRPr lang="en-US" altLang="ko-KR"/>
          </a:p>
          <a:p>
            <a:pPr lvl="2"/>
            <a:r>
              <a:rPr lang="ko-KR" altLang="en-US"/>
              <a:t>프라이빗 환경에서의 일부 제약 사항 파악</a:t>
            </a:r>
            <a:endParaRPr lang="en-US" altLang="ko-KR"/>
          </a:p>
          <a:p>
            <a:pPr lvl="2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CEE45-854E-1F74-0007-F4057D9C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776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EB2B3-2821-0845-2EC5-2B7D677A2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26D0B-18AB-224E-03CC-EF5CE753E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소프트웨어 개발은 쉽지 않은 작업</a:t>
            </a:r>
            <a:endParaRPr lang="en-US" altLang="ko-KR"/>
          </a:p>
          <a:p>
            <a:pPr lvl="1"/>
            <a:r>
              <a:rPr lang="ko-KR" altLang="en-US"/>
              <a:t>복잡성이 높고 주변의 환경도 급격히 변함</a:t>
            </a:r>
            <a:endParaRPr lang="en-US" altLang="ko-KR"/>
          </a:p>
          <a:p>
            <a:pPr lvl="1"/>
            <a:r>
              <a:rPr lang="ko-KR" altLang="en-US"/>
              <a:t>반면 품질에 대한 기대치가 높으며 시행착오는 필수</a:t>
            </a:r>
            <a:endParaRPr lang="en-US" altLang="ko-KR"/>
          </a:p>
          <a:p>
            <a:r>
              <a:rPr lang="en-US" altLang="ko-KR"/>
              <a:t>CI</a:t>
            </a:r>
            <a:r>
              <a:rPr lang="ko-KR" altLang="en-US"/>
              <a:t>는 코드를 항상 안전하게 릴리스할 수 있는 상태를 유지하면서 소프트웨어를 </a:t>
            </a:r>
            <a:br>
              <a:rPr lang="en-US" altLang="ko-KR"/>
            </a:br>
            <a:r>
              <a:rPr lang="ko-KR" altLang="en-US"/>
              <a:t>반복적으로 개선하기 위한 것</a:t>
            </a:r>
            <a:endParaRPr lang="en-US" altLang="ko-KR"/>
          </a:p>
          <a:p>
            <a:r>
              <a:rPr lang="en-US" altLang="ko-KR"/>
              <a:t>CI/CD</a:t>
            </a:r>
            <a:r>
              <a:rPr lang="ko-KR" altLang="en-US"/>
              <a:t>는 소프트웨어 개발의 지속 가능성을 높이며 장기적으로 가치를 제공하기 위한 것</a:t>
            </a:r>
            <a:endParaRPr lang="en-US" altLang="ko-KR"/>
          </a:p>
          <a:p>
            <a:pPr lvl="1"/>
            <a:r>
              <a:rPr lang="ko-KR" altLang="en-US"/>
              <a:t>사용자와 비즈니스뿐만 아니라 우리 같은 소프트웨어 엔지니어에게도 큰 혜택을 줌</a:t>
            </a:r>
            <a:endParaRPr lang="en-US" altLang="ko-KR"/>
          </a:p>
          <a:p>
            <a:r>
              <a:rPr lang="ko-KR" altLang="en-US"/>
              <a:t>깃허브는 소프트웨어 개발 플랫폼</a:t>
            </a:r>
            <a:endParaRPr lang="en-US" altLang="ko-KR"/>
          </a:p>
          <a:p>
            <a:pPr lvl="1"/>
            <a:r>
              <a:rPr lang="ko-KR" altLang="en-US"/>
              <a:t>계정이나 요금제</a:t>
            </a:r>
            <a:r>
              <a:rPr lang="en-US" altLang="ko-KR"/>
              <a:t>, </a:t>
            </a:r>
            <a:r>
              <a:rPr lang="ko-KR" altLang="en-US"/>
              <a:t>리포지토리 종류에 따라 사용할 수 있는 기능이 다름</a:t>
            </a:r>
            <a:endParaRPr lang="en-US" altLang="ko-KR"/>
          </a:p>
          <a:p>
            <a:r>
              <a:rPr lang="ko-KR" altLang="en-US"/>
              <a:t>의문점이 있다면 공식 문서를 참조해라</a:t>
            </a:r>
            <a:endParaRPr lang="en-US" altLang="ko-KR"/>
          </a:p>
          <a:p>
            <a:r>
              <a:rPr lang="ko-KR" altLang="en-US"/>
              <a:t>깃허브 </a:t>
            </a:r>
            <a:r>
              <a:rPr lang="en-US" altLang="ko-KR"/>
              <a:t>CLI</a:t>
            </a:r>
            <a:r>
              <a:rPr lang="ko-KR" altLang="en-US"/>
              <a:t>를 설치하면 더 편리하게 깃허브를 활용할 수 있음</a:t>
            </a:r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F68B7E-D25C-B645-4343-9AA309BD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614581"/>
      </p:ext>
    </p:extLst>
  </p:cSld>
  <p:clrMapOvr>
    <a:masterClrMapping/>
  </p:clrMapOvr>
</p:sld>
</file>

<file path=ppt/theme/theme1.xml><?xml version="1.0" encoding="utf-8"?>
<a:theme xmlns:a="http://schemas.openxmlformats.org/drawingml/2006/main" name="PPT 서식(크몽)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Chapter01_운영체제 개요</Template>
  <TotalTime>573</TotalTime>
  <Words>1595</Words>
  <Application>Microsoft Office PowerPoint</Application>
  <PresentationFormat>화면 슬라이드 쇼(4:3)</PresentationFormat>
  <Paragraphs>226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Verdana</vt:lpstr>
      <vt:lpstr>맑은 고딕</vt:lpstr>
      <vt:lpstr>PPT 서식(크몽)</vt:lpstr>
      <vt:lpstr>Chapter 01 소프트웨어 개발과 깃허브</vt:lpstr>
      <vt:lpstr>소프트웨어 개발</vt:lpstr>
      <vt:lpstr>소프트웨어 개발의 특성</vt:lpstr>
      <vt:lpstr>CI/CD - 1</vt:lpstr>
      <vt:lpstr>CI/CD - 2</vt:lpstr>
      <vt:lpstr>CI/CD - 3</vt:lpstr>
      <vt:lpstr>CI/CD - 3</vt:lpstr>
      <vt:lpstr>CI/CD - 3</vt:lpstr>
      <vt:lpstr>깃허브 - 1</vt:lpstr>
      <vt:lpstr>깃허브 - 2</vt:lpstr>
      <vt:lpstr>깃허브 - 3</vt:lpstr>
      <vt:lpstr>깃허브 - 4</vt:lpstr>
      <vt:lpstr>깃허브 - 5</vt:lpstr>
      <vt:lpstr>환경 구축 - 1</vt:lpstr>
      <vt:lpstr>환경 구축 - 2</vt:lpstr>
      <vt:lpstr>환경 구축 - 3</vt:lpstr>
      <vt:lpstr>정리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user1</cp:lastModifiedBy>
  <cp:revision>42</cp:revision>
  <dcterms:created xsi:type="dcterms:W3CDTF">2026-10-07T00:40:47Z</dcterms:created>
  <dcterms:modified xsi:type="dcterms:W3CDTF">2026-10-29T07:29:42Z</dcterms:modified>
</cp:coreProperties>
</file>