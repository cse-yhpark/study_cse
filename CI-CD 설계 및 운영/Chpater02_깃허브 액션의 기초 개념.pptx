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56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29" userDrawn="1">
          <p15:clr>
            <a:srgbClr val="A4A3A4"/>
          </p15:clr>
        </p15:guide>
        <p15:guide id="3" pos="2955" userDrawn="1">
          <p15:clr>
            <a:srgbClr val="A4A3A4"/>
          </p15:clr>
        </p15:guide>
        <p15:guide id="4" pos="3030" userDrawn="1">
          <p15:clr>
            <a:srgbClr val="A4A3A4"/>
          </p15:clr>
        </p15:guide>
        <p15:guide id="5" orient="horz" pos="26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2" autoAdjust="0"/>
    <p:restoredTop sz="94660"/>
  </p:normalViewPr>
  <p:slideViewPr>
    <p:cSldViewPr snapToGrid="0">
      <p:cViewPr varScale="1">
        <p:scale>
          <a:sx n="88" d="100"/>
          <a:sy n="88" d="100"/>
        </p:scale>
        <p:origin x="369" y="54"/>
      </p:cViewPr>
      <p:guideLst>
        <p:guide pos="329"/>
        <p:guide pos="2955"/>
        <p:guide pos="3030"/>
        <p:guide orient="horz" pos="26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D3C34-A87E-4E4B-944F-D1641EB450F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B7B57-E826-4D9B-9022-BEDFEA26F6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573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1E37EC53-04E9-741B-EB65-2DA97F354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"/>
            <a:ext cx="9144000" cy="3509958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2CFACB-FDB6-24A7-5BC2-B211E25EB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9954"/>
            <a:ext cx="9144000" cy="334804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B4A3B73-B170-C364-B8FB-D10D77098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509959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F462443-F3BA-08F8-7E8C-EA226C413B6B}"/>
              </a:ext>
            </a:extLst>
          </p:cNvPr>
          <p:cNvSpPr/>
          <p:nvPr/>
        </p:nvSpPr>
        <p:spPr>
          <a:xfrm>
            <a:off x="0" y="-17"/>
            <a:ext cx="9144000" cy="3509967"/>
          </a:xfrm>
          <a:prstGeom prst="rect">
            <a:avLst/>
          </a:prstGeom>
          <a:solidFill>
            <a:srgbClr val="0D1F35">
              <a:alpha val="5764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0" y="-16"/>
            <a:ext cx="8820000" cy="3509959"/>
          </a:xfrm>
        </p:spPr>
        <p:txBody>
          <a:bodyPr anchor="ctr"/>
          <a:lstStyle>
            <a:lvl1pPr algn="l">
              <a:lnSpc>
                <a:spcPct val="150000"/>
              </a:lnSpc>
              <a:defRPr sz="4000" b="1" baseline="0">
                <a:solidFill>
                  <a:schemeClr val="bg1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08192DB-9F08-EC89-B261-1FF6489979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0698" t="25172" r="20343" b="25172"/>
          <a:stretch>
            <a:fillRect/>
          </a:stretch>
        </p:blipFill>
        <p:spPr>
          <a:xfrm>
            <a:off x="7766020" y="3781986"/>
            <a:ext cx="565691" cy="1047600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5AB88F28-518B-E993-1259-294B36574E5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65220" y="3911594"/>
            <a:ext cx="6400800" cy="2544763"/>
          </a:xfrm>
        </p:spPr>
        <p:txBody>
          <a:bodyPr/>
          <a:lstStyle>
            <a:lvl1pPr marL="0" indent="0" algn="ctr">
              <a:lnSpc>
                <a:spcPct val="150000"/>
              </a:lnSpc>
              <a:buFontTx/>
              <a:buNone/>
              <a:defRPr sz="1600" baseline="0">
                <a:solidFill>
                  <a:srgbClr val="17365D"/>
                </a:solidFill>
                <a:latin typeface="Verdana" panose="020B0604030504040204" pitchFamily="34" charset="0"/>
                <a:ea typeface="HY헤드라인M" panose="02030600000101010101" pitchFamily="18" charset="-127"/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ko-KR" altLang="en-US" noProof="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A1F6F8F-2590-2E5C-14FC-D368774E3F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500" t="25172" r="73541" b="25172"/>
          <a:stretch>
            <a:fillRect/>
          </a:stretch>
        </p:blipFill>
        <p:spPr>
          <a:xfrm>
            <a:off x="709583" y="3781836"/>
            <a:ext cx="819150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59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4B296DDD-CDEF-4940-C8A5-3B788A0C03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600" y="329556"/>
            <a:ext cx="8884800" cy="633600"/>
          </a:xfrm>
        </p:spPr>
        <p:txBody>
          <a:bodyPr/>
          <a:lstStyle>
            <a:lvl1pPr>
              <a:lnSpc>
                <a:spcPct val="100000"/>
              </a:lnSpc>
              <a:defRPr sz="2200" b="0" baseline="0">
                <a:solidFill>
                  <a:schemeClr val="bg1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3CACB84-D1A8-72BD-5C75-8335D4D98ED7}"/>
              </a:ext>
            </a:extLst>
          </p:cNvPr>
          <p:cNvSpPr/>
          <p:nvPr/>
        </p:nvSpPr>
        <p:spPr>
          <a:xfrm>
            <a:off x="1" y="1023504"/>
            <a:ext cx="9144000" cy="56583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600" y="1069200"/>
            <a:ext cx="8884800" cy="5216400"/>
          </a:xfrm>
          <a:solidFill>
            <a:schemeClr val="bg1">
              <a:alpha val="58000"/>
            </a:schemeClr>
          </a:solidFill>
        </p:spPr>
        <p:txBody>
          <a:bodyPr/>
          <a:lstStyle>
            <a:lvl1pPr>
              <a:lnSpc>
                <a:spcPct val="100000"/>
              </a:lnSpc>
              <a:defRPr sz="2000" b="1" baseline="0">
                <a:solidFill>
                  <a:srgbClr val="17365D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1pPr>
            <a:lvl2pPr>
              <a:lnSpc>
                <a:spcPct val="100000"/>
              </a:lnSpc>
              <a:buFont typeface="Aptos" panose="020B0004020202020204" pitchFamily="34" charset="0"/>
              <a:buChar char="-"/>
              <a:defRPr sz="18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ExtraBold" panose="02000903000000020004" pitchFamily="50" charset="-127"/>
              </a:defRPr>
            </a:lvl2pPr>
            <a:lvl3pPr>
              <a:lnSpc>
                <a:spcPct val="100000"/>
              </a:lnSpc>
              <a:defRPr sz="16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SemiBold" panose="02000703000000020004" pitchFamily="50" charset="-127"/>
              </a:defRPr>
            </a:lvl3pPr>
            <a:lvl4pPr>
              <a:lnSpc>
                <a:spcPct val="100000"/>
              </a:lnSpc>
              <a:defRPr sz="16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 Medium" panose="02000603000000020004" pitchFamily="50" charset="-127"/>
              </a:defRPr>
            </a:lvl4pPr>
            <a:lvl5pPr>
              <a:lnSpc>
                <a:spcPct val="100000"/>
              </a:lnSpc>
              <a:defRPr sz="1600" baseline="0">
                <a:solidFill>
                  <a:srgbClr val="091625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57000" y="6301146"/>
            <a:ext cx="2057400" cy="365125"/>
          </a:xfrm>
        </p:spPr>
        <p:txBody>
          <a:bodyPr/>
          <a:lstStyle>
            <a:lvl1pPr>
              <a:defRPr sz="1600" b="1" baseline="0">
                <a:solidFill>
                  <a:schemeClr val="tx1"/>
                </a:solidFill>
                <a:latin typeface="Verdana" panose="020B0604030504040204" pitchFamily="34" charset="0"/>
                <a:ea typeface="HY헤드라인M" panose="02030600000101010101" pitchFamily="18" charset="-127"/>
                <a:cs typeface="Pretendard" panose="02000503000000020004" pitchFamily="50" charset="-127"/>
              </a:defRPr>
            </a:lvl1pPr>
          </a:lstStyle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685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078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89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546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0783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5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379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55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250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36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86F03-299E-46B0-8EA8-4C9C8EE382C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3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D3413-1D19-F4B1-CD30-E51CF966DD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000" y="277200"/>
            <a:ext cx="8820000" cy="2955600"/>
          </a:xfrm>
        </p:spPr>
        <p:txBody>
          <a:bodyPr/>
          <a:lstStyle/>
          <a:p>
            <a:r>
              <a:rPr lang="en-US" altLang="ko-KR" sz="2000"/>
              <a:t>Chapter 02</a:t>
            </a:r>
            <a:br>
              <a:rPr lang="en-US" altLang="ko-KR"/>
            </a:br>
            <a:r>
              <a:rPr lang="ko-KR" altLang="en-US"/>
              <a:t>깃허브 액션의 기초 개념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919AD2-2290-C2B2-7F55-4FD3A55588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유한대학교 컴퓨터소프트웨어공학과</a:t>
            </a:r>
            <a:endParaRPr lang="en-US" altLang="ko-KR"/>
          </a:p>
          <a:p>
            <a:r>
              <a:rPr lang="ko-KR" altLang="en-US"/>
              <a:t>박 영 환</a:t>
            </a:r>
          </a:p>
        </p:txBody>
      </p:sp>
    </p:spTree>
    <p:extLst>
      <p:ext uri="{BB962C8B-B14F-4D97-AF65-F5344CB8AC3E}">
        <p14:creationId xmlns:p14="http://schemas.microsoft.com/office/powerpoint/2010/main" val="1869636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B0F71B-B6E0-77F3-50FC-F66B5306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깃허브 액션 시작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50E89A-7515-EAAB-745C-9C4D9EE48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작업 정의 및 자동화 체계</a:t>
            </a:r>
            <a:endParaRPr lang="en-US" altLang="ko-KR"/>
          </a:p>
          <a:p>
            <a:pPr lvl="1"/>
            <a:r>
              <a:rPr lang="ko-KR" altLang="en-US"/>
              <a:t>소프트웨어 개발 라이프사이클의 반복적 태스크 자동 수행</a:t>
            </a:r>
            <a:endParaRPr lang="en-US" altLang="ko-KR"/>
          </a:p>
          <a:p>
            <a:pPr lvl="1"/>
            <a:r>
              <a:rPr lang="en-US" altLang="ko-KR"/>
              <a:t>‘</a:t>
            </a:r>
            <a:r>
              <a:rPr lang="ko-KR" altLang="en-US"/>
              <a:t>언제</a:t>
            </a:r>
            <a:r>
              <a:rPr lang="en-US" altLang="ko-KR"/>
              <a:t>’, ‘</a:t>
            </a:r>
            <a:r>
              <a:rPr lang="ko-KR" altLang="en-US"/>
              <a:t>어디서</a:t>
            </a:r>
            <a:r>
              <a:rPr lang="en-US" altLang="ko-KR"/>
              <a:t>’, ‘</a:t>
            </a:r>
            <a:r>
              <a:rPr lang="ko-KR" altLang="en-US"/>
              <a:t>어떻게</a:t>
            </a:r>
            <a:r>
              <a:rPr lang="en-US" altLang="ko-KR"/>
              <a:t>’ </a:t>
            </a:r>
            <a:r>
              <a:rPr lang="ko-KR" altLang="en-US"/>
              <a:t>처리를 정의하는 워크폴로 액션 구성</a:t>
            </a:r>
            <a:endParaRPr lang="en-US" altLang="ko-KR"/>
          </a:p>
          <a:p>
            <a:pPr lvl="1"/>
            <a:r>
              <a:rPr lang="ko-KR" altLang="en-US"/>
              <a:t>이벤트 연동 및 태스크 자동화 사례</a:t>
            </a:r>
            <a:endParaRPr lang="en-US" altLang="ko-KR"/>
          </a:p>
          <a:p>
            <a:pPr lvl="2"/>
            <a:r>
              <a:rPr lang="ko-KR" altLang="en-US"/>
              <a:t>풀 리퀘스트</a:t>
            </a:r>
            <a:r>
              <a:rPr lang="en-US" altLang="ko-KR"/>
              <a:t>(Pull Request) </a:t>
            </a:r>
            <a:r>
              <a:rPr lang="ko-KR" altLang="en-US"/>
              <a:t>작성 시 빌드 및 테스트 자동 실행</a:t>
            </a:r>
            <a:endParaRPr lang="en-US" altLang="ko-KR"/>
          </a:p>
          <a:p>
            <a:pPr lvl="2"/>
            <a:r>
              <a:rPr lang="ko-KR" altLang="en-US"/>
              <a:t>릴리스 태그 작성 시 컨테이너 이미지 배포</a:t>
            </a:r>
            <a:endParaRPr lang="en-US" altLang="ko-KR"/>
          </a:p>
          <a:p>
            <a:pPr lvl="2"/>
            <a:r>
              <a:rPr lang="ko-KR" altLang="en-US"/>
              <a:t>이슈</a:t>
            </a:r>
            <a:r>
              <a:rPr lang="en-US" altLang="ko-KR"/>
              <a:t>(Issue) </a:t>
            </a:r>
            <a:r>
              <a:rPr lang="ko-KR" altLang="en-US"/>
              <a:t>생성시 무작위 멤버 할당</a:t>
            </a:r>
            <a:endParaRPr lang="en-US" altLang="ko-KR"/>
          </a:p>
          <a:p>
            <a:pPr lvl="1"/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638A74-65F0-2BE5-BA86-5018B63F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5098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BE5D1D-83CF-7EFF-4903-0F2D4BFF2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워크플로 파일 개념 및 규칙</a:t>
            </a:r>
            <a:endParaRPr lang="en-US" altLang="ko-KR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D37379-92FD-F4B5-0383-702717C29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ko-KR" altLang="en-US"/>
              <a:t>워크플로 파일 생성 및 실습 </a:t>
            </a:r>
            <a:endParaRPr lang="en-US" altLang="ko-KR"/>
          </a:p>
          <a:p>
            <a:pPr lvl="1"/>
            <a:r>
              <a:rPr lang="ko-KR" altLang="en-US"/>
              <a:t>디렉토리 및 파일 생셩 명령</a:t>
            </a:r>
            <a:endParaRPr lang="en-US" altLang="ko-KR"/>
          </a:p>
          <a:p>
            <a:pPr lvl="2"/>
            <a:r>
              <a:rPr lang="en-US" altLang="ko-KR"/>
              <a:t>Linux/macOS </a:t>
            </a:r>
            <a:r>
              <a:rPr lang="ko-KR" altLang="en-US"/>
              <a:t>환경 기준 터미널 명령 </a:t>
            </a:r>
            <a:endParaRPr lang="en-US" altLang="ko-KR"/>
          </a:p>
          <a:p>
            <a:pPr lvl="3"/>
            <a:r>
              <a:rPr lang="en-US" altLang="ko-KR">
                <a:highlight>
                  <a:srgbClr val="C0C0C0"/>
                </a:highlight>
              </a:rPr>
              <a:t>mkdir –p .github/workflows</a:t>
            </a:r>
          </a:p>
          <a:p>
            <a:pPr lvl="3"/>
            <a:r>
              <a:rPr lang="en-US" altLang="ko-KR">
                <a:highlight>
                  <a:srgbClr val="C0C0C0"/>
                </a:highlight>
              </a:rPr>
              <a:t>touch .github/workflows/hello.yml</a:t>
            </a:r>
          </a:p>
          <a:p>
            <a:pPr lvl="2"/>
            <a:r>
              <a:rPr lang="en-US" altLang="ko-KR"/>
              <a:t>Windows</a:t>
            </a:r>
            <a:r>
              <a:rPr lang="ko-KR" altLang="en-US"/>
              <a:t> 환경 대응을 위한 </a:t>
            </a:r>
            <a:r>
              <a:rPr lang="en-US" altLang="ko-KR"/>
              <a:t>echo </a:t>
            </a:r>
            <a:r>
              <a:rPr lang="ko-KR" altLang="en-US"/>
              <a:t>명령 활용 또는 타일 탐색기 편집 활용</a:t>
            </a:r>
            <a:endParaRPr lang="en-US" altLang="ko-KR"/>
          </a:p>
          <a:p>
            <a:pPr lvl="3"/>
            <a:r>
              <a:rPr lang="en-US" altLang="ko-KR">
                <a:highlight>
                  <a:srgbClr val="C0C0C0"/>
                </a:highlight>
              </a:rPr>
              <a:t>C:\code\my-repo&gt; echo $null &gt;&gt;.github/workflows/hello.yml</a:t>
            </a:r>
          </a:p>
          <a:p>
            <a:pPr lvl="2"/>
            <a:endParaRPr lang="en-US" altLang="ko-KR"/>
          </a:p>
          <a:p>
            <a:r>
              <a:rPr lang="ko-KR" altLang="en-US"/>
              <a:t>워크플로 파일 정의 및 위치 지정</a:t>
            </a:r>
            <a:endParaRPr lang="en-US" altLang="ko-KR"/>
          </a:p>
          <a:p>
            <a:pPr lvl="1"/>
            <a:r>
              <a:rPr lang="ko-KR" altLang="en-US"/>
              <a:t>깃허브 액션 시작을 위한 리포지토리 내</a:t>
            </a:r>
            <a:r>
              <a:rPr lang="en-US" altLang="ko-KR"/>
              <a:t> YAML </a:t>
            </a:r>
            <a:r>
              <a:rPr lang="ko-KR" altLang="en-US"/>
              <a:t>파일 추가</a:t>
            </a:r>
            <a:endParaRPr lang="en-US" altLang="ko-KR"/>
          </a:p>
          <a:p>
            <a:pPr lvl="1"/>
            <a:r>
              <a:rPr lang="en-US" altLang="ko-KR"/>
              <a:t>.github/workflows </a:t>
            </a:r>
            <a:r>
              <a:rPr lang="ko-KR" altLang="en-US"/>
              <a:t>디렉토리 하단 저장</a:t>
            </a:r>
            <a:endParaRPr lang="en-US" altLang="ko-KR"/>
          </a:p>
          <a:p>
            <a:pPr lvl="1"/>
            <a:r>
              <a:rPr lang="ko-KR" altLang="en-US"/>
              <a:t>파일 명명 및 구조 제약</a:t>
            </a:r>
            <a:endParaRPr lang="en-US" altLang="ko-KR"/>
          </a:p>
          <a:p>
            <a:pPr lvl="2"/>
            <a:r>
              <a:rPr lang="en-US" altLang="ko-KR"/>
              <a:t>.yml </a:t>
            </a:r>
            <a:r>
              <a:rPr lang="ko-KR" altLang="en-US"/>
              <a:t>또는 </a:t>
            </a:r>
            <a:r>
              <a:rPr lang="en-US" altLang="ko-KR"/>
              <a:t>.yaml</a:t>
            </a:r>
            <a:r>
              <a:rPr lang="ko-KR" altLang="en-US"/>
              <a:t>확장자 사용</a:t>
            </a:r>
            <a:endParaRPr lang="en-US" altLang="ko-KR"/>
          </a:p>
          <a:p>
            <a:pPr lvl="2"/>
            <a:r>
              <a:rPr lang="ko-KR" altLang="en-US"/>
              <a:t>디렉토리 및 확장자 외 임의 파일명 지정 가능</a:t>
            </a:r>
            <a:endParaRPr lang="en-US" altLang="ko-KR"/>
          </a:p>
          <a:p>
            <a:pPr lvl="2"/>
            <a:r>
              <a:rPr lang="ko-KR" altLang="en-US"/>
              <a:t>디렉토리 분할 관리 불가 및 지정된 위치 준수</a:t>
            </a:r>
          </a:p>
          <a:p>
            <a:pPr marL="685800" lvl="2" indent="0">
              <a:buNone/>
            </a:pP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CEC129-9C70-6244-2254-E6AB22220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7868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507B1-21EC-7005-4B45-BC63C1269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워크플로 구문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63B83F-5272-1E5D-E849-AAD4CA5B9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워크플로 작성 및 파일 관리</a:t>
            </a:r>
            <a:endParaRPr lang="en-US" altLang="ko-KR"/>
          </a:p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795BC9-F581-5581-E89B-10AB678E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6F03-299E-46B0-8EA8-4C9C8EE382CE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98865"/>
      </p:ext>
    </p:extLst>
  </p:cSld>
  <p:clrMapOvr>
    <a:masterClrMapping/>
  </p:clrMapOvr>
</p:sld>
</file>

<file path=ppt/theme/theme1.xml><?xml version="1.0" encoding="utf-8"?>
<a:theme xmlns:a="http://schemas.openxmlformats.org/drawingml/2006/main" name="PPT 서식(크몽)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Chapter01_소프트웨어 개발과 깃허브</Template>
  <TotalTime>619</TotalTime>
  <Words>202</Words>
  <Application>Microsoft Office PowerPoint</Application>
  <PresentationFormat>화면 슬라이드 쇼(4:3)</PresentationFormat>
  <Paragraphs>32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Verdana</vt:lpstr>
      <vt:lpstr>맑은 고딕</vt:lpstr>
      <vt:lpstr>PPT 서식(크몽)</vt:lpstr>
      <vt:lpstr>Chapter 02 깃허브 액션의 기초 개념</vt:lpstr>
      <vt:lpstr>깃허브 액션 시작</vt:lpstr>
      <vt:lpstr>워크플로 파일 개념 및 규칙</vt:lpstr>
      <vt:lpstr>워크플로 구문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YUHAN</dc:creator>
  <cp:lastModifiedBy>user1</cp:lastModifiedBy>
  <cp:revision>44</cp:revision>
  <dcterms:created xsi:type="dcterms:W3CDTF">2026-10-07T00:40:47Z</dcterms:created>
  <dcterms:modified xsi:type="dcterms:W3CDTF">2026-10-29T07:30:18Z</dcterms:modified>
</cp:coreProperties>
</file>