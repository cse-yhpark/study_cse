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9" r:id="rId12"/>
    <p:sldId id="270" r:id="rId13"/>
    <p:sldId id="267" r:id="rId14"/>
    <p:sldId id="268" r:id="rId1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415" userDrawn="1">
          <p15:clr>
            <a:srgbClr val="A4A3A4"/>
          </p15:clr>
        </p15:guide>
        <p15:guide id="3" pos="3940" userDrawn="1">
          <p15:clr>
            <a:srgbClr val="A4A3A4"/>
          </p15:clr>
        </p15:guide>
        <p15:guide id="4" pos="40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91" d="100"/>
          <a:sy n="91" d="100"/>
        </p:scale>
        <p:origin x="69" y="66"/>
      </p:cViewPr>
      <p:guideLst>
        <p:guide pos="415"/>
        <p:guide pos="3940"/>
        <p:guide pos="40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2D3C34-A87E-4E4B-944F-D1641EB450F1}" type="datetimeFigureOut">
              <a:rPr lang="ko-KR" altLang="en-US" smtClean="0"/>
              <a:t>2026-10-16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9B7B57-E826-4D9B-9022-BEDFEA26F6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025731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806991-6676-4962-AFB2-4A9B299D23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ctr">
            <a:normAutofit/>
          </a:bodyPr>
          <a:lstStyle>
            <a:lvl1pPr algn="ctr">
              <a:lnSpc>
                <a:spcPct val="150000"/>
              </a:lnSpc>
              <a:defRPr sz="4000"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520F2CB-A0FA-4CA5-B45E-8336A5BA74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lnSpc>
                <a:spcPct val="150000"/>
              </a:lnSpc>
              <a:buNone/>
              <a:defRPr sz="2400" b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클릭하여 마스터 부제목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959369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E0B0A2D-0C45-47E2-8B96-2D54EBEF4B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99" y="365125"/>
            <a:ext cx="11932800" cy="633600"/>
          </a:xfrm>
        </p:spPr>
        <p:txBody>
          <a:bodyPr>
            <a:normAutofit/>
          </a:bodyPr>
          <a:lstStyle>
            <a:lvl1pPr>
              <a:defRPr sz="2200" b="1">
                <a:solidFill>
                  <a:srgbClr val="009999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4CE1FE0-CEC0-478B-A0F0-A32622208D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600" y="1069337"/>
            <a:ext cx="11932800" cy="5216400"/>
          </a:xfrm>
        </p:spPr>
        <p:txBody>
          <a:bodyPr anchor="t"/>
          <a:lstStyle>
            <a:lvl1pPr>
              <a:lnSpc>
                <a:spcPct val="100000"/>
              </a:lnSpc>
              <a:defRPr sz="2000" b="1"/>
            </a:lvl1pPr>
            <a:lvl2pPr marL="685800" indent="-228600">
              <a:lnSpc>
                <a:spcPct val="100000"/>
              </a:lnSpc>
              <a:buFont typeface="맑은 고딕" panose="020B0503020000020004" pitchFamily="50" charset="-127"/>
              <a:buChar char="-"/>
              <a:defRPr sz="18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600"/>
            </a:lvl4pPr>
            <a:lvl5pPr>
              <a:lnSpc>
                <a:spcPct val="100000"/>
              </a:lnSpc>
              <a:defRPr sz="1600"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409A023-BB9A-4DA6-9BCC-73FE17AC98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75184"/>
            <a:ext cx="3451799" cy="365125"/>
          </a:xfrm>
        </p:spPr>
        <p:txBody>
          <a:bodyPr/>
          <a:lstStyle>
            <a:lvl1pPr>
              <a:defRPr sz="1600" b="1"/>
            </a:lvl1pPr>
          </a:lstStyle>
          <a:p>
            <a:fld id="{D9586F03-299E-46B0-8EA8-4C9C8EE382CE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32222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C4B78A-B4C1-4C6F-A3CD-60AE8849B5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0030539-FA1C-4275-B3CB-11C0439437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15946AD-F999-40D2-9E7F-FAF1899DA8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302E9B7-057E-4C81-9E4D-E9343AA4A2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E2A51C7-1646-433A-AE86-6A27D8477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86F03-299E-46B0-8EA8-4C9C8EE382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46626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708068-E4F7-441F-9045-6EBE693915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1C433B0-3BA5-44EB-9BDD-37E6D8C9EEF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6397A4B-C6D1-4B7C-B9FD-AAF7BF2EAA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2624EE5-2F0E-41C6-BFE1-787CA5FBE0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A40C223-69B6-48FE-8AA4-E55205AB2C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23A5F48-F511-4B93-ABD2-3FB6B9218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86F03-299E-46B0-8EA8-4C9C8EE382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431644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B96A722-A6FF-4A8C-AE15-58BCAE4682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4128951-94CA-4877-BF6D-5240FE2122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83B349C-3B2F-4422-931E-05637CB84E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FD3CB72-6FAE-4A17-9BB8-4B4230545B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D4783D53-449D-4FAE-8E11-17793330217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829028A-539D-4857-BD71-BAEDE1F270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4D988B9-1E33-4ACA-A45B-4CCD14BA66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3DE51894-39D5-4B0C-96E8-FCA3D3494C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86F03-299E-46B0-8EA8-4C9C8EE382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06325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33CEDD2-81A3-4CF5-B705-53F1DFE58B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CA96CC9-5DBD-4EE7-A5B3-099C916D23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CBA012D-A95C-4E1E-BEB1-4EDF6AFFC6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4167AAA-3403-4C4E-A263-CAE6BDF286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86F03-299E-46B0-8EA8-4C9C8EE382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47866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E5B87E6-18E7-4302-9CB6-440600F126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836E4A1E-4EF9-4580-8560-7C7CB35C34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88C9E3D-2D14-408F-A068-9E5FB34EED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86F03-299E-46B0-8EA8-4C9C8EE382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19860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4F4191-3D77-479E-A54F-BFC4347B76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E7A385A-2A53-4E33-9457-7E4222DF3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45C35C4-D48E-4DBD-BDFB-827BDCA026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C310002-D63E-43CD-A16A-5D7F2F85E5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B6F51CF-D28E-43C4-8411-BF10014A37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3067F34-D856-4344-AB16-DFB8DAB3D0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86F03-299E-46B0-8EA8-4C9C8EE382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73772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60C62D-88CC-45D1-90D2-FE92AE7E46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38CE9CA-6C43-47E6-9EDA-36D9774EC3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CC3D055-0ADE-4E5A-AEC9-F0165B9A10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AA139E4-0DCE-40DD-BA1E-2745704D43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E2B41C8-12AF-4F4A-AD1B-85C25F886F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F715270-A5F1-40C5-BAB9-B479B649B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86F03-299E-46B0-8EA8-4C9C8EE382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58779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20A271-2DB2-434B-8A51-2EB752DA6B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20B3412-8300-4EE4-A686-31901F6FBE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15504B3-983D-4311-BD0D-0636236BEB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F1CBA8A-4DFF-41E3-89FE-AAAF74E40F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C6CB677-5335-4EBC-9BE1-36308324B8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86F03-299E-46B0-8EA8-4C9C8EE382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69090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B37671F2-0284-4D16-BF24-A336F4D55CF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4BA91B7-2E32-43C9-BD4C-13888C726C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9D7A0D9-A7A4-4255-B899-5BFC2F1BDA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E7A4787-4159-4945-94B2-35260397ED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972410B-2346-4AA8-B69C-E787C2C14A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86F03-299E-46B0-8EA8-4C9C8EE382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38449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B1CBDF9-4A80-49B6-AFE9-BE1918EA1C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7157D7A-21E3-48A6-8BEE-D68DDF5100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1C39CFB-24BF-474E-932C-77679196E0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A211994-D31F-4873-AD1B-1F20D0D67B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B477641-FF1F-457E-B24F-E38848C72C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586F03-299E-46B0-8EA8-4C9C8EE382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79081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F84075-5402-30BD-D97B-3960434DBA7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ko-KR" sz="2000" dirty="0">
                <a:solidFill>
                  <a:srgbClr val="009999"/>
                </a:solidFill>
              </a:rPr>
              <a:t>Chapter 01</a:t>
            </a:r>
            <a:br>
              <a:rPr lang="en-US" altLang="ko-KR" sz="2600" dirty="0">
                <a:solidFill>
                  <a:srgbClr val="009999"/>
                </a:solidFill>
              </a:rPr>
            </a:br>
            <a:r>
              <a:rPr lang="ko-KR" altLang="en-US" sz="3600" dirty="0">
                <a:solidFill>
                  <a:srgbClr val="009999"/>
                </a:solidFill>
              </a:rPr>
              <a:t>리눅스</a:t>
            </a:r>
            <a:r>
              <a:rPr lang="en-US" altLang="ko-KR" sz="3600" dirty="0">
                <a:solidFill>
                  <a:srgbClr val="009999"/>
                </a:solidFill>
              </a:rPr>
              <a:t>/</a:t>
            </a:r>
            <a:r>
              <a:rPr lang="ko-KR" altLang="en-US" sz="3600" dirty="0">
                <a:solidFill>
                  <a:srgbClr val="009999"/>
                </a:solidFill>
              </a:rPr>
              <a:t>유닉스 시스템 프로그래밍의 이해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FC30788-3348-59E5-F3FB-320697F337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3255962"/>
          </a:xfrm>
        </p:spPr>
        <p:txBody>
          <a:bodyPr anchor="t" anchorCtr="0">
            <a:norm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ko-KR" altLang="en-US" sz="1800" dirty="0"/>
              <a:t>리눅스</a:t>
            </a:r>
            <a:r>
              <a:rPr lang="en-US" altLang="ko-KR" sz="1800" dirty="0"/>
              <a:t>/</a:t>
            </a:r>
            <a:r>
              <a:rPr lang="ko-KR" altLang="en-US" sz="1800" dirty="0"/>
              <a:t>유닉스 시스템 프로그래밍이란</a:t>
            </a:r>
            <a:endParaRPr lang="en-US" altLang="ko-KR" sz="1800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ko-KR" altLang="en-US" sz="1800" dirty="0"/>
              <a:t>리눅스</a:t>
            </a:r>
            <a:r>
              <a:rPr lang="en-US" altLang="ko-KR" sz="1800" dirty="0"/>
              <a:t>/</a:t>
            </a:r>
            <a:r>
              <a:rPr lang="ko-KR" altLang="en-US" sz="1800" dirty="0"/>
              <a:t>유닉스 시스템 표준</a:t>
            </a:r>
            <a:endParaRPr lang="en-US" altLang="ko-KR" sz="1800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ko-KR" altLang="en-US" sz="1800" dirty="0"/>
              <a:t>시스템 도구</a:t>
            </a:r>
          </a:p>
        </p:txBody>
      </p:sp>
    </p:spTree>
    <p:extLst>
      <p:ext uri="{BB962C8B-B14F-4D97-AF65-F5344CB8AC3E}">
        <p14:creationId xmlns:p14="http://schemas.microsoft.com/office/powerpoint/2010/main" val="38542121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58030E5-FC5A-6250-BB73-DFBAF6E5F5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리눅스</a:t>
            </a:r>
            <a:r>
              <a:rPr lang="en-US" altLang="ko-KR"/>
              <a:t>/</a:t>
            </a:r>
            <a:r>
              <a:rPr lang="ko-KR" altLang="en-US"/>
              <a:t>유닉스 시스템 프로그래밍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AD73B7D-A132-3A2D-3624-35B3CBE218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리눅스와 유닉스</a:t>
            </a:r>
            <a:endParaRPr lang="en-US" altLang="ko-KR"/>
          </a:p>
          <a:p>
            <a:pPr lvl="1"/>
            <a:r>
              <a:rPr lang="ko-KR" altLang="en-US"/>
              <a:t> 서버용 운영체제로 주로 사용</a:t>
            </a:r>
            <a:endParaRPr lang="en-US" altLang="ko-KR"/>
          </a:p>
          <a:p>
            <a:pPr lvl="1"/>
            <a:r>
              <a:rPr lang="ko-KR" altLang="en-US"/>
              <a:t>유닉스와 호환되는 리눅스는 오픈소스로 제공되는 운영체제</a:t>
            </a:r>
            <a:endParaRPr lang="en-US" altLang="ko-KR"/>
          </a:p>
          <a:p>
            <a:pPr lvl="1"/>
            <a:r>
              <a:rPr lang="ko-KR" altLang="en-US"/>
              <a:t>안정성이 높아지고 성능도 향되면서 다양한 분야에서 사용</a:t>
            </a:r>
            <a:endParaRPr lang="en-US" altLang="ko-KR"/>
          </a:p>
          <a:p>
            <a:pPr lvl="1"/>
            <a:endParaRPr lang="en-US" altLang="ko-KR"/>
          </a:p>
          <a:p>
            <a:r>
              <a:rPr lang="ko-KR" altLang="en-US"/>
              <a:t>리눅스</a:t>
            </a:r>
            <a:r>
              <a:rPr lang="en-US" altLang="ko-KR"/>
              <a:t>/</a:t>
            </a:r>
            <a:r>
              <a:rPr lang="ko-KR" altLang="en-US"/>
              <a:t>유닉스 시스템 프로그래밍</a:t>
            </a:r>
            <a:endParaRPr lang="en-US" altLang="ko-KR"/>
          </a:p>
          <a:p>
            <a:pPr lvl="1"/>
            <a:r>
              <a:rPr lang="ko-KR" altLang="en-US"/>
              <a:t>시스템에서 제공하는 시스템 호출을 이용해 프로그램을 작성하는 것</a:t>
            </a:r>
            <a:endParaRPr lang="en-US" altLang="ko-KR"/>
          </a:p>
          <a:p>
            <a:pPr lvl="1"/>
            <a:r>
              <a:rPr lang="ko-KR" altLang="en-US"/>
              <a:t>시스템 호출</a:t>
            </a:r>
            <a:endParaRPr lang="en-US" altLang="ko-KR"/>
          </a:p>
          <a:p>
            <a:pPr lvl="2"/>
            <a:r>
              <a:rPr lang="ko-KR" altLang="en-US"/>
              <a:t>시스템이 제공하는 서비스를 프로그램에서 이용할 수 있도록 지원하는 프로그래밍 인터페이스</a:t>
            </a:r>
            <a:endParaRPr lang="en-US" altLang="ko-KR"/>
          </a:p>
          <a:p>
            <a:pPr lvl="2"/>
            <a:endParaRPr lang="en-US" altLang="ko-KR"/>
          </a:p>
          <a:p>
            <a:pPr lvl="1"/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425ED50-7A26-97A7-D604-D4D94C201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86F03-299E-46B0-8EA8-4C9C8EE382CE}" type="slidenum">
              <a:rPr lang="ko-KR" altLang="en-US" smtClean="0"/>
              <a:pPr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439593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C0EBBF-41E0-B5EA-43DD-FBF7BD546F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리눅스</a:t>
            </a:r>
            <a:r>
              <a:rPr lang="en-US" altLang="ko-KR"/>
              <a:t>/</a:t>
            </a:r>
            <a:r>
              <a:rPr lang="ko-KR" altLang="en-US"/>
              <a:t>유닉스 시스템 표준 </a:t>
            </a:r>
            <a:r>
              <a:rPr lang="en-US" altLang="ko-KR"/>
              <a:t>- 1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D9BECE9-3EB8-65E4-12B7-FCF1CE725A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유닉스</a:t>
            </a:r>
            <a:endParaRPr lang="en-US" altLang="ko-KR"/>
          </a:p>
          <a:p>
            <a:pPr lvl="1"/>
            <a:r>
              <a:rPr lang="en-US" altLang="ko-KR"/>
              <a:t>1969</a:t>
            </a:r>
            <a:r>
              <a:rPr lang="ko-KR" altLang="en-US"/>
              <a:t>년 미국의 통신 회사인 </a:t>
            </a:r>
            <a:r>
              <a:rPr lang="en-US" altLang="ko-KR"/>
              <a:t>AT&amp;T </a:t>
            </a:r>
            <a:r>
              <a:rPr lang="ko-KR" altLang="en-US"/>
              <a:t>산하의 벨 연구소에서 켄톰슨과 테니스 리치가  개발한 운영체제</a:t>
            </a:r>
            <a:endParaRPr lang="en-US" altLang="ko-KR"/>
          </a:p>
          <a:p>
            <a:pPr lvl="1"/>
            <a:r>
              <a:rPr lang="ko-KR" altLang="en-US"/>
              <a:t>초기에는 어셈블리어로 개발했으나</a:t>
            </a:r>
            <a:r>
              <a:rPr lang="en-US" altLang="ko-KR"/>
              <a:t>, </a:t>
            </a:r>
            <a:r>
              <a:rPr lang="ko-KR" altLang="en-US"/>
              <a:t>데니스 리치가 개발한 </a:t>
            </a:r>
            <a:r>
              <a:rPr lang="en-US" altLang="ko-KR"/>
              <a:t>C</a:t>
            </a:r>
            <a:r>
              <a:rPr lang="ko-KR" altLang="en-US"/>
              <a:t> 언어를 사용해 </a:t>
            </a:r>
            <a:r>
              <a:rPr lang="en-US" altLang="ko-KR"/>
              <a:t>1973</a:t>
            </a:r>
            <a:r>
              <a:rPr lang="ko-KR" altLang="en-US"/>
              <a:t>년에 다시 만들면서</a:t>
            </a:r>
            <a:br>
              <a:rPr lang="en-US" altLang="ko-KR"/>
            </a:br>
            <a:r>
              <a:rPr lang="ko-KR" altLang="en-US"/>
              <a:t>고급언어로 작성된 최초의 운영체제</a:t>
            </a:r>
            <a:endParaRPr lang="en-US" altLang="ko-KR"/>
          </a:p>
          <a:p>
            <a:pPr lvl="1"/>
            <a:r>
              <a:rPr lang="ko-KR" altLang="en-US"/>
              <a:t>초기에 소스 코드가 공개되어 대학교나 기업에서 쉽게 이용할 수 있었고 이에 따라 다양한 기능 추가</a:t>
            </a:r>
            <a:endParaRPr lang="en-US" altLang="ko-KR"/>
          </a:p>
          <a:p>
            <a:pPr lvl="1"/>
            <a:r>
              <a:rPr lang="ko-KR" altLang="en-US"/>
              <a:t>이후에 </a:t>
            </a:r>
            <a:r>
              <a:rPr lang="en-US" altLang="ko-KR"/>
              <a:t>AT&amp;T</a:t>
            </a:r>
            <a:r>
              <a:rPr lang="ko-KR" altLang="en-US"/>
              <a:t>의 사용 유닉스</a:t>
            </a:r>
            <a:r>
              <a:rPr lang="en-US" altLang="ko-KR"/>
              <a:t>(SystemV)</a:t>
            </a:r>
            <a:r>
              <a:rPr lang="ko-KR" altLang="en-US"/>
              <a:t>와 버클리 대학교의 </a:t>
            </a:r>
            <a:r>
              <a:rPr lang="en-US" altLang="ko-KR"/>
              <a:t>BSE </a:t>
            </a:r>
            <a:r>
              <a:rPr lang="ko-KR" altLang="en-US"/>
              <a:t>계열로 나뉘어 각각 발전</a:t>
            </a:r>
            <a:endParaRPr lang="en-US" altLang="ko-KR"/>
          </a:p>
          <a:p>
            <a:pPr lvl="2"/>
            <a:r>
              <a:rPr lang="en-US" altLang="ko-KR"/>
              <a:t>BSD </a:t>
            </a:r>
            <a:r>
              <a:rPr lang="ko-KR" altLang="en-US"/>
              <a:t>버전은 버클리대학교 학생들이 많은 기능을 추가했는데</a:t>
            </a:r>
            <a:r>
              <a:rPr lang="en-US" altLang="ko-KR"/>
              <a:t>, </a:t>
            </a:r>
            <a:r>
              <a:rPr lang="ko-KR" altLang="en-US"/>
              <a:t>그 중 </a:t>
            </a:r>
            <a:r>
              <a:rPr lang="en-US" altLang="ko-KR"/>
              <a:t>TCP/IP </a:t>
            </a:r>
            <a:r>
              <a:rPr lang="ko-KR" altLang="en-US"/>
              <a:t>기반의 네트워크 기능을 추가</a:t>
            </a:r>
            <a:endParaRPr lang="en-US" altLang="ko-KR"/>
          </a:p>
          <a:p>
            <a:pPr lvl="1"/>
            <a:endParaRPr lang="en-US" altLang="ko-KR"/>
          </a:p>
          <a:p>
            <a:r>
              <a:rPr lang="ko-KR" altLang="en-US"/>
              <a:t>유닉스</a:t>
            </a:r>
            <a:r>
              <a:rPr lang="en-US" altLang="ko-KR"/>
              <a:t>/</a:t>
            </a:r>
            <a:r>
              <a:rPr lang="ko-KR" altLang="en-US"/>
              <a:t>리눅스 발전 과정</a:t>
            </a:r>
            <a:endParaRPr lang="en-US" altLang="ko-KR"/>
          </a:p>
          <a:p>
            <a:pPr lvl="1"/>
            <a:r>
              <a:rPr lang="en-US" altLang="ko-KR"/>
              <a:t>1991</a:t>
            </a:r>
            <a:r>
              <a:rPr lang="ko-KR" altLang="en-US"/>
              <a:t>년에 등장한 리눅스는 오픈 소스로 공개되어 지속적으로 발전</a:t>
            </a:r>
            <a:endParaRPr lang="en-US" altLang="ko-KR"/>
          </a:p>
          <a:p>
            <a:pPr lvl="1"/>
            <a:r>
              <a:rPr lang="ko-KR" altLang="en-US"/>
              <a:t>리눅스는 같은 커널을 기반으로 하는 다양한 형태의 배포판을 사용</a:t>
            </a:r>
            <a:endParaRPr lang="en-US" altLang="ko-KR"/>
          </a:p>
          <a:p>
            <a:pPr lvl="2"/>
            <a:r>
              <a:rPr lang="ko-KR" altLang="en-US"/>
              <a:t>레드햇계열의 레드햇 리눅스</a:t>
            </a:r>
            <a:r>
              <a:rPr lang="en-US" altLang="ko-KR"/>
              <a:t>, </a:t>
            </a:r>
            <a:r>
              <a:rPr lang="ko-KR" altLang="en-US"/>
              <a:t>레드햇 엔터프라이즈 리눅스</a:t>
            </a:r>
            <a:r>
              <a:rPr lang="en-US" altLang="ko-KR"/>
              <a:t>, </a:t>
            </a:r>
            <a:r>
              <a:rPr lang="ko-KR" altLang="en-US"/>
              <a:t>페도라 리눅스</a:t>
            </a:r>
            <a:r>
              <a:rPr lang="en-US" altLang="ko-KR"/>
              <a:t>, </a:t>
            </a:r>
            <a:r>
              <a:rPr lang="ko-KR" altLang="en-US"/>
              <a:t>센토</a:t>
            </a:r>
            <a:r>
              <a:rPr lang="en-US" altLang="ko-KR"/>
              <a:t>OS, </a:t>
            </a:r>
            <a:r>
              <a:rPr lang="ko-KR" altLang="en-US"/>
              <a:t>로키 리눅스</a:t>
            </a:r>
            <a:endParaRPr lang="en-US" altLang="ko-KR"/>
          </a:p>
          <a:p>
            <a:pPr lvl="2"/>
            <a:r>
              <a:rPr lang="ko-KR" altLang="en-US"/>
              <a:t>데비안계열의 우분투 리눅스</a:t>
            </a:r>
            <a:endParaRPr lang="en-US" altLang="ko-KR"/>
          </a:p>
          <a:p>
            <a:pPr lvl="2"/>
            <a:r>
              <a:rPr lang="ko-KR" altLang="en-US"/>
              <a:t>모바일 운영체제인 안드로이드는 리눅스 계열</a:t>
            </a:r>
            <a:r>
              <a:rPr lang="en-US" altLang="ko-KR"/>
              <a:t>, iOS</a:t>
            </a:r>
            <a:r>
              <a:rPr lang="ko-KR" altLang="en-US"/>
              <a:t>는 </a:t>
            </a:r>
            <a:r>
              <a:rPr lang="en-US" altLang="ko-KR"/>
              <a:t>BSD</a:t>
            </a:r>
            <a:r>
              <a:rPr lang="ko-KR" altLang="en-US"/>
              <a:t> 계열의 유닉스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8F5B65-4F25-D54A-ECC1-88E5EBC548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86F03-299E-46B0-8EA8-4C9C8EE382CE}" type="slidenum">
              <a:rPr lang="ko-KR" altLang="en-US" smtClean="0"/>
              <a:pPr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56720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D4917D-1552-CA0C-4958-0604831B66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리눅스</a:t>
            </a:r>
            <a:r>
              <a:rPr lang="en-US" altLang="ko-KR"/>
              <a:t>/</a:t>
            </a:r>
            <a:r>
              <a:rPr lang="ko-KR" altLang="en-US"/>
              <a:t>유닉스 시스템 표준 </a:t>
            </a:r>
            <a:r>
              <a:rPr lang="en-US" altLang="ko-KR"/>
              <a:t>- 2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09A03B6-64AE-8792-21BB-31D9DCEEA3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유닉스 시스템</a:t>
            </a:r>
            <a:endParaRPr lang="en-US" altLang="ko-KR"/>
          </a:p>
          <a:p>
            <a:pPr lvl="1"/>
            <a:r>
              <a:rPr lang="en-US" altLang="ko-KR"/>
              <a:t>C </a:t>
            </a:r>
            <a:r>
              <a:rPr lang="ko-KR" altLang="en-US"/>
              <a:t>언어로 작성한 프로그램의 호환성을 보장하기 위한 여러 가지 표준 존재</a:t>
            </a:r>
            <a:endParaRPr lang="en-US" altLang="ko-KR"/>
          </a:p>
          <a:p>
            <a:pPr lvl="1"/>
            <a:r>
              <a:rPr lang="ko-KR" altLang="en-US"/>
              <a:t>유닉스를 기반으로 하는 운영체제는 대체로 이렇나 표준 준수</a:t>
            </a:r>
            <a:endParaRPr lang="en-US" altLang="ko-KR"/>
          </a:p>
          <a:p>
            <a:pPr lvl="2"/>
            <a:r>
              <a:rPr lang="ko-KR" altLang="en-US"/>
              <a:t>리눅스는 그 중 </a:t>
            </a:r>
            <a:r>
              <a:rPr lang="en-US" altLang="ko-KR"/>
              <a:t>POSIX</a:t>
            </a:r>
            <a:r>
              <a:rPr lang="ko-KR" altLang="en-US"/>
              <a:t>와 단일 유닉스 규격과의 호환성을 유지하기 위해 노력</a:t>
            </a:r>
            <a:endParaRPr lang="en-US" altLang="ko-KR"/>
          </a:p>
          <a:p>
            <a:pPr lvl="2"/>
            <a:endParaRPr lang="en-US" altLang="ko-KR"/>
          </a:p>
          <a:p>
            <a:r>
              <a:rPr lang="ko-KR" altLang="en-US"/>
              <a:t>주요 표준</a:t>
            </a:r>
            <a:endParaRPr lang="en-US" altLang="ko-KR"/>
          </a:p>
          <a:p>
            <a:pPr lvl="1"/>
            <a:r>
              <a:rPr lang="en-US" altLang="ko-KR"/>
              <a:t>ANSI</a:t>
            </a:r>
          </a:p>
          <a:p>
            <a:pPr lvl="2"/>
            <a:r>
              <a:rPr lang="ko-KR" altLang="en-US"/>
              <a:t>미국 표준 협회로</a:t>
            </a:r>
            <a:r>
              <a:rPr lang="en-US" altLang="ko-KR"/>
              <a:t>, </a:t>
            </a:r>
            <a:r>
              <a:rPr lang="ko-KR" altLang="en-US"/>
              <a:t>국제적으로 영향력 있는 표준을 정하고 있음</a:t>
            </a:r>
            <a:endParaRPr lang="en-US" altLang="ko-KR"/>
          </a:p>
          <a:p>
            <a:pPr lvl="2"/>
            <a:r>
              <a:rPr lang="en-US" altLang="ko-KR"/>
              <a:t>ANSI</a:t>
            </a:r>
            <a:r>
              <a:rPr lang="ko-KR" altLang="en-US"/>
              <a:t>에서 표준화한 </a:t>
            </a:r>
            <a:r>
              <a:rPr lang="en-US" altLang="ko-KR"/>
              <a:t>C </a:t>
            </a:r>
            <a:r>
              <a:rPr lang="ko-KR" altLang="en-US"/>
              <a:t>언어 명세가 </a:t>
            </a:r>
            <a:r>
              <a:rPr lang="en-US" altLang="ko-KR"/>
              <a:t>ANSI C </a:t>
            </a:r>
            <a:r>
              <a:rPr lang="ko-KR" altLang="en-US"/>
              <a:t>표준으로</a:t>
            </a:r>
            <a:r>
              <a:rPr lang="en-US" altLang="ko-KR"/>
              <a:t>, C</a:t>
            </a:r>
            <a:r>
              <a:rPr lang="ko-KR" altLang="en-US"/>
              <a:t> 언어의 문법과 라이브러리</a:t>
            </a:r>
            <a:r>
              <a:rPr lang="en-US" altLang="ko-KR"/>
              <a:t>, </a:t>
            </a:r>
            <a:r>
              <a:rPr lang="ko-KR" altLang="en-US"/>
              <a:t>헤더 파일 등을 정의</a:t>
            </a:r>
            <a:endParaRPr lang="en-US" altLang="ko-KR"/>
          </a:p>
          <a:p>
            <a:pPr lvl="2"/>
            <a:r>
              <a:rPr lang="en-US" altLang="ko-KR"/>
              <a:t>ANSI C</a:t>
            </a:r>
            <a:r>
              <a:rPr lang="ko-KR" altLang="en-US"/>
              <a:t>는 </a:t>
            </a:r>
            <a:r>
              <a:rPr lang="en-US" altLang="ko-KR"/>
              <a:t>ANSI X3.159-1989</a:t>
            </a:r>
            <a:r>
              <a:rPr lang="ko-KR" altLang="en-US"/>
              <a:t>라는 이름으로 등록되어 있고 이를 국제 표준 기구인 </a:t>
            </a:r>
            <a:r>
              <a:rPr lang="en-US" altLang="ko-KR"/>
              <a:t>ISO</a:t>
            </a:r>
            <a:r>
              <a:rPr lang="ko-KR" altLang="en-US"/>
              <a:t>에서 받아들여</a:t>
            </a:r>
            <a:br>
              <a:rPr lang="en-US" altLang="ko-KR"/>
            </a:br>
            <a:r>
              <a:rPr lang="en-US" altLang="ko-KR"/>
              <a:t>ISO/IEC 9899:2018(C18)</a:t>
            </a:r>
            <a:r>
              <a:rPr lang="ko-KR" altLang="en-US"/>
              <a:t>로 발전</a:t>
            </a:r>
            <a:endParaRPr lang="en-US" altLang="ko-KR"/>
          </a:p>
          <a:p>
            <a:pPr lvl="1"/>
            <a:r>
              <a:rPr lang="en-US" altLang="ko-KR"/>
              <a:t>POSIX</a:t>
            </a:r>
          </a:p>
          <a:p>
            <a:pPr lvl="2"/>
            <a:r>
              <a:rPr lang="en-US" altLang="ko-KR"/>
              <a:t>POSIX</a:t>
            </a:r>
            <a:r>
              <a:rPr lang="ko-KR" altLang="en-US"/>
              <a:t>는 유닉스에 기반을 두고 있는 표준 운영체제 인터페이스</a:t>
            </a:r>
            <a:endParaRPr lang="en-US" altLang="ko-KR"/>
          </a:p>
          <a:p>
            <a:pPr lvl="2"/>
            <a:r>
              <a:rPr lang="ko-KR" altLang="en-US"/>
              <a:t>서로 다른 유닉스 시스템 사이에서 상호 이식이 가능한 응용 프로그램을 개발하기 위해 정해진 표준</a:t>
            </a:r>
            <a:endParaRPr lang="en-US" altLang="ko-KR"/>
          </a:p>
          <a:p>
            <a:pPr lvl="2"/>
            <a:r>
              <a:rPr lang="en-US" altLang="ko-KR"/>
              <a:t>POSIX</a:t>
            </a:r>
            <a:r>
              <a:rPr lang="ko-KR" altLang="en-US"/>
              <a:t>는 </a:t>
            </a:r>
            <a:r>
              <a:rPr lang="en-US" altLang="ko-KR"/>
              <a:t>IEEE</a:t>
            </a:r>
            <a:r>
              <a:rPr lang="ko-KR" altLang="en-US"/>
              <a:t>에서 정의한 규격으로</a:t>
            </a:r>
            <a:r>
              <a:rPr lang="en-US" altLang="ko-KR"/>
              <a:t>, </a:t>
            </a:r>
            <a:r>
              <a:rPr lang="ko-KR" altLang="en-US"/>
              <a:t>유닉스 시스템 공통 프로그램 인터페이스</a:t>
            </a:r>
            <a:r>
              <a:rPr lang="en-US" altLang="ko-KR"/>
              <a:t>(API)</a:t>
            </a:r>
            <a:r>
              <a:rPr lang="ko-KR" altLang="en-US"/>
              <a:t>를 정리</a:t>
            </a:r>
            <a:endParaRPr lang="en-US" altLang="ko-KR"/>
          </a:p>
          <a:p>
            <a:pPr lvl="2"/>
            <a:r>
              <a:rPr lang="ko-KR" altLang="en-US"/>
              <a:t>마지막 글자인 </a:t>
            </a:r>
            <a:r>
              <a:rPr lang="en-US" altLang="ko-KR"/>
              <a:t>‘X’</a:t>
            </a:r>
            <a:r>
              <a:rPr lang="ko-KR" altLang="en-US"/>
              <a:t>는 유닉스 호환 운영체제에 보통 </a:t>
            </a:r>
            <a:r>
              <a:rPr lang="en-US" altLang="ko-KR"/>
              <a:t>X</a:t>
            </a:r>
            <a:r>
              <a:rPr lang="ko-KR" altLang="en-US"/>
              <a:t>가 붙는 데서 유래</a:t>
            </a:r>
            <a:endParaRPr lang="en-US" altLang="ko-KR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94B8804-EB01-7014-2C51-A0C766DFFA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86F03-299E-46B0-8EA8-4C9C8EE382CE}" type="slidenum">
              <a:rPr lang="ko-KR" altLang="en-US" smtClean="0"/>
              <a:pPr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56412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907770D-2522-D99A-653E-A11B9C969A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리눅스</a:t>
            </a:r>
            <a:r>
              <a:rPr lang="en-US" altLang="ko-KR"/>
              <a:t>/</a:t>
            </a:r>
            <a:r>
              <a:rPr lang="ko-KR" altLang="en-US"/>
              <a:t>유닉스 시스템 표준 </a:t>
            </a:r>
            <a:r>
              <a:rPr lang="en-US" altLang="ko-KR"/>
              <a:t>- 3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0D8D0BC-01C3-D28B-EC11-CA321BBFE1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ko-KR" altLang="en-US"/>
              <a:t>주요 표준</a:t>
            </a:r>
            <a:endParaRPr lang="en-US" altLang="ko-KR"/>
          </a:p>
          <a:p>
            <a:pPr lvl="1"/>
            <a:r>
              <a:rPr lang="en-US" altLang="ko-KR"/>
              <a:t>POSIX.1</a:t>
            </a:r>
          </a:p>
          <a:p>
            <a:pPr lvl="2"/>
            <a:r>
              <a:rPr lang="en-US" altLang="ko-KR"/>
              <a:t>C </a:t>
            </a:r>
            <a:r>
              <a:rPr lang="ko-KR" altLang="en-US"/>
              <a:t>언어 응용 프로그래밍 인터페이스의 표준으로 파일과 디렉터리</a:t>
            </a:r>
            <a:r>
              <a:rPr lang="en-US" altLang="ko-KR"/>
              <a:t>, </a:t>
            </a:r>
            <a:r>
              <a:rPr lang="ko-KR" altLang="en-US"/>
              <a:t>프로세스 관리</a:t>
            </a:r>
            <a:r>
              <a:rPr lang="en-US" altLang="ko-KR"/>
              <a:t>, </a:t>
            </a:r>
            <a:r>
              <a:rPr lang="ko-KR" altLang="en-US"/>
              <a:t>입출력 등</a:t>
            </a:r>
            <a:br>
              <a:rPr lang="en-US" altLang="ko-KR"/>
            </a:br>
            <a:r>
              <a:rPr lang="ko-KR" altLang="en-US"/>
              <a:t>기본 서비스를 제공을 위한 인터페이스를 정의</a:t>
            </a:r>
            <a:endParaRPr lang="en-US" altLang="ko-KR"/>
          </a:p>
          <a:p>
            <a:pPr lvl="1"/>
            <a:r>
              <a:rPr lang="en-US" altLang="ko-KR"/>
              <a:t>POSIX.2</a:t>
            </a:r>
          </a:p>
          <a:p>
            <a:pPr lvl="2"/>
            <a:r>
              <a:rPr lang="ko-KR" altLang="en-US"/>
              <a:t>표준 셸과 유틸리티 프로그램 인터페이스</a:t>
            </a:r>
            <a:endParaRPr lang="en-US" altLang="ko-KR"/>
          </a:p>
          <a:p>
            <a:pPr lvl="2"/>
            <a:r>
              <a:rPr lang="en-US" altLang="ko-KR"/>
              <a:t>POSIX.1</a:t>
            </a:r>
            <a:r>
              <a:rPr lang="ko-KR" altLang="en-US"/>
              <a:t>은 </a:t>
            </a:r>
            <a:r>
              <a:rPr lang="en-US" altLang="ko-KR"/>
              <a:t>IEEE Std 1003.1</a:t>
            </a:r>
            <a:r>
              <a:rPr lang="ko-KR" altLang="en-US"/>
              <a:t>이며 </a:t>
            </a:r>
            <a:r>
              <a:rPr lang="en-US" altLang="ko-KR"/>
              <a:t>POXSIX.2</a:t>
            </a:r>
            <a:r>
              <a:rPr lang="ko-KR" altLang="en-US"/>
              <a:t>는 </a:t>
            </a:r>
            <a:r>
              <a:rPr lang="en-US" altLang="ko-KR"/>
              <a:t>IEEE Std 1003.2</a:t>
            </a:r>
          </a:p>
          <a:p>
            <a:pPr lvl="2"/>
            <a:r>
              <a:rPr lang="en-US" altLang="ko-KR"/>
              <a:t>POSIX.1</a:t>
            </a:r>
            <a:r>
              <a:rPr lang="ko-KR" altLang="en-US"/>
              <a:t>은 </a:t>
            </a:r>
            <a:r>
              <a:rPr lang="en-US" altLang="ko-KR"/>
              <a:t>ISO</a:t>
            </a:r>
            <a:r>
              <a:rPr lang="ko-KR" altLang="en-US"/>
              <a:t>와 </a:t>
            </a:r>
            <a:r>
              <a:rPr lang="en-US" altLang="ko-KR"/>
              <a:t>IEC</a:t>
            </a:r>
            <a:r>
              <a:rPr lang="ko-KR" altLang="en-US"/>
              <a:t>에서 </a:t>
            </a:r>
            <a:r>
              <a:rPr lang="en-US" altLang="ko-KR"/>
              <a:t>ISO/IEC 9945</a:t>
            </a:r>
            <a:r>
              <a:rPr lang="ko-KR" altLang="en-US"/>
              <a:t>를 표준으로 채택</a:t>
            </a:r>
            <a:endParaRPr lang="en-US" altLang="ko-KR"/>
          </a:p>
          <a:p>
            <a:pPr lvl="2"/>
            <a:r>
              <a:rPr lang="ko-KR" altLang="en-US"/>
              <a:t>가장 최신 버전은 </a:t>
            </a:r>
            <a:r>
              <a:rPr lang="en-US" altLang="ko-KR"/>
              <a:t>2017</a:t>
            </a:r>
            <a:r>
              <a:rPr lang="ko-KR" altLang="en-US"/>
              <a:t>년에 발표한 </a:t>
            </a:r>
            <a:r>
              <a:rPr lang="en-US" altLang="ko-KR"/>
              <a:t>IEEE Std 1003.2017</a:t>
            </a:r>
            <a:r>
              <a:rPr lang="ko-KR" altLang="en-US"/>
              <a:t>이며 </a:t>
            </a:r>
            <a:r>
              <a:rPr lang="en-US" altLang="ko-KR"/>
              <a:t>2021</a:t>
            </a:r>
            <a:r>
              <a:rPr lang="ko-KR" altLang="en-US"/>
              <a:t>년 현재 </a:t>
            </a:r>
            <a:r>
              <a:rPr lang="en-US" altLang="ko-KR"/>
              <a:t>IEEE Std 1003.1-202x </a:t>
            </a:r>
            <a:r>
              <a:rPr lang="ko-KR" altLang="en-US"/>
              <a:t>프로젝트 진행</a:t>
            </a:r>
            <a:endParaRPr lang="en-US" altLang="ko-KR"/>
          </a:p>
          <a:p>
            <a:pPr lvl="1"/>
            <a:r>
              <a:rPr lang="en-US" altLang="ko-KR"/>
              <a:t>X/Open </a:t>
            </a:r>
            <a:r>
              <a:rPr lang="ko-KR" altLang="en-US"/>
              <a:t>가이드</a:t>
            </a:r>
            <a:endParaRPr lang="en-US" altLang="ko-KR"/>
          </a:p>
          <a:p>
            <a:pPr lvl="2"/>
            <a:r>
              <a:rPr lang="en-US" altLang="ko-KR"/>
              <a:t>1984</a:t>
            </a:r>
            <a:r>
              <a:rPr lang="ko-KR" altLang="en-US"/>
              <a:t>년 유럽의 유닉스 시스템 제조업체를 중심으로 설립된 단체로</a:t>
            </a:r>
            <a:r>
              <a:rPr lang="en-US" altLang="ko-KR"/>
              <a:t>, </a:t>
            </a:r>
            <a:r>
              <a:rPr lang="ko-KR" altLang="en-US"/>
              <a:t>개방 시스템에 관한 표준 정의와 보급을 목적</a:t>
            </a:r>
            <a:endParaRPr lang="en-US" altLang="ko-KR"/>
          </a:p>
          <a:p>
            <a:pPr lvl="2"/>
            <a:r>
              <a:rPr lang="ko-KR" altLang="en-US"/>
              <a:t>특히 다양하게 파생되고 있는 유닉스 시스템에서 응용 프로그램의 이식성을 높이는 것이 초기 목표</a:t>
            </a:r>
            <a:endParaRPr lang="en-US" altLang="ko-KR"/>
          </a:p>
          <a:p>
            <a:pPr lvl="2"/>
            <a:r>
              <a:rPr lang="en-US" altLang="ko-KR"/>
              <a:t>X/Open(XPG)</a:t>
            </a:r>
            <a:r>
              <a:rPr lang="ko-KR" altLang="en-US"/>
              <a:t>이식성 가이드 발표</a:t>
            </a:r>
            <a:endParaRPr lang="en-US" altLang="ko-KR"/>
          </a:p>
          <a:p>
            <a:pPr lvl="3"/>
            <a:r>
              <a:rPr lang="en-US" altLang="ko-KR"/>
              <a:t>XPG</a:t>
            </a:r>
            <a:r>
              <a:rPr lang="ko-KR" altLang="en-US"/>
              <a:t>에는 운영체제 기본 인터페이스</a:t>
            </a:r>
            <a:r>
              <a:rPr lang="en-US" altLang="ko-KR"/>
              <a:t>, </a:t>
            </a:r>
            <a:r>
              <a:rPr lang="ko-KR" altLang="en-US"/>
              <a:t>국제화</a:t>
            </a:r>
            <a:r>
              <a:rPr lang="en-US" altLang="ko-KR"/>
              <a:t>, </a:t>
            </a:r>
            <a:r>
              <a:rPr lang="ko-KR" altLang="en-US"/>
              <a:t>터미널 인터페이스</a:t>
            </a:r>
            <a:r>
              <a:rPr lang="en-US" altLang="ko-KR"/>
              <a:t>. </a:t>
            </a:r>
            <a:r>
              <a:rPr lang="ko-KR" altLang="en-US"/>
              <a:t>프로세스 간 통신</a:t>
            </a:r>
            <a:r>
              <a:rPr lang="en-US" altLang="ko-KR"/>
              <a:t>, C </a:t>
            </a:r>
            <a:r>
              <a:rPr lang="ko-KR" altLang="en-US"/>
              <a:t>언어로를 포함한 </a:t>
            </a:r>
            <a:br>
              <a:rPr lang="en-US" altLang="ko-KR"/>
            </a:br>
            <a:r>
              <a:rPr lang="ko-KR" altLang="en-US"/>
              <a:t>프로그래밍 언어</a:t>
            </a:r>
            <a:r>
              <a:rPr lang="en-US" altLang="ko-KR"/>
              <a:t>, </a:t>
            </a:r>
            <a:r>
              <a:rPr lang="ko-KR" altLang="en-US"/>
              <a:t>데이터 관리 등에 관한 지침이 정의 되어 있음</a:t>
            </a:r>
            <a:endParaRPr lang="en-US" altLang="ko-KR"/>
          </a:p>
          <a:p>
            <a:pPr lvl="3"/>
            <a:r>
              <a:rPr lang="en-US" altLang="ko-KR"/>
              <a:t>1988</a:t>
            </a:r>
            <a:r>
              <a:rPr lang="ko-KR" altLang="en-US"/>
              <a:t>년에 발표한 </a:t>
            </a:r>
            <a:r>
              <a:rPr lang="en-US" altLang="ko-KR"/>
              <a:t>XPG3</a:t>
            </a:r>
            <a:r>
              <a:rPr lang="ko-KR" altLang="en-US"/>
              <a:t>에서는 </a:t>
            </a:r>
            <a:r>
              <a:rPr lang="en-US" altLang="ko-KR"/>
              <a:t>POSIX </a:t>
            </a:r>
            <a:r>
              <a:rPr lang="ko-KR" altLang="en-US"/>
              <a:t>표준을 통합했고</a:t>
            </a:r>
            <a:r>
              <a:rPr lang="en-US" altLang="ko-KR"/>
              <a:t>, XPG</a:t>
            </a:r>
            <a:r>
              <a:rPr lang="ko-KR" altLang="en-US"/>
              <a:t>의 최종 버전인 </a:t>
            </a:r>
            <a:r>
              <a:rPr lang="en-US" altLang="ko-KR"/>
              <a:t>XPG4</a:t>
            </a:r>
            <a:r>
              <a:rPr lang="ko-KR" altLang="en-US"/>
              <a:t>는 </a:t>
            </a:r>
            <a:r>
              <a:rPr lang="en-US" altLang="ko-KR"/>
              <a:t>1992</a:t>
            </a:r>
            <a:r>
              <a:rPr lang="ko-KR" altLang="en-US"/>
              <a:t>년 발표</a:t>
            </a:r>
            <a:endParaRPr lang="en-US" altLang="ko-KR"/>
          </a:p>
          <a:p>
            <a:pPr lvl="3"/>
            <a:r>
              <a:rPr lang="en-US" altLang="ko-KR"/>
              <a:t>X/Open</a:t>
            </a:r>
            <a:r>
              <a:rPr lang="ko-KR" altLang="en-US"/>
              <a:t>은 </a:t>
            </a:r>
            <a:r>
              <a:rPr lang="en-US" altLang="ko-KR"/>
              <a:t>1996</a:t>
            </a:r>
            <a:r>
              <a:rPr lang="ko-KR" altLang="en-US"/>
              <a:t>년에 오픈 소프트웨어 재단과 합병해 오픈 그룹으로 새 출발</a:t>
            </a:r>
            <a:r>
              <a:rPr lang="en-US" altLang="ko-KR"/>
              <a:t>, </a:t>
            </a:r>
            <a:r>
              <a:rPr lang="ko-KR" altLang="en-US"/>
              <a:t>이를 </a:t>
            </a:r>
            <a:r>
              <a:rPr lang="en-US" altLang="ko-KR"/>
              <a:t>UNIX® </a:t>
            </a:r>
            <a:r>
              <a:rPr lang="ko-KR" altLang="en-US"/>
              <a:t>상표권을 가짐</a:t>
            </a:r>
            <a:endParaRPr lang="en-US" altLang="ko-KR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342255D-81F2-5E72-447E-D2DE491670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86F03-299E-46B0-8EA8-4C9C8EE382CE}" type="slidenum">
              <a:rPr lang="ko-KR" altLang="en-US" smtClean="0"/>
              <a:pPr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37122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FDFFACA-6F6F-9455-CE9C-FBBF2FCF41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리눅스</a:t>
            </a:r>
            <a:r>
              <a:rPr lang="en-US" altLang="ko-KR"/>
              <a:t>/</a:t>
            </a:r>
            <a:r>
              <a:rPr lang="ko-KR" altLang="en-US"/>
              <a:t>유닉스 시스템 표준 </a:t>
            </a:r>
            <a:r>
              <a:rPr lang="en-US" altLang="ko-KR"/>
              <a:t>- 4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B0DE6F3-89C5-C235-4099-67A651FCC1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단일 유닉스 명세</a:t>
            </a:r>
            <a:endParaRPr lang="en-US" altLang="ko-KR"/>
          </a:p>
          <a:p>
            <a:pPr lvl="1"/>
            <a:r>
              <a:rPr lang="ko-KR" altLang="en-US"/>
              <a:t>단일 유닉스 명세</a:t>
            </a:r>
            <a:r>
              <a:rPr lang="en-US" altLang="ko-KR"/>
              <a:t>(SUS)</a:t>
            </a:r>
            <a:r>
              <a:rPr lang="ko-KR" altLang="en-US"/>
              <a:t>는 운영체제가 유닉스라는 이름을 사용하기 위해 지켜야 하는 표준의 총칭</a:t>
            </a:r>
            <a:endParaRPr lang="en-US" altLang="ko-KR"/>
          </a:p>
          <a:p>
            <a:pPr lvl="1"/>
            <a:r>
              <a:rPr lang="en-US" altLang="ko-KR"/>
              <a:t>SUS</a:t>
            </a:r>
            <a:r>
              <a:rPr lang="ko-KR" altLang="en-US"/>
              <a:t>는 </a:t>
            </a:r>
            <a:r>
              <a:rPr lang="en-US" altLang="ko-KR"/>
              <a:t>IEEE, ISO(TJC</a:t>
            </a:r>
            <a:r>
              <a:rPr lang="ko-KR" altLang="en-US"/>
              <a:t> </a:t>
            </a:r>
            <a:r>
              <a:rPr lang="en-US" altLang="ko-KR"/>
              <a:t>1</a:t>
            </a:r>
            <a:r>
              <a:rPr lang="ko-KR" altLang="en-US"/>
              <a:t> </a:t>
            </a:r>
            <a:r>
              <a:rPr lang="en-US" altLang="ko-KR"/>
              <a:t>SC22),</a:t>
            </a:r>
            <a:r>
              <a:rPr lang="ko-KR" altLang="en-US"/>
              <a:t> 오픈 그룹의 표준화 작업 결과물에 바탕을 두고 있으며 </a:t>
            </a:r>
            <a:br>
              <a:rPr lang="en-US" altLang="ko-KR"/>
            </a:br>
            <a:r>
              <a:rPr lang="ko-KR" altLang="en-US"/>
              <a:t>오스틴 그룹이 개발 및 유지〮관리를 담당</a:t>
            </a:r>
            <a:endParaRPr lang="en-US" altLang="ko-KR"/>
          </a:p>
          <a:p>
            <a:pPr lvl="1"/>
            <a:r>
              <a:rPr lang="en-US" altLang="ko-KR"/>
              <a:t>SUS</a:t>
            </a:r>
            <a:r>
              <a:rPr lang="ko-KR" altLang="en-US"/>
              <a:t>는 </a:t>
            </a:r>
            <a:r>
              <a:rPr lang="en-US" altLang="ko-KR"/>
              <a:t>1980</a:t>
            </a:r>
            <a:r>
              <a:rPr lang="ko-KR" altLang="en-US"/>
              <a:t>년대 중반부터 유닉스의 시스템 인터페이스를 표준화하기 위한 프로젝트로 출발</a:t>
            </a:r>
            <a:endParaRPr lang="en-US" altLang="ko-KR"/>
          </a:p>
          <a:p>
            <a:pPr lvl="1"/>
            <a:r>
              <a:rPr lang="en-US" altLang="ko-KR"/>
              <a:t>1995</a:t>
            </a:r>
            <a:r>
              <a:rPr lang="ko-KR" altLang="en-US"/>
              <a:t>년에 오픈 그룹이 </a:t>
            </a:r>
            <a:r>
              <a:rPr lang="en-US" altLang="ko-KR"/>
              <a:t>SUSv1</a:t>
            </a:r>
            <a:r>
              <a:rPr lang="ko-KR" altLang="en-US"/>
              <a:t>을 발표했으며</a:t>
            </a:r>
            <a:r>
              <a:rPr lang="en-US" altLang="ko-KR"/>
              <a:t>, 2002</a:t>
            </a:r>
            <a:r>
              <a:rPr lang="ko-KR" altLang="en-US"/>
              <a:t>년 </a:t>
            </a:r>
            <a:r>
              <a:rPr lang="en-US" altLang="ko-KR"/>
              <a:t>1</a:t>
            </a:r>
            <a:r>
              <a:rPr lang="ko-KR" altLang="en-US"/>
              <a:t>월에는 오스틴 그룹이 이전의 여러 표준을 통합한</a:t>
            </a:r>
            <a:br>
              <a:rPr lang="en-US" altLang="ko-KR"/>
            </a:br>
            <a:r>
              <a:rPr lang="en-US" altLang="ko-KR"/>
              <a:t>SUSv3</a:t>
            </a:r>
            <a:r>
              <a:rPr lang="ko-KR" altLang="en-US"/>
              <a:t>을 발표</a:t>
            </a:r>
            <a:endParaRPr lang="en-US" altLang="ko-KR"/>
          </a:p>
          <a:p>
            <a:pPr lvl="1"/>
            <a:r>
              <a:rPr lang="en-US" altLang="ko-KR"/>
              <a:t>2018</a:t>
            </a:r>
            <a:r>
              <a:rPr lang="ko-KR" altLang="en-US"/>
              <a:t>년에는 </a:t>
            </a:r>
            <a:r>
              <a:rPr lang="en-US" altLang="ko-KR"/>
              <a:t>SUSv4-2018</a:t>
            </a:r>
            <a:r>
              <a:rPr lang="ko-KR" altLang="en-US"/>
              <a:t>을 발표</a:t>
            </a:r>
            <a:endParaRPr lang="en-US" altLang="ko-KR"/>
          </a:p>
          <a:p>
            <a:pPr lvl="1"/>
            <a:endParaRPr lang="en-US" altLang="ko-KR"/>
          </a:p>
          <a:p>
            <a:r>
              <a:rPr lang="ko-KR" altLang="en-US"/>
              <a:t>시스템 </a:t>
            </a:r>
            <a:r>
              <a:rPr lang="en-US" altLang="ko-KR"/>
              <a:t>V </a:t>
            </a:r>
            <a:r>
              <a:rPr lang="ko-KR" altLang="en-US"/>
              <a:t>인터페이스 정의</a:t>
            </a:r>
            <a:endParaRPr lang="en-US" altLang="ko-KR"/>
          </a:p>
          <a:p>
            <a:pPr lvl="1"/>
            <a:r>
              <a:rPr lang="en-US" altLang="ko-KR"/>
              <a:t>AT&amp;T </a:t>
            </a:r>
            <a:r>
              <a:rPr lang="ko-KR" altLang="en-US"/>
              <a:t>유닉스 시스템 </a:t>
            </a:r>
            <a:r>
              <a:rPr lang="en-US" altLang="ko-KR"/>
              <a:t>V</a:t>
            </a:r>
            <a:r>
              <a:rPr lang="ko-KR" altLang="en-US"/>
              <a:t>의 인터페이스를 정의하는 </a:t>
            </a:r>
            <a:r>
              <a:rPr lang="en-US" altLang="ko-KR"/>
              <a:t>SVID</a:t>
            </a:r>
            <a:r>
              <a:rPr lang="ko-KR" altLang="en-US"/>
              <a:t>는 프로그램과 장치에서 이용할 수 있는 </a:t>
            </a:r>
            <a:br>
              <a:rPr lang="en-US" altLang="ko-KR"/>
            </a:br>
            <a:r>
              <a:rPr lang="ko-KR" altLang="en-US"/>
              <a:t>시스템 호추롸 </a:t>
            </a:r>
            <a:r>
              <a:rPr lang="en-US" altLang="ko-KR"/>
              <a:t>C </a:t>
            </a:r>
            <a:r>
              <a:rPr lang="ko-KR" altLang="en-US"/>
              <a:t>라이브러리에 간한 표준을 포함</a:t>
            </a:r>
            <a:endParaRPr lang="en-US" altLang="ko-KR"/>
          </a:p>
          <a:p>
            <a:pPr lvl="1"/>
            <a:r>
              <a:rPr lang="en-US" altLang="ko-KR"/>
              <a:t>POSIX</a:t>
            </a:r>
            <a:r>
              <a:rPr lang="ko-KR" altLang="en-US"/>
              <a:t>나 </a:t>
            </a:r>
            <a:r>
              <a:rPr lang="en-US" altLang="ko-KR"/>
              <a:t>X/Open </a:t>
            </a:r>
            <a:r>
              <a:rPr lang="ko-KR" altLang="en-US"/>
              <a:t>작업은 부분적으로 </a:t>
            </a:r>
            <a:r>
              <a:rPr lang="en-US" altLang="ko-KR"/>
              <a:t>SVID</a:t>
            </a:r>
            <a:r>
              <a:rPr lang="ko-KR" altLang="en-US"/>
              <a:t>에 기반을 두고 있음</a:t>
            </a:r>
            <a:endParaRPr lang="en-US" altLang="ko-KR"/>
          </a:p>
          <a:p>
            <a:pPr lvl="1"/>
            <a:r>
              <a:rPr lang="en-US" altLang="ko-KR"/>
              <a:t>1995</a:t>
            </a:r>
            <a:r>
              <a:rPr lang="ko-KR" altLang="en-US"/>
              <a:t>년 발표된 </a:t>
            </a:r>
            <a:r>
              <a:rPr lang="en-US" altLang="ko-KR"/>
              <a:t>SVID </a:t>
            </a:r>
            <a:r>
              <a:rPr lang="ko-KR" altLang="en-US"/>
              <a:t>버전 </a:t>
            </a:r>
            <a:r>
              <a:rPr lang="en-US" altLang="ko-KR"/>
              <a:t>4</a:t>
            </a:r>
            <a:r>
              <a:rPr lang="ko-KR" altLang="en-US"/>
              <a:t>는 </a:t>
            </a:r>
            <a:r>
              <a:rPr lang="en-US" altLang="ko-KR"/>
              <a:t>XPG4 </a:t>
            </a:r>
            <a:r>
              <a:rPr lang="ko-KR" altLang="en-US"/>
              <a:t>및 </a:t>
            </a:r>
            <a:r>
              <a:rPr lang="en-US" altLang="ko-KR"/>
              <a:t>POSIX 1003.1-1990</a:t>
            </a:r>
            <a:r>
              <a:rPr lang="ko-KR" altLang="en-US"/>
              <a:t>과 호환성을 유지</a:t>
            </a:r>
            <a:endParaRPr lang="en-US" altLang="ko-KR"/>
          </a:p>
          <a:p>
            <a:pPr lvl="1"/>
            <a:r>
              <a:rPr lang="en-US" altLang="ko-KR"/>
              <a:t>SVID</a:t>
            </a:r>
            <a:r>
              <a:rPr lang="ko-KR" altLang="en-US"/>
              <a:t>와 단일 유닉스 명세에 포함되면서 중요도가 떨어짐</a:t>
            </a:r>
            <a:endParaRPr lang="en-US" altLang="ko-KR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03E8110-8E17-045E-E3BE-2637347FE0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86F03-299E-46B0-8EA8-4C9C8EE382CE}" type="slidenum">
              <a:rPr lang="ko-KR" altLang="en-US" smtClean="0"/>
              <a:pPr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12444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59A3437-F4BC-0376-F63E-166C531E0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시스템 프로그래밍 </a:t>
            </a:r>
            <a:r>
              <a:rPr lang="en-US" altLang="ko-KR"/>
              <a:t>- 1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B90A91C-3FA1-0133-3E45-D0B7C6F3B7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시스템 프로그래밍의 개요</a:t>
            </a:r>
            <a:endParaRPr lang="en-US" altLang="ko-KR"/>
          </a:p>
          <a:p>
            <a:pPr lvl="1"/>
            <a:r>
              <a:rPr lang="ko-KR" altLang="en-US"/>
              <a:t>일반적인 응용 프로그래밍과 달리 시스템에서 제공하는 시스템 호출</a:t>
            </a:r>
            <a:r>
              <a:rPr lang="en-US" altLang="ko-KR"/>
              <a:t>(</a:t>
            </a:r>
            <a:r>
              <a:rPr lang="ko-KR" altLang="en-US"/>
              <a:t>시스템 함수</a:t>
            </a:r>
            <a:r>
              <a:rPr lang="en-US" altLang="ko-KR"/>
              <a:t>)</a:t>
            </a:r>
            <a:r>
              <a:rPr lang="ko-KR" altLang="en-US"/>
              <a:t>를 사용해 </a:t>
            </a:r>
            <a:br>
              <a:rPr lang="en-US" altLang="ko-KR"/>
            </a:br>
            <a:r>
              <a:rPr lang="ko-KR" altLang="en-US"/>
              <a:t>프로그램을 작성하는 것을 말 함</a:t>
            </a:r>
            <a:endParaRPr lang="en-US" altLang="ko-KR"/>
          </a:p>
          <a:p>
            <a:pPr lvl="1"/>
            <a:r>
              <a:rPr lang="en-US" altLang="ko-KR"/>
              <a:t>C</a:t>
            </a:r>
            <a:r>
              <a:rPr lang="ko-KR" altLang="en-US"/>
              <a:t> 언어를 사용하면 제어문이나 자료형</a:t>
            </a:r>
            <a:r>
              <a:rPr lang="en-US" altLang="ko-KR"/>
              <a:t>, </a:t>
            </a:r>
            <a:r>
              <a:rPr lang="ko-KR" altLang="en-US"/>
              <a:t>배열</a:t>
            </a:r>
            <a:r>
              <a:rPr lang="en-US" altLang="ko-KR"/>
              <a:t>, </a:t>
            </a:r>
            <a:r>
              <a:rPr lang="ko-KR" altLang="en-US"/>
              <a:t>구조체</a:t>
            </a:r>
            <a:r>
              <a:rPr lang="en-US" altLang="ko-KR"/>
              <a:t>, </a:t>
            </a:r>
            <a:r>
              <a:rPr lang="ko-KR" altLang="en-US"/>
              <a:t>포인터 같은 기본 구문으로도 여러 응용 프로그램 작성 가능</a:t>
            </a:r>
            <a:endParaRPr lang="en-US" altLang="ko-KR"/>
          </a:p>
          <a:p>
            <a:pPr lvl="1"/>
            <a:r>
              <a:rPr lang="ko-KR" altLang="en-US"/>
              <a:t>많은 경우 쉽게 사용할 수 있는 혀앹로 제공되는 상위 레벨 함수로 프로그래밍 함</a:t>
            </a:r>
            <a:endParaRPr lang="en-US" altLang="ko-KR"/>
          </a:p>
          <a:p>
            <a:pPr lvl="2"/>
            <a:r>
              <a:rPr lang="ko-KR" altLang="en-US"/>
              <a:t>대부분 리눅스 시스템에서 제공하는 시스템 호출 서비를 직접 사용하지 못 함</a:t>
            </a:r>
            <a:endParaRPr lang="en-US" altLang="ko-KR"/>
          </a:p>
          <a:p>
            <a:pPr lvl="1"/>
            <a:endParaRPr lang="en-US" altLang="ko-KR"/>
          </a:p>
          <a:p>
            <a:endParaRPr lang="en-US" altLang="ko-KR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BEB6BA9-F79F-4AB6-EB37-F4F9C16903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86F03-299E-46B0-8EA8-4C9C8EE382CE}" type="slidenum">
              <a:rPr lang="ko-KR" altLang="en-US" smtClean="0"/>
              <a:pPr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42658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54C827-414D-538C-FEEC-CA989BC07C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7F9A1C-2E90-B51E-CED5-A12E8C9B69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시스템 프로그래밍 </a:t>
            </a:r>
            <a:r>
              <a:rPr lang="en-US" altLang="ko-KR" dirty="0"/>
              <a:t>- 2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D776C3B-28F9-17DA-9C54-1B01E622F4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시스템 </a:t>
            </a:r>
            <a:r>
              <a:rPr lang="ko-KR" altLang="en-US" dirty="0" err="1"/>
              <a:t>호풀과</a:t>
            </a:r>
            <a:r>
              <a:rPr lang="ko-KR" altLang="en-US" dirty="0"/>
              <a:t> 라이브러리 함수</a:t>
            </a:r>
            <a:endParaRPr lang="en-US" altLang="ko-KR" dirty="0"/>
          </a:p>
          <a:p>
            <a:pPr lvl="1"/>
            <a:r>
              <a:rPr lang="ko-KR" altLang="en-US" dirty="0"/>
              <a:t>리눅스 시스템은 파일 시스템 접근</a:t>
            </a:r>
            <a:r>
              <a:rPr lang="en-US" altLang="ko-KR" dirty="0"/>
              <a:t>, </a:t>
            </a:r>
            <a:r>
              <a:rPr lang="ko-KR" altLang="en-US" dirty="0"/>
              <a:t>사용자 정보</a:t>
            </a:r>
            <a:r>
              <a:rPr lang="en-US" altLang="ko-KR" dirty="0"/>
              <a:t>, </a:t>
            </a:r>
            <a:r>
              <a:rPr lang="ko-KR" altLang="en-US" dirty="0"/>
              <a:t>시스템 시간 정보</a:t>
            </a:r>
            <a:r>
              <a:rPr lang="en-US" altLang="ko-KR" dirty="0"/>
              <a:t>, </a:t>
            </a:r>
            <a:r>
              <a:rPr lang="ko-KR" altLang="en-US" dirty="0"/>
              <a:t>네트워킹 등 다양한 서비스 제공</a:t>
            </a:r>
            <a:endParaRPr lang="en-US" altLang="ko-KR" dirty="0"/>
          </a:p>
          <a:p>
            <a:pPr lvl="1"/>
            <a:r>
              <a:rPr lang="ko-KR" altLang="en-US" dirty="0"/>
              <a:t>서비스를 이용해 프로그램을 구현할 수 있도록 제공되는 프로그래밍 인터페이스를 시스템 호출이라 함</a:t>
            </a:r>
            <a:endParaRPr lang="en-US" altLang="ko-KR" dirty="0"/>
          </a:p>
          <a:p>
            <a:pPr lvl="1"/>
            <a:r>
              <a:rPr lang="ko-KR" altLang="en-US" dirty="0"/>
              <a:t>시스템 호출을 사용하면 리눅스 시스템 서비스를 직접 이용하는 프로그램을 작성 가능</a:t>
            </a:r>
            <a:endParaRPr lang="en-US" altLang="ko-KR" dirty="0"/>
          </a:p>
          <a:p>
            <a:pPr lvl="2"/>
            <a:endParaRPr lang="en-US" altLang="ko-KR" dirty="0"/>
          </a:p>
          <a:p>
            <a:r>
              <a:rPr lang="ko-KR" altLang="en-US" dirty="0"/>
              <a:t>시스템 호출</a:t>
            </a:r>
            <a:endParaRPr lang="en-US" altLang="ko-KR" dirty="0"/>
          </a:p>
          <a:p>
            <a:pPr lvl="1" indent="-238125"/>
            <a:endParaRPr lang="en-US" altLang="ko-KR" dirty="0"/>
          </a:p>
          <a:p>
            <a:pPr lvl="1" indent="-238125"/>
            <a:endParaRPr lang="en-US" altLang="ko-KR" dirty="0"/>
          </a:p>
          <a:p>
            <a:pPr marL="447675" lvl="1" indent="0">
              <a:buNone/>
            </a:pPr>
            <a:endParaRPr lang="en-US" altLang="ko-KR" dirty="0"/>
          </a:p>
          <a:p>
            <a:pPr lvl="1" indent="-238125"/>
            <a:r>
              <a:rPr lang="ko-KR" altLang="en-US" dirty="0"/>
              <a:t>시스템 호출은 프로그래밍 인터페이스로</a:t>
            </a:r>
            <a:r>
              <a:rPr lang="en-US" altLang="ko-KR" dirty="0"/>
              <a:t>, </a:t>
            </a:r>
            <a:r>
              <a:rPr lang="ko-KR" altLang="en-US" dirty="0"/>
              <a:t>기본 형식은 </a:t>
            </a:r>
            <a:r>
              <a:rPr lang="en-US" altLang="ko-KR" dirty="0"/>
              <a:t>C </a:t>
            </a:r>
            <a:r>
              <a:rPr lang="ko-KR" altLang="en-US" dirty="0"/>
              <a:t>언어의 함수와 같음</a:t>
            </a:r>
            <a:endParaRPr lang="en-US" altLang="ko-KR" dirty="0"/>
          </a:p>
          <a:p>
            <a:pPr lvl="1" indent="-238125"/>
            <a:r>
              <a:rPr lang="ko-KR" altLang="en-US" dirty="0"/>
              <a:t>시스템 호출명은 함수 명처럼 사용할 이름이 정의되어 있음</a:t>
            </a:r>
            <a:endParaRPr lang="en-US" altLang="ko-KR" dirty="0"/>
          </a:p>
          <a:p>
            <a:pPr lvl="1"/>
            <a:r>
              <a:rPr lang="ko-KR" altLang="en-US" dirty="0"/>
              <a:t>시스템 호출의 종류에 따라 인자는 있을 수도 있고 없을 수도 있음</a:t>
            </a:r>
            <a:endParaRPr lang="en-US" altLang="ko-KR" dirty="0"/>
          </a:p>
          <a:p>
            <a:pPr lvl="1"/>
            <a:r>
              <a:rPr lang="ko-KR" altLang="en-US" dirty="0"/>
              <a:t>시스템 호출은 결과값을 </a:t>
            </a:r>
            <a:r>
              <a:rPr lang="ko-KR" altLang="en-US" dirty="0" err="1"/>
              <a:t>리턴하는</a:t>
            </a:r>
            <a:r>
              <a:rPr lang="ko-KR" altLang="en-US" dirty="0"/>
              <a:t> 경우도 있지만 대부분은 시스템 호출의 성공이나 실패를 알려주는 </a:t>
            </a:r>
            <a:br>
              <a:rPr lang="en-US" altLang="ko-KR" dirty="0"/>
            </a:br>
            <a:r>
              <a:rPr lang="ko-KR" altLang="en-US" dirty="0" err="1"/>
              <a:t>정숫값을</a:t>
            </a:r>
            <a:r>
              <a:rPr lang="ko-KR" altLang="en-US" dirty="0"/>
              <a:t> 리턴</a:t>
            </a: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0F53F61-BD94-48EC-088D-4B1EE61A1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86F03-299E-46B0-8EA8-4C9C8EE382CE}" type="slidenum">
              <a:rPr lang="ko-KR" altLang="en-US" smtClean="0"/>
              <a:pPr/>
              <a:t>8</a:t>
            </a:fld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89BA4703-2268-3D8F-CDC8-CA6CD738E5F2}"/>
              </a:ext>
            </a:extLst>
          </p:cNvPr>
          <p:cNvSpPr/>
          <p:nvPr/>
        </p:nvSpPr>
        <p:spPr>
          <a:xfrm>
            <a:off x="658813" y="3378737"/>
            <a:ext cx="7471495" cy="597600"/>
          </a:xfrm>
          <a:prstGeom prst="rect">
            <a:avLst/>
          </a:prstGeom>
          <a:ln w="19050">
            <a:solidFill>
              <a:srgbClr val="009999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ko-KR" altLang="en-US" b="1" dirty="0" err="1"/>
              <a:t>리턴값</a:t>
            </a:r>
            <a:r>
              <a:rPr lang="ko-KR" altLang="en-US" b="1" dirty="0"/>
              <a:t> </a:t>
            </a:r>
            <a:r>
              <a:rPr lang="en-US" altLang="ko-KR" b="1" dirty="0"/>
              <a:t>= </a:t>
            </a:r>
            <a:r>
              <a:rPr lang="ko-KR" altLang="en-US" b="1" dirty="0"/>
              <a:t>시스템 </a:t>
            </a:r>
            <a:r>
              <a:rPr lang="ko-KR" altLang="en-US" b="1" dirty="0" err="1"/>
              <a:t>호출명</a:t>
            </a:r>
            <a:r>
              <a:rPr lang="en-US" altLang="ko-KR" b="1" dirty="0"/>
              <a:t>(</a:t>
            </a:r>
            <a:r>
              <a:rPr lang="ko-KR" altLang="en-US" b="1" dirty="0"/>
              <a:t>인자</a:t>
            </a:r>
            <a:r>
              <a:rPr lang="en-US" altLang="ko-KR" b="1" dirty="0"/>
              <a:t>, ···)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1856174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891144-C49E-03AD-6760-B876A63C3F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시스템 프로그래밍 </a:t>
            </a:r>
            <a:r>
              <a:rPr lang="en-US" altLang="ko-KR"/>
              <a:t>- 3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E92ABD8-4C60-E1E3-BD64-824DDBEDD8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라이브러리 함수</a:t>
            </a:r>
            <a:endParaRPr lang="en-US" altLang="ko-KR" dirty="0"/>
          </a:p>
          <a:p>
            <a:pPr lvl="1"/>
            <a:r>
              <a:rPr lang="ko-KR" altLang="en-US" dirty="0"/>
              <a:t>미리 컴파일 된 함수를 묶어서 제공하는 특수한 형태의 파일</a:t>
            </a:r>
            <a:endParaRPr lang="en-US" altLang="ko-KR" dirty="0"/>
          </a:p>
          <a:p>
            <a:pPr lvl="2"/>
            <a:r>
              <a:rPr lang="en-US" altLang="ko-KR" dirty="0"/>
              <a:t>C </a:t>
            </a:r>
            <a:r>
              <a:rPr lang="ko-KR" altLang="en-US" dirty="0"/>
              <a:t>언어는 데이터 입출력</a:t>
            </a:r>
            <a:r>
              <a:rPr lang="en-US" altLang="ko-KR" dirty="0"/>
              <a:t>, </a:t>
            </a:r>
            <a:r>
              <a:rPr lang="ko-KR" altLang="en-US" dirty="0"/>
              <a:t>수학 공식</a:t>
            </a:r>
            <a:r>
              <a:rPr lang="en-US" altLang="ko-KR" dirty="0"/>
              <a:t>, </a:t>
            </a:r>
            <a:r>
              <a:rPr lang="ko-KR" altLang="en-US" dirty="0"/>
              <a:t>문자열 처리 등 응용 프로그램 개발에 필요한 함수를 유형별로 </a:t>
            </a:r>
            <a:br>
              <a:rPr lang="en-US" altLang="ko-KR" dirty="0"/>
            </a:br>
            <a:r>
              <a:rPr lang="ko-KR" altLang="en-US" dirty="0"/>
              <a:t>분류해 라이브러리로 제공</a:t>
            </a:r>
            <a:endParaRPr lang="en-US" altLang="ko-KR" dirty="0"/>
          </a:p>
          <a:p>
            <a:pPr lvl="1"/>
            <a:r>
              <a:rPr lang="ko-KR" altLang="en-US" dirty="0"/>
              <a:t>라이브러리 함수는 라이브러리에 포함된 함수를 의미</a:t>
            </a:r>
            <a:endParaRPr lang="en-US" altLang="ko-KR" dirty="0"/>
          </a:p>
          <a:p>
            <a:pPr lvl="2"/>
            <a:r>
              <a:rPr lang="ko-KR" altLang="en-US" dirty="0"/>
              <a:t>함수를 묶어서 라이브러리로 만드는 이유는 자주 사용하는 기능을 독립적으로 구현해 둠으로써 </a:t>
            </a:r>
            <a:br>
              <a:rPr lang="en-US" altLang="ko-KR" dirty="0"/>
            </a:br>
            <a:r>
              <a:rPr lang="ko-KR" altLang="en-US" dirty="0"/>
              <a:t>프로그램 개발과 디버깅을 쉽게 하고 컴파일을 빠르게 할 수 있음</a:t>
            </a:r>
            <a:endParaRPr lang="en-US" altLang="ko-KR" dirty="0"/>
          </a:p>
          <a:p>
            <a:pPr lvl="1"/>
            <a:r>
              <a:rPr lang="ko-KR" altLang="en-US" dirty="0"/>
              <a:t>리눅스 시스템에서 라이브러리는 보통 </a:t>
            </a:r>
            <a:r>
              <a:rPr lang="en-US" altLang="ko-KR" dirty="0"/>
              <a:t>/</a:t>
            </a:r>
            <a:r>
              <a:rPr lang="en-US" altLang="ko-KR" dirty="0" err="1"/>
              <a:t>usr</a:t>
            </a:r>
            <a:r>
              <a:rPr lang="en-US" altLang="ko-KR" dirty="0"/>
              <a:t>/lib</a:t>
            </a:r>
            <a:r>
              <a:rPr lang="ko-KR" altLang="en-US" dirty="0"/>
              <a:t>에 위치</a:t>
            </a:r>
            <a:endParaRPr lang="en-US" altLang="ko-KR" dirty="0"/>
          </a:p>
          <a:p>
            <a:pPr lvl="2"/>
            <a:r>
              <a:rPr lang="ko-KR" altLang="en-US" dirty="0"/>
              <a:t>대부분의 리눅스 시스템에서 </a:t>
            </a:r>
            <a:r>
              <a:rPr lang="en-US" altLang="ko-KR" dirty="0"/>
              <a:t>/lib</a:t>
            </a:r>
            <a:r>
              <a:rPr lang="ko-KR" altLang="en-US" dirty="0"/>
              <a:t>는 </a:t>
            </a:r>
            <a:r>
              <a:rPr lang="en-US" altLang="ko-KR" dirty="0"/>
              <a:t>/</a:t>
            </a:r>
            <a:r>
              <a:rPr lang="en-US" altLang="ko-KR" dirty="0" err="1"/>
              <a:t>usr</a:t>
            </a:r>
            <a:r>
              <a:rPr lang="en-US" altLang="ko-KR" dirty="0"/>
              <a:t>/lib/</a:t>
            </a:r>
            <a:r>
              <a:rPr lang="ko-KR" altLang="en-US" dirty="0"/>
              <a:t>에 대한 </a:t>
            </a:r>
            <a:r>
              <a:rPr lang="ko-KR" altLang="en-US" dirty="0" err="1"/>
              <a:t>심벌릭</a:t>
            </a:r>
            <a:r>
              <a:rPr lang="ko-KR" altLang="en-US" dirty="0"/>
              <a:t> 링크로 존재</a:t>
            </a:r>
            <a:endParaRPr lang="en-US" altLang="ko-KR" dirty="0"/>
          </a:p>
          <a:p>
            <a:pPr lvl="2"/>
            <a:r>
              <a:rPr lang="ko-KR" altLang="en-US" dirty="0"/>
              <a:t>라이브러리의 이름은 일반적으로 </a:t>
            </a:r>
            <a:r>
              <a:rPr lang="en-US" altLang="ko-KR" dirty="0"/>
              <a:t>‘lib’</a:t>
            </a:r>
            <a:r>
              <a:rPr lang="ko-KR" altLang="en-US" dirty="0"/>
              <a:t>로 시작하고</a:t>
            </a:r>
            <a:r>
              <a:rPr lang="en-US" altLang="ko-KR" dirty="0"/>
              <a:t>, </a:t>
            </a:r>
            <a:r>
              <a:rPr lang="ko-KR" altLang="en-US" dirty="0"/>
              <a:t>확장자는 </a:t>
            </a:r>
            <a:r>
              <a:rPr lang="en-US" altLang="ko-KR" dirty="0"/>
              <a:t>.a</a:t>
            </a:r>
            <a:r>
              <a:rPr lang="ko-KR" altLang="en-US" dirty="0"/>
              <a:t>나 </a:t>
            </a:r>
            <a:r>
              <a:rPr lang="en-US" altLang="ko-KR" dirty="0"/>
              <a:t>.so</a:t>
            </a:r>
            <a:r>
              <a:rPr lang="ko-KR" altLang="en-US" dirty="0"/>
              <a:t>로 표현</a:t>
            </a:r>
            <a:endParaRPr lang="en-US" altLang="ko-KR" dirty="0"/>
          </a:p>
          <a:p>
            <a:pPr lvl="2"/>
            <a:r>
              <a:rPr lang="en-US" altLang="ko-KR" dirty="0"/>
              <a:t>lib*.a</a:t>
            </a:r>
            <a:r>
              <a:rPr lang="ko-KR" altLang="en-US" dirty="0"/>
              <a:t>는  정적 라이브러리</a:t>
            </a:r>
            <a:r>
              <a:rPr lang="en-US" altLang="ko-KR" dirty="0"/>
              <a:t>, lib*.so</a:t>
            </a:r>
            <a:r>
              <a:rPr lang="ko-KR" altLang="en-US" dirty="0"/>
              <a:t>는 공유 라이브러리</a:t>
            </a:r>
            <a:endParaRPr lang="en-US" altLang="ko-KR" dirty="0"/>
          </a:p>
          <a:p>
            <a:pPr lvl="1"/>
            <a:r>
              <a:rPr lang="ko-KR" altLang="en-US" dirty="0"/>
              <a:t>정적 라이브러리는 프로그램을 컴파일할 때만 구성</a:t>
            </a:r>
            <a:endParaRPr lang="en-US" altLang="ko-KR" dirty="0"/>
          </a:p>
          <a:p>
            <a:pPr lvl="2"/>
            <a:r>
              <a:rPr lang="ko-KR" altLang="en-US" dirty="0"/>
              <a:t>실행 파일에 라이브러리 코드가 포함되므로 그만큼 크기가 커짐</a:t>
            </a:r>
            <a:endParaRPr lang="en-US" altLang="ko-KR" dirty="0"/>
          </a:p>
          <a:p>
            <a:pPr lvl="1"/>
            <a:r>
              <a:rPr lang="ko-KR" altLang="en-US" dirty="0"/>
              <a:t>공유라이브러리는 실행 파일에 포함되지 않음</a:t>
            </a:r>
            <a:endParaRPr lang="en-US" altLang="ko-KR" dirty="0"/>
          </a:p>
          <a:p>
            <a:pPr lvl="2"/>
            <a:r>
              <a:rPr lang="ko-KR" altLang="en-US" dirty="0"/>
              <a:t>공유 라이브러리를 이용해 생성한 실행 파일은 실행 시에 해당 라이브러리가 메모리제 적재</a:t>
            </a:r>
            <a:endParaRPr lang="en-US" altLang="ko-KR" dirty="0"/>
          </a:p>
          <a:p>
            <a:pPr lvl="2"/>
            <a:r>
              <a:rPr lang="ko-KR" altLang="en-US" dirty="0"/>
              <a:t>적재된 라이브러리는 다른 실행 파일에서도 공유할 수 있음</a:t>
            </a: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B45443E-A6F7-56DA-0247-A2477AAEC5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86F03-299E-46B0-8EA8-4C9C8EE382CE}" type="slidenum">
              <a:rPr lang="ko-KR" altLang="en-US" smtClean="0"/>
              <a:pPr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00654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E7C80E-C784-282E-5438-372DDF05F8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시스템 프로그래밍 </a:t>
            </a:r>
            <a:r>
              <a:rPr lang="en-US" altLang="ko-KR"/>
              <a:t>- 4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8F21D9E-1DD5-FCEB-46F4-0BD5FE1525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시스템 호출과 라이브러리 함수 비교</a:t>
            </a:r>
            <a:endParaRPr lang="en-US" altLang="ko-KR" dirty="0"/>
          </a:p>
          <a:p>
            <a:pPr lvl="1"/>
            <a:r>
              <a:rPr lang="ko-KR" altLang="en-US" dirty="0"/>
              <a:t>응용 프로그램은 라이브러리 함수나 시스템 호출을 이용해 작성 할 수 있음</a:t>
            </a:r>
            <a:endParaRPr lang="en-US" altLang="ko-KR" dirty="0"/>
          </a:p>
          <a:p>
            <a:pPr lvl="1"/>
            <a:r>
              <a:rPr lang="ko-KR" altLang="en-US" dirty="0"/>
              <a:t>시스템 호출은 커널의 해당 모듈을 직접 호출해 작업하고 결과를 리턴</a:t>
            </a:r>
            <a:endParaRPr lang="en-US" altLang="ko-KR" dirty="0"/>
          </a:p>
          <a:p>
            <a:pPr lvl="1"/>
            <a:r>
              <a:rPr lang="ko-KR" altLang="en-US" dirty="0"/>
              <a:t>시스템을 직접 호출하기 때문에 시스템 호출이라 함</a:t>
            </a:r>
            <a:endParaRPr lang="en-US" altLang="ko-KR" dirty="0"/>
          </a:p>
          <a:p>
            <a:pPr lvl="1"/>
            <a:r>
              <a:rPr lang="ko-KR" altLang="en-US" dirty="0"/>
              <a:t>라이브러리 함수는 커널 모듈을 직접 호출하지 않음</a:t>
            </a:r>
            <a:endParaRPr lang="en-US" altLang="ko-KR" dirty="0"/>
          </a:p>
          <a:p>
            <a:pPr lvl="1"/>
            <a:r>
              <a:rPr lang="ko-KR" altLang="en-US" dirty="0"/>
              <a:t>라이브러리 함수에서 커널의 서비스를 이용하려면 함수 내부에서 시스템 호출을 사용</a:t>
            </a:r>
            <a:endParaRPr lang="en-US" altLang="ko-KR" dirty="0"/>
          </a:p>
          <a:p>
            <a:pPr lvl="2"/>
            <a:r>
              <a:rPr lang="ko-KR" altLang="en-US" dirty="0"/>
              <a:t>프로그래머는 라이브러리 함수가 시스템 호출을 사용하는지 알 필요 없음</a:t>
            </a:r>
            <a:endParaRPr lang="en-US" altLang="ko-KR" dirty="0"/>
          </a:p>
          <a:p>
            <a:pPr lvl="1"/>
            <a:r>
              <a:rPr lang="ko-KR" altLang="en-US" dirty="0"/>
              <a:t>리눅스 시스템에서 프로그래밍을 할 때 사용하는 시스템 호출과 라이브러리 함수는 기본 형식과 </a:t>
            </a:r>
            <a:br>
              <a:rPr lang="en-US" altLang="ko-KR" dirty="0"/>
            </a:br>
            <a:r>
              <a:rPr lang="ko-KR" altLang="en-US" dirty="0"/>
              <a:t>사용 방법이 유사하므로 구별하기 어려움</a:t>
            </a:r>
            <a:endParaRPr lang="en-US" altLang="ko-KR" dirty="0"/>
          </a:p>
          <a:p>
            <a:pPr lvl="2"/>
            <a:r>
              <a:rPr lang="ko-KR" altLang="en-US" dirty="0"/>
              <a:t>리눅스 시스템에서 제공하는 </a:t>
            </a:r>
            <a:r>
              <a:rPr lang="en-US" altLang="ko-KR" dirty="0"/>
              <a:t>man </a:t>
            </a:r>
            <a:r>
              <a:rPr lang="ko-KR" altLang="en-US" dirty="0"/>
              <a:t>페이지의 섹션 번호와 오류 처리 방법을 잘 살펴보면 구별 가능</a:t>
            </a:r>
            <a:endParaRPr lang="en-US" altLang="ko-KR" dirty="0"/>
          </a:p>
          <a:p>
            <a:pPr lvl="2"/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C14C91C-4AF9-92BE-E2C5-86D4658CC6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86F03-299E-46B0-8EA8-4C9C8EE382CE}" type="slidenum">
              <a:rPr lang="ko-KR" altLang="en-US" smtClean="0"/>
              <a:pPr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63328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AC73788-EA27-159A-11A2-F13AA1AC76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86F03-299E-46B0-8EA8-4C9C8EE382CE}" type="slidenum">
              <a:rPr lang="ko-KR" altLang="en-US" smtClean="0"/>
              <a:pPr/>
              <a:t>11</a:t>
            </a:fld>
            <a:endParaRPr lang="ko-KR" altLang="en-US"/>
          </a:p>
        </p:txBody>
      </p: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6550F703-8947-E727-F612-D4C7420F5AFF}"/>
              </a:ext>
            </a:extLst>
          </p:cNvPr>
          <p:cNvGrpSpPr/>
          <p:nvPr/>
        </p:nvGrpSpPr>
        <p:grpSpPr>
          <a:xfrm>
            <a:off x="1922187" y="320301"/>
            <a:ext cx="9167154" cy="6464105"/>
            <a:chOff x="1922187" y="320301"/>
            <a:chExt cx="9167154" cy="6464105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DBA1034A-36C6-A43F-AB1A-8D8F182F4F5F}"/>
                </a:ext>
              </a:extLst>
            </p:cNvPr>
            <p:cNvSpPr/>
            <p:nvPr/>
          </p:nvSpPr>
          <p:spPr>
            <a:xfrm>
              <a:off x="1922187" y="320301"/>
              <a:ext cx="2823482" cy="1647031"/>
            </a:xfrm>
            <a:prstGeom prst="rect">
              <a:avLst/>
            </a:prstGeom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b="1">
                  <a:solidFill>
                    <a:schemeClr val="tx1"/>
                  </a:solidFill>
                </a:rPr>
                <a:t>main()</a:t>
              </a:r>
            </a:p>
            <a:p>
              <a:r>
                <a:rPr lang="en-US" altLang="ko-KR" b="1">
                  <a:solidFill>
                    <a:schemeClr val="tx1"/>
                  </a:solidFill>
                </a:rPr>
                <a:t>{</a:t>
              </a:r>
            </a:p>
            <a:p>
              <a:r>
                <a:rPr lang="ko-KR" altLang="en-US" b="1">
                  <a:solidFill>
                    <a:schemeClr val="tx1"/>
                  </a:solidFill>
                </a:rPr>
                <a:t>    라이브러리 함수</a:t>
              </a:r>
              <a:r>
                <a:rPr lang="en-US" altLang="ko-KR" b="1">
                  <a:solidFill>
                    <a:schemeClr val="tx1"/>
                  </a:solidFill>
                </a:rPr>
                <a:t>();</a:t>
              </a:r>
            </a:p>
            <a:p>
              <a:r>
                <a:rPr lang="en-US" altLang="ko-KR" b="1">
                  <a:solidFill>
                    <a:schemeClr val="tx1"/>
                  </a:solidFill>
                </a:rPr>
                <a:t>    </a:t>
              </a:r>
              <a:r>
                <a:rPr lang="ko-KR" altLang="en-US" b="1">
                  <a:solidFill>
                    <a:schemeClr val="tx1"/>
                  </a:solidFill>
                </a:rPr>
                <a:t>시스템 호출</a:t>
              </a:r>
              <a:r>
                <a:rPr lang="en-US" altLang="ko-KR" b="1">
                  <a:solidFill>
                    <a:schemeClr val="tx1"/>
                  </a:solidFill>
                </a:rPr>
                <a:t>();</a:t>
              </a:r>
            </a:p>
            <a:p>
              <a:r>
                <a:rPr lang="en-US" altLang="ko-KR" b="1">
                  <a:solidFill>
                    <a:schemeClr val="tx1"/>
                  </a:solidFill>
                </a:rPr>
                <a:t>}</a:t>
              </a:r>
              <a:endParaRPr lang="ko-KR" altLang="en-US" b="1">
                <a:solidFill>
                  <a:schemeClr val="tx1"/>
                </a:solidFill>
              </a:endParaRPr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88DF0B53-2232-6F6E-37CC-A0660CB56DF1}"/>
                </a:ext>
              </a:extLst>
            </p:cNvPr>
            <p:cNvSpPr/>
            <p:nvPr/>
          </p:nvSpPr>
          <p:spPr>
            <a:xfrm>
              <a:off x="7446332" y="2727069"/>
              <a:ext cx="2822400" cy="1648800"/>
            </a:xfrm>
            <a:prstGeom prst="rect">
              <a:avLst/>
            </a:prstGeom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b="1">
                  <a:solidFill>
                    <a:schemeClr val="tx1"/>
                  </a:solidFill>
                </a:rPr>
                <a:t>시스템 호출 코드</a:t>
              </a:r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9FDF09F3-EB7A-CC00-BE6E-A52C588CD3A1}"/>
                </a:ext>
              </a:extLst>
            </p:cNvPr>
            <p:cNvSpPr/>
            <p:nvPr/>
          </p:nvSpPr>
          <p:spPr>
            <a:xfrm>
              <a:off x="7446332" y="320301"/>
              <a:ext cx="2822400" cy="1647031"/>
            </a:xfrm>
            <a:prstGeom prst="rect">
              <a:avLst/>
            </a:prstGeom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ko-KR" altLang="en-US" b="1">
                  <a:solidFill>
                    <a:schemeClr val="tx1"/>
                  </a:solidFill>
                </a:rPr>
                <a:t>라이브러리 함수</a:t>
              </a:r>
              <a:endParaRPr lang="en-US" altLang="ko-KR" b="1">
                <a:solidFill>
                  <a:schemeClr val="tx1"/>
                </a:solidFill>
              </a:endParaRPr>
            </a:p>
            <a:p>
              <a:r>
                <a:rPr lang="en-US" altLang="ko-KR" b="1">
                  <a:solidFill>
                    <a:schemeClr val="tx1"/>
                  </a:solidFill>
                </a:rPr>
                <a:t>{</a:t>
              </a:r>
            </a:p>
            <a:p>
              <a:r>
                <a:rPr lang="en-US" altLang="ko-KR" b="1">
                  <a:solidFill>
                    <a:schemeClr val="tx1"/>
                  </a:solidFill>
                </a:rPr>
                <a:t>…</a:t>
              </a:r>
            </a:p>
            <a:p>
              <a:r>
                <a:rPr lang="ko-KR" altLang="en-US" b="1">
                  <a:solidFill>
                    <a:schemeClr val="tx1"/>
                  </a:solidFill>
                </a:rPr>
                <a:t>시스템 호출</a:t>
              </a:r>
              <a:r>
                <a:rPr lang="en-US" altLang="ko-KR" b="1">
                  <a:solidFill>
                    <a:schemeClr val="tx1"/>
                  </a:solidFill>
                </a:rPr>
                <a:t>();</a:t>
              </a:r>
            </a:p>
            <a:p>
              <a:r>
                <a:rPr lang="en-US" altLang="ko-KR" b="1">
                  <a:solidFill>
                    <a:schemeClr val="tx1"/>
                  </a:solidFill>
                </a:rPr>
                <a:t>}</a:t>
              </a:r>
              <a:endParaRPr lang="ko-KR" altLang="en-US" b="1">
                <a:solidFill>
                  <a:schemeClr val="tx1"/>
                </a:solidFill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564518F3-E507-3A84-C2A9-EF6A9B08AE60}"/>
                </a:ext>
              </a:extLst>
            </p:cNvPr>
            <p:cNvSpPr/>
            <p:nvPr/>
          </p:nvSpPr>
          <p:spPr>
            <a:xfrm>
              <a:off x="7446332" y="5135606"/>
              <a:ext cx="2822400" cy="1648800"/>
            </a:xfrm>
            <a:prstGeom prst="rect">
              <a:avLst/>
            </a:prstGeom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b="1">
                  <a:solidFill>
                    <a:schemeClr val="tx1"/>
                  </a:solidFill>
                </a:rPr>
                <a:t>커널 모듈    </a:t>
              </a:r>
              <a:r>
                <a:rPr lang="en-US" altLang="ko-KR" b="1">
                  <a:solidFill>
                    <a:schemeClr val="tx1"/>
                  </a:solidFill>
                </a:rPr>
                <a:t># n</a:t>
              </a:r>
              <a:endParaRPr lang="ko-KR" altLang="en-US" b="1">
                <a:solidFill>
                  <a:schemeClr val="tx1"/>
                </a:solidFill>
              </a:endParaRPr>
            </a:p>
          </p:txBody>
        </p:sp>
        <p:cxnSp>
          <p:nvCxnSpPr>
            <p:cNvPr id="11" name="연결선: 꺾임 10">
              <a:extLst>
                <a:ext uri="{FF2B5EF4-FFF2-40B4-BE49-F238E27FC236}">
                  <a16:creationId xmlns:a16="http://schemas.microsoft.com/office/drawing/2014/main" id="{4E7F7EDC-DC07-9C3C-9B8D-010538773B33}"/>
                </a:ext>
              </a:extLst>
            </p:cNvPr>
            <p:cNvCxnSpPr>
              <a:cxnSpLocks/>
              <a:endCxn id="6" idx="1"/>
            </p:cNvCxnSpPr>
            <p:nvPr/>
          </p:nvCxnSpPr>
          <p:spPr>
            <a:xfrm>
              <a:off x="3146612" y="1548308"/>
              <a:ext cx="4299720" cy="2003161"/>
            </a:xfrm>
            <a:prstGeom prst="bentConnector3">
              <a:avLst>
                <a:gd name="adj1" fmla="val 170"/>
              </a:avLst>
            </a:prstGeom>
            <a:ln w="3810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연결선: 꺾임 14">
              <a:extLst>
                <a:ext uri="{FF2B5EF4-FFF2-40B4-BE49-F238E27FC236}">
                  <a16:creationId xmlns:a16="http://schemas.microsoft.com/office/drawing/2014/main" id="{72D4D7D4-A8C9-0391-D8E5-FF61B0AB97C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85129" y="582706"/>
              <a:ext cx="3161203" cy="560226"/>
            </a:xfrm>
            <a:prstGeom prst="bentConnector3">
              <a:avLst/>
            </a:prstGeom>
            <a:ln w="3810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연결선: 꺾임 19">
              <a:extLst>
                <a:ext uri="{FF2B5EF4-FFF2-40B4-BE49-F238E27FC236}">
                  <a16:creationId xmlns:a16="http://schemas.microsoft.com/office/drawing/2014/main" id="{F5556848-EC54-CD58-9A11-8C683AA766D1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7724042" y="2206264"/>
              <a:ext cx="1880691" cy="564779"/>
            </a:xfrm>
            <a:prstGeom prst="bentConnector3">
              <a:avLst>
                <a:gd name="adj1" fmla="val 46663"/>
              </a:avLst>
            </a:prstGeom>
            <a:ln w="38100">
              <a:solidFill>
                <a:schemeClr val="tx1"/>
              </a:solidFill>
              <a:prstDash val="dash"/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연결선: 꺾임 37">
              <a:extLst>
                <a:ext uri="{FF2B5EF4-FFF2-40B4-BE49-F238E27FC236}">
                  <a16:creationId xmlns:a16="http://schemas.microsoft.com/office/drawing/2014/main" id="{8DC79164-4D17-DF90-12F5-E45AFABAA710}"/>
                </a:ext>
              </a:extLst>
            </p:cNvPr>
            <p:cNvCxnSpPr>
              <a:stCxn id="6" idx="2"/>
              <a:endCxn id="8" idx="0"/>
            </p:cNvCxnSpPr>
            <p:nvPr/>
          </p:nvCxnSpPr>
          <p:spPr>
            <a:xfrm rot="5400000">
              <a:off x="8477664" y="4755737"/>
              <a:ext cx="759737" cy="12700"/>
            </a:xfrm>
            <a:prstGeom prst="bentConnector3">
              <a:avLst/>
            </a:prstGeom>
            <a:ln w="3810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직선 연결선 42">
              <a:extLst>
                <a:ext uri="{FF2B5EF4-FFF2-40B4-BE49-F238E27FC236}">
                  <a16:creationId xmlns:a16="http://schemas.microsoft.com/office/drawing/2014/main" id="{133B73CE-6342-D48D-F19C-5104E5DDC95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922187" y="4762087"/>
              <a:ext cx="9167154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73F8F5B9-1A14-22E2-68BD-32B0D59E68FF}"/>
                </a:ext>
              </a:extLst>
            </p:cNvPr>
            <p:cNvSpPr txBox="1"/>
            <p:nvPr/>
          </p:nvSpPr>
          <p:spPr>
            <a:xfrm>
              <a:off x="2178423" y="4958179"/>
              <a:ext cx="1744381" cy="3675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/>
                <a:t>커널 영역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A3C44C77-662F-1A11-8393-DBC93928657C}"/>
                </a:ext>
              </a:extLst>
            </p:cNvPr>
            <p:cNvSpPr txBox="1"/>
            <p:nvPr/>
          </p:nvSpPr>
          <p:spPr>
            <a:xfrm>
              <a:off x="2178422" y="4201425"/>
              <a:ext cx="1744381" cy="3675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/>
                <a:t>사용자 영역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985461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53B637-AF97-8331-9FE2-9B27F5DA36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시스템 프로그래밍 </a:t>
            </a:r>
            <a:r>
              <a:rPr lang="en-US" altLang="ko-KR" dirty="0"/>
              <a:t>- 5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2FD06A3-2512-1BCC-AB0A-CAAE0F1FD3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시스템 호출과 라이브러리 함수 비교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266055-5A97-1660-C517-0D9E4271F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86F03-299E-46B0-8EA8-4C9C8EE382CE}" type="slidenum">
              <a:rPr lang="ko-KR" altLang="en-US" smtClean="0"/>
              <a:pPr/>
              <a:t>12</a:t>
            </a:fld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16664ED-9D34-278C-294A-811E6E7391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9717" y="1732240"/>
            <a:ext cx="6452566" cy="4553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98679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70F8F4-D2D0-8F0B-25A6-622CE82737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시스템 프로그래밍 </a:t>
            </a:r>
            <a:r>
              <a:rPr lang="en-US" altLang="ko-KR" dirty="0"/>
              <a:t>- 6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C870DB1-C4E7-0D47-247C-8360C0B0AB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man </a:t>
            </a:r>
            <a:r>
              <a:rPr lang="ko-KR" altLang="en-US" dirty="0"/>
              <a:t>페이지의 섹션 번호</a:t>
            </a:r>
            <a:endParaRPr lang="en-US" altLang="ko-KR" dirty="0"/>
          </a:p>
          <a:p>
            <a:pPr lvl="1"/>
            <a:r>
              <a:rPr lang="ko-KR" altLang="en-US" dirty="0"/>
              <a:t>리눅스 시스템에서는 명령이나 함수 등 시스템의 다양한 서비스에 대한 매뉴얼 제공</a:t>
            </a:r>
            <a:endParaRPr lang="en-US" altLang="ko-KR" dirty="0"/>
          </a:p>
          <a:p>
            <a:pPr lvl="2"/>
            <a:r>
              <a:rPr lang="ko-KR" altLang="en-US" dirty="0"/>
              <a:t>매뉴얼 검색하고 도움을 얻으려면 </a:t>
            </a:r>
            <a:r>
              <a:rPr lang="en-US" altLang="ko-KR" dirty="0"/>
              <a:t>man </a:t>
            </a:r>
            <a:r>
              <a:rPr lang="ko-KR" altLang="en-US" dirty="0"/>
              <a:t>명령을 사용</a:t>
            </a:r>
            <a:endParaRPr lang="en-US" altLang="ko-KR" dirty="0"/>
          </a:p>
          <a:p>
            <a:pPr lvl="1"/>
            <a:r>
              <a:rPr lang="ko-KR" altLang="en-US" dirty="0"/>
              <a:t>매뉴얼은 항목의 종류에 따라 섹션이 구분</a:t>
            </a:r>
            <a:endParaRPr lang="en-US" altLang="ko-KR" dirty="0"/>
          </a:p>
          <a:p>
            <a:pPr lvl="2"/>
            <a:r>
              <a:rPr lang="ko-KR" altLang="en-US" dirty="0"/>
              <a:t>리눅스에서 사용하는 일반적인 명령에 대한 설명은 섹션 </a:t>
            </a:r>
            <a:r>
              <a:rPr lang="en-US" altLang="ko-KR" dirty="0"/>
              <a:t>1</a:t>
            </a:r>
            <a:r>
              <a:rPr lang="ko-KR" altLang="en-US" dirty="0"/>
              <a:t>에 속함</a:t>
            </a:r>
            <a:endParaRPr lang="en-US" altLang="ko-KR" dirty="0"/>
          </a:p>
          <a:p>
            <a:pPr lvl="2"/>
            <a:r>
              <a:rPr lang="ko-KR" altLang="en-US" dirty="0"/>
              <a:t>시스템 호출은 섹션 </a:t>
            </a:r>
            <a:r>
              <a:rPr lang="en-US" altLang="ko-KR" dirty="0"/>
              <a:t>2</a:t>
            </a:r>
            <a:r>
              <a:rPr lang="ko-KR" altLang="en-US" dirty="0"/>
              <a:t>에 속하고</a:t>
            </a:r>
            <a:r>
              <a:rPr lang="en-US" altLang="ko-KR" dirty="0"/>
              <a:t>, </a:t>
            </a:r>
            <a:r>
              <a:rPr lang="ko-KR" altLang="en-US" dirty="0"/>
              <a:t>라이브러리 함수는 섹션 </a:t>
            </a:r>
            <a:r>
              <a:rPr lang="en-US" altLang="ko-KR" dirty="0"/>
              <a:t>3</a:t>
            </a:r>
            <a:r>
              <a:rPr lang="ko-KR" altLang="en-US" dirty="0"/>
              <a:t>에 속함</a:t>
            </a:r>
            <a:endParaRPr lang="en-US" altLang="ko-KR" dirty="0"/>
          </a:p>
          <a:p>
            <a:pPr lvl="2"/>
            <a:r>
              <a:rPr lang="en-US" altLang="ko-KR" dirty="0"/>
              <a:t>man </a:t>
            </a:r>
            <a:r>
              <a:rPr lang="ko-KR" altLang="en-US" dirty="0"/>
              <a:t>명령으로 검색하면 섹션 번호가 가장 낮은 것이 기본으로 출력</a:t>
            </a:r>
            <a:endParaRPr lang="en-US" altLang="ko-KR" dirty="0"/>
          </a:p>
          <a:p>
            <a:pPr lvl="3"/>
            <a:r>
              <a:rPr lang="en-US" altLang="ko-KR" dirty="0"/>
              <a:t>read</a:t>
            </a:r>
            <a:r>
              <a:rPr lang="ko-KR" altLang="en-US" dirty="0"/>
              <a:t>에 대해 명령도 있고 시스템 호출도 있다면 명령에 대한 매뉴얼이 먼저 출력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1182F0E-021D-C943-F158-A270671A8C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86F03-299E-46B0-8EA8-4C9C8EE382CE}" type="slidenum">
              <a:rPr lang="ko-KR" altLang="en-US" smtClean="0"/>
              <a:pPr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81688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CD2FFD5-5477-C06D-592F-648741C444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시스템 프로그래밍 </a:t>
            </a:r>
            <a:r>
              <a:rPr lang="en-US" altLang="ko-KR" dirty="0"/>
              <a:t>- 7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5819D81-DBA5-0A6B-2B00-42F7BB7B21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30A1898-2FE1-57CC-190A-6C8EAFEC2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86F03-299E-46B0-8EA8-4C9C8EE382CE}" type="slidenum">
              <a:rPr lang="ko-KR" altLang="en-US" smtClean="0"/>
              <a:pPr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310564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288</TotalTime>
  <Words>1288</Words>
  <Application>Microsoft Office PowerPoint</Application>
  <PresentationFormat>와이드스크린</PresentationFormat>
  <Paragraphs>158</Paragraphs>
  <Slides>14</Slides>
  <Notes>0</Notes>
  <HiddenSlides>1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17" baseType="lpstr">
      <vt:lpstr>맑은 고딕</vt:lpstr>
      <vt:lpstr>Arial</vt:lpstr>
      <vt:lpstr>Office 테마</vt:lpstr>
      <vt:lpstr>Chapter 01 리눅스/유닉스 시스템 프로그래밍의 이해</vt:lpstr>
      <vt:lpstr>리눅스/유닉스 시스템 프로그래밍</vt:lpstr>
      <vt:lpstr>리눅스/유닉스 시스템 표준 - 1</vt:lpstr>
      <vt:lpstr>리눅스/유닉스 시스템 표준 - 2</vt:lpstr>
      <vt:lpstr>리눅스/유닉스 시스템 표준 - 3</vt:lpstr>
      <vt:lpstr>리눅스/유닉스 시스템 표준 - 4</vt:lpstr>
      <vt:lpstr>시스템 프로그래밍 - 1</vt:lpstr>
      <vt:lpstr>시스템 프로그래밍 - 2</vt:lpstr>
      <vt:lpstr>시스템 프로그래밍 - 3</vt:lpstr>
      <vt:lpstr>시스템 프로그래밍 - 4</vt:lpstr>
      <vt:lpstr>PowerPoint 프레젠테이션</vt:lpstr>
      <vt:lpstr>시스템 프로그래밍 - 5</vt:lpstr>
      <vt:lpstr>시스템 프로그래밍 - 6</vt:lpstr>
      <vt:lpstr>시스템 프로그래밍 - 7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YUHAN</dc:creator>
  <cp:lastModifiedBy>user</cp:lastModifiedBy>
  <cp:revision>14</cp:revision>
  <dcterms:created xsi:type="dcterms:W3CDTF">2026-10-07T00:40:47Z</dcterms:created>
  <dcterms:modified xsi:type="dcterms:W3CDTF">2026-10-16T14:16:09Z</dcterms:modified>
</cp:coreProperties>
</file>