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05" r:id="rId1"/>
  </p:sldMasterIdLst>
  <p:notesMasterIdLst>
    <p:notesMasterId r:id="rId18"/>
  </p:notesMasterIdLst>
  <p:sldIdLst>
    <p:sldId id="256" r:id="rId2"/>
    <p:sldId id="271" r:id="rId3"/>
    <p:sldId id="272" r:id="rId4"/>
    <p:sldId id="259" r:id="rId5"/>
    <p:sldId id="268" r:id="rId6"/>
    <p:sldId id="260" r:id="rId7"/>
    <p:sldId id="265" r:id="rId8"/>
    <p:sldId id="261" r:id="rId9"/>
    <p:sldId id="264" r:id="rId10"/>
    <p:sldId id="262" r:id="rId11"/>
    <p:sldId id="266" r:id="rId12"/>
    <p:sldId id="263" r:id="rId13"/>
    <p:sldId id="267" r:id="rId14"/>
    <p:sldId id="270" r:id="rId15"/>
    <p:sldId id="269" r:id="rId16"/>
    <p:sldId id="273" r:id="rId17"/>
  </p:sldIdLst>
  <p:sldSz cx="9144000" cy="6858000" type="screen4x3"/>
  <p:notesSz cx="6858000" cy="9144000"/>
  <p:embeddedFontLs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8F73A-43C9-45F8-9E21-ED072B6296F9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6B502-63A1-4CBE-824A-B3BF709FD0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54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37EC53-04E9-741B-EB65-2DA97F35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"/>
            <a:ext cx="9144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2CFACB-FDB6-24A7-5BC2-B211E25E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84625"/>
            <a:ext cx="7772400" cy="1655762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200" b="1">
                <a:solidFill>
                  <a:srgbClr val="17365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4A3B73-B170-C364-B8FB-D10D7709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330"/>
            <a:ext cx="9144000" cy="35099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462443-F3BA-08F8-7E8C-EA226C413B6B}"/>
              </a:ext>
            </a:extLst>
          </p:cNvPr>
          <p:cNvSpPr/>
          <p:nvPr/>
        </p:nvSpPr>
        <p:spPr>
          <a:xfrm>
            <a:off x="0" y="237329"/>
            <a:ext cx="9144000" cy="3509963"/>
          </a:xfrm>
          <a:prstGeom prst="rect">
            <a:avLst/>
          </a:prstGeom>
          <a:solidFill>
            <a:srgbClr val="0D1F35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98512"/>
            <a:ext cx="7772400" cy="2387600"/>
          </a:xfrm>
        </p:spPr>
        <p:txBody>
          <a:bodyPr anchor="ctr"/>
          <a:lstStyle>
            <a:lvl1pPr algn="l">
              <a:lnSpc>
                <a:spcPct val="150000"/>
              </a:lnSpc>
              <a:defRPr sz="4000" b="1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154D96-ACE3-39D1-CFBC-0BB5851A85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0" t="25172" r="73541" b="25172"/>
          <a:stretch>
            <a:fillRect/>
          </a:stretch>
        </p:blipFill>
        <p:spPr>
          <a:xfrm>
            <a:off x="528918" y="4054017"/>
            <a:ext cx="819150" cy="15169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8192DB-9F08-EC89-B261-1FF64899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698" t="25172" r="20343" b="25172"/>
          <a:stretch>
            <a:fillRect/>
          </a:stretch>
        </p:blipFill>
        <p:spPr>
          <a:xfrm>
            <a:off x="7795932" y="4054017"/>
            <a:ext cx="819150" cy="151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B296DDD-CDEF-4940-C8A5-3B788A0C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29556"/>
            <a:ext cx="8884800" cy="633600"/>
          </a:xfrm>
        </p:spPr>
        <p:txBody>
          <a:bodyPr/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CACB84-D1A8-72BD-5C75-8335D4D98ED7}"/>
              </a:ext>
            </a:extLst>
          </p:cNvPr>
          <p:cNvSpPr/>
          <p:nvPr/>
        </p:nvSpPr>
        <p:spPr>
          <a:xfrm>
            <a:off x="1" y="1023504"/>
            <a:ext cx="9144000" cy="5658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9200"/>
            <a:ext cx="8884800" cy="5216400"/>
          </a:xfrm>
          <a:solidFill>
            <a:schemeClr val="bg1">
              <a:alpha val="58000"/>
            </a:schemeClr>
          </a:solidFill>
        </p:spPr>
        <p:txBody>
          <a:bodyPr/>
          <a:lstStyle>
            <a:lvl1pPr>
              <a:lnSpc>
                <a:spcPct val="100000"/>
              </a:lnSpc>
              <a:defRPr sz="2000" b="1">
                <a:solidFill>
                  <a:srgbClr val="17365D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lnSpc>
                <a:spcPct val="100000"/>
              </a:lnSpc>
              <a:buFont typeface="Aptos" panose="020B0004020202020204" pitchFamily="34" charset="0"/>
              <a:buChar char="-"/>
              <a:defRPr sz="1800">
                <a:solidFill>
                  <a:srgbClr val="091625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3pPr>
            <a:lvl4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7000" y="6301146"/>
            <a:ext cx="2057400" cy="365125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A9265176-EA6A-4351-9392-EC41082E8256}" type="slidenum">
              <a:rPr lang="ko-KR" altLang="en-US" smtClean="0"/>
              <a:pPr/>
              <a:t>‹#›</a:t>
            </a:fld>
            <a:endParaRPr lang="ko-KR" altLang="en-US" sz="16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1F34625-D603-D233-7DB7-78741A560D6A}"/>
              </a:ext>
            </a:extLst>
          </p:cNvPr>
          <p:cNvGrpSpPr/>
          <p:nvPr userDrawn="1"/>
        </p:nvGrpSpPr>
        <p:grpSpPr>
          <a:xfrm>
            <a:off x="0" y="976313"/>
            <a:ext cx="9144000" cy="5909071"/>
            <a:chOff x="0" y="976313"/>
            <a:chExt cx="9144000" cy="590907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C71E328-B448-1B91-C207-61FE5A4ABBF9}"/>
                </a:ext>
              </a:extLst>
            </p:cNvPr>
            <p:cNvSpPr/>
            <p:nvPr/>
          </p:nvSpPr>
          <p:spPr>
            <a:xfrm>
              <a:off x="0" y="6453190"/>
              <a:ext cx="9144000" cy="4321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6E4A4D-E796-C6DA-3334-A8CBEBBE90EA}"/>
                </a:ext>
              </a:extLst>
            </p:cNvPr>
            <p:cNvSpPr/>
            <p:nvPr/>
          </p:nvSpPr>
          <p:spPr>
            <a:xfrm>
              <a:off x="0" y="976313"/>
              <a:ext cx="9144000" cy="56029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142168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5693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0181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8220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7135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24989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93513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0098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178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8248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65176-EA6A-4351-9392-EC41082E8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1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2661111-79E5-358F-E9E0-9C9C6DDBD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가톨릭대학교 컴퓨터정보공학부</a:t>
            </a:r>
            <a:endParaRPr lang="en-US" altLang="ko-KR" dirty="0"/>
          </a:p>
          <a:p>
            <a:r>
              <a:rPr lang="ko-KR" altLang="en-US" dirty="0"/>
              <a:t>박 영 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CE3FF1-679A-B8CD-DFC1-07240829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" y="692150"/>
            <a:ext cx="9036050" cy="2232025"/>
          </a:xfrm>
        </p:spPr>
        <p:txBody>
          <a:bodyPr/>
          <a:lstStyle/>
          <a:p>
            <a:r>
              <a:rPr lang="en-US" altLang="ko-KR" sz="2000" dirty="0"/>
              <a:t>Chapter 01</a:t>
            </a:r>
            <a:br>
              <a:rPr lang="en-US" altLang="ko-KR" dirty="0"/>
            </a:br>
            <a:r>
              <a:rPr lang="ko-KR" altLang="en-US" dirty="0"/>
              <a:t>리눅스 커널 프로그래밍 환경 구축</a:t>
            </a:r>
          </a:p>
        </p:txBody>
      </p:sp>
    </p:spTree>
    <p:extLst>
      <p:ext uri="{BB962C8B-B14F-4D97-AF65-F5344CB8AC3E}">
        <p14:creationId xmlns:p14="http://schemas.microsoft.com/office/powerpoint/2010/main" val="273091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EFF8D-480F-0724-43DD-E1D2052D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C4F8B-E110-53E7-5674-11D21CDC4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리눅스 배포판의 종류</a:t>
            </a:r>
            <a:endParaRPr lang="en-US" altLang="ko-KR" dirty="0"/>
          </a:p>
          <a:p>
            <a:r>
              <a:rPr lang="ko-KR" altLang="en-US" dirty="0"/>
              <a:t>가상 머신 소프트웨어 </a:t>
            </a:r>
            <a:r>
              <a:rPr lang="en-US" altLang="ko-KR" dirty="0"/>
              <a:t>: VMWare </a:t>
            </a:r>
          </a:p>
          <a:p>
            <a:r>
              <a:rPr lang="en-US" altLang="ko-KR" dirty="0"/>
              <a:t>VMWare </a:t>
            </a:r>
            <a:r>
              <a:rPr lang="ko-KR" altLang="en-US" dirty="0"/>
              <a:t>환경 설정</a:t>
            </a:r>
            <a:endParaRPr lang="en-US" altLang="ko-KR" dirty="0"/>
          </a:p>
          <a:p>
            <a:r>
              <a:rPr lang="ko-KR" altLang="en-US" dirty="0"/>
              <a:t>로키 리눅스 설치</a:t>
            </a:r>
            <a:endParaRPr lang="en-US" altLang="ko-KR" dirty="0"/>
          </a:p>
          <a:p>
            <a:r>
              <a:rPr lang="ko-KR" altLang="en-US" dirty="0"/>
              <a:t>로키 리눅스 패키지 관리</a:t>
            </a:r>
            <a:endParaRPr lang="en-US" altLang="ko-KR" dirty="0"/>
          </a:p>
          <a:p>
            <a:r>
              <a:rPr lang="en-US" altLang="ko-KR" dirty="0"/>
              <a:t>SSH </a:t>
            </a:r>
            <a:r>
              <a:rPr lang="ko-KR" altLang="en-US" dirty="0"/>
              <a:t>환경 설정하기</a:t>
            </a:r>
            <a:endParaRPr lang="en-US" altLang="ko-KR" dirty="0"/>
          </a:p>
          <a:p>
            <a:r>
              <a:rPr lang="en-US" altLang="ko-KR" dirty="0"/>
              <a:t>bash</a:t>
            </a:r>
            <a:r>
              <a:rPr lang="ko-KR" altLang="en-US" dirty="0"/>
              <a:t>  환경 설정</a:t>
            </a:r>
            <a:endParaRPr lang="en-US" altLang="ko-KR" dirty="0"/>
          </a:p>
          <a:p>
            <a:r>
              <a:rPr lang="ko-KR" altLang="en-US" dirty="0"/>
              <a:t>커널 프로그래밍 개발 도구 설치하기</a:t>
            </a:r>
            <a:endParaRPr lang="en-US" altLang="ko-KR" dirty="0"/>
          </a:p>
          <a:p>
            <a:r>
              <a:rPr lang="en-US" altLang="ko-KR" dirty="0"/>
              <a:t>Hello World </a:t>
            </a:r>
            <a:r>
              <a:rPr lang="ko-KR" altLang="en-US" dirty="0"/>
              <a:t>테스트 컴파일</a:t>
            </a:r>
            <a:endParaRPr lang="en-US" altLang="ko-KR" dirty="0"/>
          </a:p>
          <a:p>
            <a:r>
              <a:rPr lang="ko-KR" altLang="en-US" dirty="0"/>
              <a:t>부트 </a:t>
            </a:r>
            <a:r>
              <a:rPr lang="ko-KR" altLang="en-US" dirty="0" err="1"/>
              <a:t>로더</a:t>
            </a:r>
            <a:r>
              <a:rPr lang="ko-KR" altLang="en-US" dirty="0"/>
              <a:t> </a:t>
            </a:r>
            <a:r>
              <a:rPr lang="en-US" altLang="ko-KR" dirty="0"/>
              <a:t>: LLIO, GRUB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078598-F8BE-F913-476A-27607C56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2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28960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>
            <a:extLst>
              <a:ext uri="{FF2B5EF4-FFF2-40B4-BE49-F238E27FC236}">
                <a16:creationId xmlns:a16="http://schemas.microsoft.com/office/drawing/2014/main" id="{6F4E42C0-BBE5-32D4-CDB4-83FA66F53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가톨릭대학교 컴퓨터정보공학부</a:t>
            </a:r>
            <a:endParaRPr lang="en-US" altLang="ko-KR"/>
          </a:p>
          <a:p>
            <a:r>
              <a:rPr lang="ko-KR" altLang="en-US"/>
              <a:t>박 영 환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949568E-A052-6A3F-4071-185B172DC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" y="692150"/>
            <a:ext cx="9036050" cy="2232025"/>
          </a:xfrm>
        </p:spPr>
        <p:txBody>
          <a:bodyPr/>
          <a:lstStyle/>
          <a:p>
            <a:r>
              <a:rPr lang="en-US" altLang="ko-KR" sz="2000"/>
              <a:t>Section 01</a:t>
            </a:r>
            <a:br>
              <a:rPr lang="en-US" altLang="ko-KR"/>
            </a:br>
            <a:r>
              <a:rPr lang="ko-KR" altLang="en-US"/>
              <a:t>리눅스 배포판의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AEAF2-0A4A-7C90-F4A7-CEA9EB75D9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438900"/>
            <a:ext cx="2133600" cy="279400"/>
          </a:xfrm>
        </p:spPr>
        <p:txBody>
          <a:bodyPr/>
          <a:lstStyle/>
          <a:p>
            <a:fld id="{A9265176-EA6A-4351-9392-EC41082E8256}" type="slidenum">
              <a:rPr lang="ko-KR" altLang="en-US" smtClean="0"/>
              <a:pPr/>
              <a:t>3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22649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EEEB7-39DF-C170-BCC5-3D6BDF80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 배포판의 종류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21462-C885-66E3-A396-9624432D6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리눅스 </a:t>
            </a:r>
            <a:r>
              <a:rPr lang="ko-KR" altLang="en-US" dirty="0" err="1"/>
              <a:t>배포판</a:t>
            </a:r>
            <a:r>
              <a:rPr lang="ko-KR" altLang="en-US" dirty="0"/>
              <a:t> 개발 개요</a:t>
            </a:r>
            <a:endParaRPr lang="en-US" altLang="ko-KR" dirty="0"/>
          </a:p>
          <a:p>
            <a:pPr lvl="1"/>
            <a:r>
              <a:rPr lang="ko-KR" altLang="en-US" dirty="0"/>
              <a:t>사용자들이 리눅스 커널 소스 코드를 </a:t>
            </a:r>
            <a:r>
              <a:rPr lang="ko-KR" altLang="en-US" dirty="0" err="1"/>
              <a:t>내려받은</a:t>
            </a:r>
            <a:r>
              <a:rPr lang="ko-KR" altLang="en-US" dirty="0"/>
              <a:t> 후 직접 컴파일</a:t>
            </a:r>
            <a:endParaRPr lang="en-US" altLang="ko-KR" dirty="0"/>
          </a:p>
          <a:p>
            <a:pPr lvl="1"/>
            <a:r>
              <a:rPr lang="ko-KR" altLang="en-US" dirty="0"/>
              <a:t>리눅스 설치 대부분을 사용자가 </a:t>
            </a:r>
            <a:r>
              <a:rPr lang="ko-KR" altLang="en-US" dirty="0" err="1"/>
              <a:t>직접함</a:t>
            </a:r>
            <a:endParaRPr lang="en-US" altLang="ko-KR" dirty="0"/>
          </a:p>
          <a:p>
            <a:pPr lvl="2"/>
            <a:r>
              <a:rPr lang="ko-KR" altLang="en-US" dirty="0"/>
              <a:t>리눅스 설치에 많은 시간이 걸림</a:t>
            </a:r>
            <a:endParaRPr lang="en-US" altLang="ko-KR" dirty="0"/>
          </a:p>
          <a:p>
            <a:pPr lvl="2"/>
            <a:r>
              <a:rPr lang="ko-KR" altLang="en-US" dirty="0"/>
              <a:t>설치 과정 대부분이 단순 반복 과정으로</a:t>
            </a:r>
            <a:r>
              <a:rPr lang="en-US" altLang="ko-KR" dirty="0"/>
              <a:t>, </a:t>
            </a:r>
            <a:r>
              <a:rPr lang="ko-KR" altLang="en-US" dirty="0"/>
              <a:t>컴파일 작업을 단순화 시키기를 원함</a:t>
            </a:r>
            <a:endParaRPr lang="en-US" altLang="ko-KR" dirty="0"/>
          </a:p>
          <a:p>
            <a:pPr lvl="1"/>
            <a:r>
              <a:rPr lang="ko-KR" altLang="en-US" dirty="0"/>
              <a:t>리눅스 커널과 자주 사용하는 응용 프로그램들을 모아서 리눅스를 쉽게 </a:t>
            </a:r>
            <a:br>
              <a:rPr lang="en-US" altLang="ko-KR" dirty="0"/>
            </a:br>
            <a:r>
              <a:rPr lang="ko-KR" altLang="en-US" dirty="0"/>
              <a:t>설치할 수 있는 배포판을 만듦</a:t>
            </a:r>
            <a:endParaRPr lang="en-US" altLang="ko-KR" dirty="0"/>
          </a:p>
          <a:p>
            <a:pPr lvl="1"/>
            <a:r>
              <a:rPr lang="ko-KR" altLang="en-US" dirty="0"/>
              <a:t>이 세대 이후의 </a:t>
            </a:r>
            <a:r>
              <a:rPr lang="ko-KR" altLang="en-US" dirty="0" err="1"/>
              <a:t>리눅스들은</a:t>
            </a:r>
            <a:r>
              <a:rPr lang="ko-KR" altLang="en-US" dirty="0"/>
              <a:t> 대부분 배포판을 이용해 리눅스 설치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AF395-A44B-60AC-09DA-B50B8A5C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4</a:t>
            </a:fld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99081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19DB-319F-FBAF-B326-E316E5A4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슬렉웨이</a:t>
            </a:r>
            <a:r>
              <a:rPr lang="en-US" altLang="ko-KR"/>
              <a:t>(Slackware)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8E12B-051A-E1B1-ED5E-7F06C4402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슬랙웨이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리눅스요</a:t>
            </a:r>
            <a:r>
              <a:rPr lang="en-US" altLang="ko-KR" dirty="0"/>
              <a:t>? </a:t>
            </a:r>
            <a:r>
              <a:rPr lang="ko-KR" altLang="en-US" dirty="0"/>
              <a:t>리눅스보단 그냥 유닉스로 </a:t>
            </a:r>
            <a:r>
              <a:rPr lang="ko-KR" altLang="en-US" dirty="0" err="1"/>
              <a:t>생각하는게</a:t>
            </a:r>
            <a:r>
              <a:rPr lang="ko-KR" altLang="en-US" dirty="0"/>
              <a:t> </a:t>
            </a:r>
            <a:r>
              <a:rPr lang="ko-KR" altLang="en-US" dirty="0" err="1"/>
              <a:t>편할껄요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1999</a:t>
            </a:r>
            <a:r>
              <a:rPr lang="ko-KR" altLang="en-US" dirty="0"/>
              <a:t>년에 출시된 현재까지 유지되는 가장 오래된 생존 리눅스 </a:t>
            </a:r>
            <a:r>
              <a:rPr lang="ko-KR" altLang="en-US" dirty="0" err="1"/>
              <a:t>배포판</a:t>
            </a:r>
            <a:endParaRPr lang="en-US" altLang="ko-KR" dirty="0"/>
          </a:p>
          <a:p>
            <a:pPr lvl="1"/>
            <a:r>
              <a:rPr lang="ko-KR" altLang="en-US" dirty="0"/>
              <a:t>최신 트렌드를 쫓기보단 </a:t>
            </a:r>
            <a:r>
              <a:rPr lang="en-US" altLang="ko-KR" dirty="0"/>
              <a:t>“</a:t>
            </a:r>
            <a:r>
              <a:rPr lang="ko-KR" altLang="en-US" dirty="0"/>
              <a:t>단순함과 안정성</a:t>
            </a:r>
            <a:r>
              <a:rPr lang="en-US" altLang="ko-KR" dirty="0"/>
              <a:t>“, “</a:t>
            </a:r>
            <a:r>
              <a:rPr lang="ko-KR" altLang="en-US" dirty="0"/>
              <a:t>원조 유닉스 방식의 철학</a:t>
            </a:r>
            <a:r>
              <a:rPr lang="en-US" altLang="ko-KR" dirty="0"/>
              <a:t>＂</a:t>
            </a:r>
            <a:r>
              <a:rPr lang="ko-KR" altLang="en-US" dirty="0"/>
              <a:t>고수</a:t>
            </a:r>
            <a:endParaRPr lang="en-US" altLang="ko-KR" dirty="0"/>
          </a:p>
          <a:p>
            <a:pPr lvl="1"/>
            <a:r>
              <a:rPr lang="ko-KR" altLang="en-US" dirty="0"/>
              <a:t>패키지 관리 도구조차 시스템 직접 제어하는 방식</a:t>
            </a:r>
            <a:endParaRPr lang="en-US" altLang="ko-KR" dirty="0"/>
          </a:p>
          <a:p>
            <a:pPr lvl="1"/>
            <a:r>
              <a:rPr lang="en-US" altLang="ko-KR" dirty="0"/>
              <a:t>KISS </a:t>
            </a:r>
            <a:r>
              <a:rPr lang="ko-KR" altLang="en-US" dirty="0"/>
              <a:t>철학</a:t>
            </a:r>
            <a:r>
              <a:rPr lang="en-US" altLang="ko-KR" dirty="0"/>
              <a:t>(Keep It Simple, Stupid)</a:t>
            </a:r>
          </a:p>
          <a:p>
            <a:pPr lvl="2"/>
            <a:r>
              <a:rPr lang="ko-KR" altLang="en-US" dirty="0"/>
              <a:t>시스템을 복잡하게 만드는 독자적인 추상화 레이어</a:t>
            </a:r>
            <a:r>
              <a:rPr lang="en-US" altLang="ko-KR" dirty="0"/>
              <a:t>(</a:t>
            </a:r>
            <a:r>
              <a:rPr lang="ko-KR" altLang="en-US" dirty="0"/>
              <a:t>래퍼 프로그램</a:t>
            </a:r>
            <a:r>
              <a:rPr lang="en-US" altLang="ko-KR" dirty="0"/>
              <a:t>)</a:t>
            </a:r>
            <a:r>
              <a:rPr lang="ko-KR" altLang="en-US" dirty="0"/>
              <a:t>나 </a:t>
            </a:r>
            <a:br>
              <a:rPr lang="en-US" altLang="ko-KR" dirty="0"/>
            </a:br>
            <a:r>
              <a:rPr lang="ko-KR" altLang="en-US" dirty="0"/>
              <a:t>불필요한 자동화 마법사</a:t>
            </a:r>
            <a:r>
              <a:rPr lang="en-US" altLang="ko-KR" dirty="0"/>
              <a:t>(Wizard) </a:t>
            </a:r>
            <a:r>
              <a:rPr lang="ko-KR" altLang="en-US" dirty="0"/>
              <a:t>배제</a:t>
            </a:r>
            <a:endParaRPr lang="en-US" altLang="ko-KR" dirty="0"/>
          </a:p>
          <a:p>
            <a:pPr lvl="2"/>
            <a:r>
              <a:rPr lang="ko-KR" altLang="en-US" dirty="0"/>
              <a:t>시스템 설정은 대부분 순수 텍스트 파일</a:t>
            </a:r>
            <a:r>
              <a:rPr lang="en-US" altLang="ko-KR" dirty="0"/>
              <a:t>(/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ko-KR" altLang="en-US" dirty="0"/>
              <a:t>디렉터리</a:t>
            </a:r>
            <a:r>
              <a:rPr lang="en-US" altLang="ko-KR" dirty="0"/>
              <a:t>)</a:t>
            </a:r>
            <a:r>
              <a:rPr lang="ko-KR" altLang="en-US" dirty="0"/>
              <a:t>을 직접 수정</a:t>
            </a:r>
            <a:endParaRPr lang="en-US" altLang="ko-KR" dirty="0"/>
          </a:p>
          <a:p>
            <a:pPr lvl="1"/>
            <a:r>
              <a:rPr lang="en-US" altLang="ko-KR" dirty="0"/>
              <a:t>BSD </a:t>
            </a:r>
            <a:r>
              <a:rPr lang="ko-KR" altLang="en-US" dirty="0"/>
              <a:t>스타일의 초기화 스크립트</a:t>
            </a:r>
            <a:endParaRPr lang="en-US" altLang="ko-KR" dirty="0"/>
          </a:p>
          <a:p>
            <a:pPr lvl="2"/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대신 전통적인 </a:t>
            </a:r>
            <a:r>
              <a:rPr lang="en-US" altLang="ko-KR" dirty="0" err="1"/>
              <a:t>SystemV</a:t>
            </a:r>
            <a:r>
              <a:rPr lang="en-US" altLang="ko-KR" dirty="0"/>
              <a:t>(</a:t>
            </a:r>
            <a:r>
              <a:rPr lang="en-US" altLang="ko-KR" dirty="0" err="1"/>
              <a:t>SysV</a:t>
            </a:r>
            <a:r>
              <a:rPr lang="en-US" altLang="ko-KR" dirty="0"/>
              <a:t>)</a:t>
            </a:r>
            <a:r>
              <a:rPr lang="ko-KR" altLang="en-US" dirty="0"/>
              <a:t> 스타일의 </a:t>
            </a:r>
            <a:r>
              <a:rPr lang="en-US" altLang="ko-KR" dirty="0" err="1"/>
              <a:t>init</a:t>
            </a:r>
            <a:r>
              <a:rPr lang="ko-KR" altLang="en-US" dirty="0"/>
              <a:t>스크립트 사용</a:t>
            </a:r>
            <a:endParaRPr lang="en-US" altLang="ko-KR" dirty="0"/>
          </a:p>
          <a:p>
            <a:pPr lvl="2"/>
            <a:r>
              <a:rPr lang="ko-KR" altLang="en-US" dirty="0"/>
              <a:t>부팅 과정과 서비스 관리가 매우 직관적이고 투명함</a:t>
            </a:r>
            <a:endParaRPr lang="en-US" altLang="ko-KR" dirty="0"/>
          </a:p>
          <a:p>
            <a:pPr lvl="1"/>
            <a:r>
              <a:rPr lang="ko-KR" altLang="en-US" dirty="0"/>
              <a:t>단순한 패키지 관리</a:t>
            </a:r>
            <a:endParaRPr lang="en-US" altLang="ko-KR" dirty="0"/>
          </a:p>
          <a:p>
            <a:pPr lvl="2"/>
            <a:r>
              <a:rPr lang="ko-KR" altLang="en-US" dirty="0"/>
              <a:t>의존성을 자동으로 해결해주지 않는 </a:t>
            </a:r>
            <a:r>
              <a:rPr lang="en-US" altLang="ko-KR" dirty="0"/>
              <a:t>.</a:t>
            </a:r>
            <a:r>
              <a:rPr lang="en-US" altLang="ko-KR" dirty="0" err="1"/>
              <a:t>tgz</a:t>
            </a:r>
            <a:r>
              <a:rPr lang="en-US" altLang="ko-KR" dirty="0"/>
              <a:t>/.</a:t>
            </a:r>
            <a:r>
              <a:rPr lang="en-US" altLang="ko-KR" dirty="0" err="1"/>
              <a:t>txz</a:t>
            </a:r>
            <a:r>
              <a:rPr lang="en-US" altLang="ko-KR" dirty="0"/>
              <a:t> </a:t>
            </a:r>
            <a:r>
              <a:rPr lang="ko-KR" altLang="en-US" dirty="0"/>
              <a:t>형식의 패키지 관리 시스템 사용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사용자가 직접 패키지 관리를 해야함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극강의</a:t>
            </a:r>
            <a:r>
              <a:rPr lang="ko-KR" altLang="en-US" dirty="0">
                <a:sym typeface="Wingdings" panose="05000000000000000000" pitchFamily="2" charset="2"/>
              </a:rPr>
              <a:t> 안정성과 </a:t>
            </a:r>
            <a:r>
              <a:rPr lang="ko-KR" altLang="en-US" dirty="0" err="1">
                <a:sym typeface="Wingdings" panose="05000000000000000000" pitchFamily="2" charset="2"/>
              </a:rPr>
              <a:t>순정성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패키지나 커스텀을 최소화하여 </a:t>
            </a:r>
            <a:r>
              <a:rPr lang="ko-KR" altLang="en-US" dirty="0" err="1">
                <a:sym typeface="Wingdings" panose="05000000000000000000" pitchFamily="2" charset="2"/>
              </a:rPr>
              <a:t>업스트림</a:t>
            </a:r>
            <a:r>
              <a:rPr lang="en-US" altLang="ko-KR" dirty="0">
                <a:sym typeface="Wingdings" panose="05000000000000000000" pitchFamily="2" charset="2"/>
              </a:rPr>
              <a:t>(Upstream) </a:t>
            </a:r>
            <a:r>
              <a:rPr lang="ko-KR" altLang="en-US" dirty="0">
                <a:sym typeface="Wingdings" panose="05000000000000000000" pitchFamily="2" charset="2"/>
              </a:rPr>
              <a:t>소프트웨어 본래의 모습 유지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69CBB-AE24-84CC-F558-49F07AC9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5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72797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EF063-D373-BA35-4E3A-C57F026F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레드햇 리눅스</a:t>
            </a:r>
            <a:r>
              <a:rPr lang="en-US" altLang="ko-KR"/>
              <a:t>(Red Hat Linux, RHL)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8645B-E349-09B3-C8B9-C9549D90C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레드햇 리눅스 </a:t>
            </a:r>
            <a:r>
              <a:rPr lang="en-US" altLang="ko-KR"/>
              <a:t>– </a:t>
            </a:r>
            <a:r>
              <a:rPr lang="ko-KR" altLang="en-US"/>
              <a:t>역사 속으로 사라진 브랜드</a:t>
            </a:r>
            <a:endParaRPr lang="en-US" altLang="ko-KR"/>
          </a:p>
          <a:p>
            <a:pPr lvl="1"/>
            <a:r>
              <a:rPr lang="en-US" altLang="ko-KR"/>
              <a:t>1990</a:t>
            </a:r>
            <a:r>
              <a:rPr lang="ko-KR" altLang="en-US"/>
              <a:t>년대부터 </a:t>
            </a:r>
            <a:r>
              <a:rPr lang="en-US" altLang="ko-KR"/>
              <a:t>2000</a:t>
            </a:r>
            <a:r>
              <a:rPr lang="ko-KR" altLang="en-US"/>
              <a:t>년 초반까지 사용자 및 데스크톱</a:t>
            </a:r>
            <a:r>
              <a:rPr lang="en-US" altLang="ko-KR"/>
              <a:t>/</a:t>
            </a:r>
            <a:r>
              <a:rPr lang="ko-KR" altLang="en-US"/>
              <a:t>서버 환경을 아우르며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리눅스 대중화를 이끌었던 초창기 사용 리눅스의 원조</a:t>
            </a:r>
            <a:endParaRPr lang="en-US" altLang="ko-KR"/>
          </a:p>
          <a:p>
            <a:pPr lvl="1"/>
            <a:r>
              <a:rPr lang="ko-KR" altLang="en-US"/>
              <a:t>개인 및 전문가용</a:t>
            </a:r>
            <a:endParaRPr lang="en-US" altLang="ko-KR"/>
          </a:p>
          <a:p>
            <a:pPr lvl="2"/>
            <a:r>
              <a:rPr lang="ko-KR" altLang="en-US"/>
              <a:t>초기에 일반 사용자들이 자유롭게 다운로드하여 설치할 수 있었던 패키지 형태</a:t>
            </a:r>
            <a:endParaRPr lang="en-US" altLang="ko-KR"/>
          </a:p>
          <a:p>
            <a:pPr lvl="1"/>
            <a:r>
              <a:rPr lang="ko-KR" altLang="en-US"/>
              <a:t>레드햇의 전환점</a:t>
            </a:r>
            <a:endParaRPr lang="en-US" altLang="ko-KR"/>
          </a:p>
          <a:p>
            <a:pPr lvl="2"/>
            <a:r>
              <a:rPr lang="ko-KR" altLang="en-US"/>
              <a:t>레드햇이 성장하면서 기업 고객들의 요구에 집중하기 위해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개인용 무료 버전과 기업용 유로 버전을 불리해 필요성을 느낌</a:t>
            </a:r>
            <a:endParaRPr lang="en-US" altLang="ko-KR"/>
          </a:p>
          <a:p>
            <a:pPr lvl="1"/>
            <a:r>
              <a:rPr lang="ko-KR" altLang="en-US"/>
              <a:t>단종</a:t>
            </a:r>
            <a:endParaRPr lang="en-US" altLang="ko-KR"/>
          </a:p>
          <a:p>
            <a:pPr lvl="2"/>
            <a:r>
              <a:rPr lang="ko-KR" altLang="en-US"/>
              <a:t>레드햇은 </a:t>
            </a:r>
            <a:r>
              <a:rPr lang="en-US" altLang="ko-KR"/>
              <a:t>2003</a:t>
            </a:r>
            <a:r>
              <a:rPr lang="ko-KR" altLang="en-US"/>
              <a:t>년에 레드햇 리눅스 개발을 공식 중단</a:t>
            </a:r>
            <a:endParaRPr lang="en-US" altLang="ko-KR"/>
          </a:p>
          <a:p>
            <a:pPr lvl="2"/>
            <a:r>
              <a:rPr lang="ko-KR" altLang="en-US"/>
              <a:t>기업용 시장에 특화된 레드햇 엔터프라이즈</a:t>
            </a:r>
            <a:r>
              <a:rPr lang="en-US" altLang="ko-KR"/>
              <a:t>(RHEL)</a:t>
            </a:r>
            <a:r>
              <a:rPr lang="ko-KR" altLang="en-US"/>
              <a:t> 리눅스와 </a:t>
            </a:r>
            <a:br>
              <a:rPr lang="en-US" altLang="ko-KR"/>
            </a:br>
            <a:r>
              <a:rPr lang="ko-KR" altLang="en-US"/>
              <a:t>실험용 페도라</a:t>
            </a:r>
            <a:r>
              <a:rPr lang="en-US" altLang="ko-KR"/>
              <a:t>(Fedor)</a:t>
            </a:r>
            <a:r>
              <a:rPr lang="ko-KR" altLang="en-US"/>
              <a:t> 리눅스로 완전 분리</a:t>
            </a:r>
            <a:endParaRPr lang="en-US" altLang="ko-KR"/>
          </a:p>
          <a:p>
            <a:pPr lvl="2"/>
            <a:r>
              <a:rPr lang="ko-KR" altLang="en-US"/>
              <a:t>현재 순수한 의미의 </a:t>
            </a:r>
            <a:r>
              <a:rPr lang="en-US" altLang="ko-KR"/>
              <a:t>‘Red Hat Linux’ </a:t>
            </a:r>
            <a:r>
              <a:rPr lang="ko-KR" altLang="en-US"/>
              <a:t>제품은 존재하지 않음</a:t>
            </a:r>
            <a:endParaRPr lang="en-US" altLang="ko-KR"/>
          </a:p>
          <a:p>
            <a:pPr lvl="3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EA564-A47B-D3B8-786D-F8AB18C5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6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33942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216DB-C819-7D59-70F6-2966BD68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페도라 리눅스</a:t>
            </a:r>
            <a:r>
              <a:rPr lang="en-US" altLang="ko-KR"/>
              <a:t>(Fedora Linux)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0EAF23-498A-4B7B-ED7F-64BC3AD12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페도라 리눅스 </a:t>
            </a:r>
            <a:r>
              <a:rPr lang="en-US" altLang="ko-KR"/>
              <a:t>– </a:t>
            </a:r>
            <a:r>
              <a:rPr lang="ko-KR" altLang="en-US"/>
              <a:t>인기 엄청났죠</a:t>
            </a:r>
            <a:r>
              <a:rPr lang="en-US" altLang="ko-KR"/>
              <a:t>, 2000</a:t>
            </a:r>
            <a:r>
              <a:rPr lang="ko-KR" altLang="en-US"/>
              <a:t>년대를 주름잡던 페도라 리눅스</a:t>
            </a:r>
            <a:endParaRPr lang="en-US" altLang="ko-KR"/>
          </a:p>
          <a:p>
            <a:pPr lvl="1"/>
            <a:r>
              <a:rPr lang="ko-KR" altLang="en-US"/>
              <a:t>레드햇</a:t>
            </a:r>
            <a:r>
              <a:rPr lang="en-US" altLang="ko-KR"/>
              <a:t>(Red</a:t>
            </a:r>
            <a:r>
              <a:rPr lang="ko-KR" altLang="en-US"/>
              <a:t> </a:t>
            </a:r>
            <a:r>
              <a:rPr lang="en-US" altLang="ko-KR"/>
              <a:t>Hat)</a:t>
            </a:r>
            <a:r>
              <a:rPr lang="ko-KR" altLang="en-US"/>
              <a:t>이 후원하고 커뮤니티가 중심이 되어 개발하는 최신 기술 </a:t>
            </a:r>
            <a:br>
              <a:rPr lang="en-US" altLang="ko-KR"/>
            </a:br>
            <a:r>
              <a:rPr lang="ko-KR" altLang="en-US"/>
              <a:t>테스트성격의 리눅스 베포판</a:t>
            </a:r>
            <a:endParaRPr lang="en-US" altLang="ko-KR"/>
          </a:p>
          <a:p>
            <a:pPr lvl="1"/>
            <a:r>
              <a:rPr lang="ko-KR" altLang="en-US"/>
              <a:t>최신 기술 선도</a:t>
            </a:r>
            <a:endParaRPr lang="en-US" altLang="ko-KR"/>
          </a:p>
          <a:p>
            <a:pPr lvl="2"/>
            <a:r>
              <a:rPr lang="ko-KR" altLang="en-US"/>
              <a:t>리눅스 커널</a:t>
            </a:r>
            <a:r>
              <a:rPr lang="en-US" altLang="ko-KR"/>
              <a:t>, </a:t>
            </a:r>
            <a:r>
              <a:rPr lang="ko-KR" altLang="en-US"/>
              <a:t>그놈</a:t>
            </a:r>
            <a:r>
              <a:rPr lang="en-US" altLang="ko-KR"/>
              <a:t>(GNOME) </a:t>
            </a:r>
            <a:r>
              <a:rPr lang="ko-KR" altLang="en-US"/>
              <a:t>데스크톱 환경</a:t>
            </a:r>
            <a:r>
              <a:rPr lang="en-US" altLang="ko-KR"/>
              <a:t>, </a:t>
            </a:r>
            <a:r>
              <a:rPr lang="ko-KR" altLang="en-US"/>
              <a:t>최신 패키지</a:t>
            </a:r>
            <a:r>
              <a:rPr lang="en-US" altLang="ko-KR"/>
              <a:t>(</a:t>
            </a:r>
            <a:r>
              <a:rPr lang="ko-KR" altLang="en-US"/>
              <a:t>컴파일러</a:t>
            </a:r>
            <a:r>
              <a:rPr lang="en-US" altLang="ko-KR"/>
              <a:t>, </a:t>
            </a:r>
            <a:r>
              <a:rPr lang="ko-KR" altLang="en-US"/>
              <a:t>라이브러리 등</a:t>
            </a:r>
            <a:r>
              <a:rPr lang="en-US" altLang="ko-KR"/>
              <a:t>)</a:t>
            </a:r>
            <a:r>
              <a:rPr lang="ko-KR" altLang="en-US"/>
              <a:t>가 가장 빠르게 반영</a:t>
            </a:r>
            <a:endParaRPr lang="en-US" altLang="ko-KR"/>
          </a:p>
          <a:p>
            <a:pPr lvl="2"/>
            <a:r>
              <a:rPr lang="ko-KR" altLang="en-US"/>
              <a:t>레드햇 엔터프라이즈 기술들이 먼저 적용되는 경우 대부분</a:t>
            </a:r>
            <a:endParaRPr lang="en-US" altLang="ko-KR"/>
          </a:p>
          <a:p>
            <a:pPr lvl="1"/>
            <a:r>
              <a:rPr lang="ko-KR" altLang="en-US"/>
              <a:t>개발자 친화적</a:t>
            </a:r>
            <a:endParaRPr lang="en-US" altLang="ko-KR"/>
          </a:p>
          <a:p>
            <a:pPr lvl="2"/>
            <a:r>
              <a:rPr lang="ko-KR" altLang="en-US"/>
              <a:t>최신 개발 환경을 구축하기에 적합</a:t>
            </a:r>
            <a:endParaRPr lang="en-US" altLang="ko-KR"/>
          </a:p>
          <a:p>
            <a:pPr lvl="2"/>
            <a:r>
              <a:rPr lang="ko-KR" altLang="en-US"/>
              <a:t>데스크톱 및 워크스테이션 용도로 인기가 높음</a:t>
            </a:r>
            <a:endParaRPr lang="en-US" altLang="ko-KR"/>
          </a:p>
          <a:p>
            <a:pPr lvl="1"/>
            <a:r>
              <a:rPr lang="ko-KR" altLang="en-US"/>
              <a:t>패키지 관리</a:t>
            </a:r>
            <a:endParaRPr lang="en-US" altLang="ko-KR"/>
          </a:p>
          <a:p>
            <a:pPr lvl="2"/>
            <a:r>
              <a:rPr lang="en-US" altLang="ko-KR"/>
              <a:t>dnf </a:t>
            </a:r>
            <a:r>
              <a:rPr lang="ko-KR" altLang="en-US"/>
              <a:t>패키지 관리자를 사용하며</a:t>
            </a:r>
            <a:r>
              <a:rPr lang="en-US" altLang="ko-KR"/>
              <a:t>, 6</a:t>
            </a:r>
            <a:r>
              <a:rPr lang="ko-KR" altLang="en-US"/>
              <a:t>개월 주기로 빠르게 새로운 버전 출시</a:t>
            </a:r>
            <a:endParaRPr lang="en-US" altLang="ko-KR"/>
          </a:p>
          <a:p>
            <a:pPr lvl="1"/>
            <a:r>
              <a:rPr lang="ko-KR" altLang="en-US"/>
              <a:t>페도라 유저들의 특징</a:t>
            </a:r>
            <a:endParaRPr lang="en-US" altLang="ko-KR"/>
          </a:p>
          <a:p>
            <a:pPr lvl="2"/>
            <a:r>
              <a:rPr lang="ko-KR" altLang="en-US"/>
              <a:t>보통 페도라의 보안패치및 업데이트 제공 기간이 </a:t>
            </a:r>
            <a:r>
              <a:rPr lang="en-US" altLang="ko-KR"/>
              <a:t>1</a:t>
            </a:r>
            <a:r>
              <a:rPr lang="ko-KR" altLang="en-US"/>
              <a:t>년</a:t>
            </a:r>
            <a:endParaRPr lang="en-US" altLang="ko-KR"/>
          </a:p>
          <a:p>
            <a:pPr lvl="2"/>
            <a:r>
              <a:rPr lang="ko-KR" altLang="en-US"/>
              <a:t>리눅스 학습 </a:t>
            </a:r>
            <a:r>
              <a:rPr lang="en-US" altLang="ko-KR"/>
              <a:t>- </a:t>
            </a:r>
            <a:r>
              <a:rPr lang="ko-KR" altLang="en-US"/>
              <a:t>안정성을 추구하는 방법으로 최신 버전보다 한 단계 낮게 사용</a:t>
            </a:r>
            <a:endParaRPr lang="en-US" altLang="ko-KR"/>
          </a:p>
          <a:p>
            <a:pPr lvl="2"/>
            <a:r>
              <a:rPr lang="ko-KR" altLang="en-US"/>
              <a:t>프로젝트 진행 </a:t>
            </a:r>
            <a:r>
              <a:rPr lang="en-US" altLang="ko-KR"/>
              <a:t>– </a:t>
            </a:r>
            <a:r>
              <a:rPr lang="ko-KR" altLang="en-US"/>
              <a:t>로키 리눅스 사용으로 안정성 유지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8BB21-184C-D89F-9427-20CABD8C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7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876919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68010-81D0-FD66-EA59-FD7DBDD0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100"/>
              <a:t>레드햇 엔터프라이즈 리눅스</a:t>
            </a:r>
            <a:r>
              <a:rPr lang="en-US" altLang="ko-KR" sz="2100"/>
              <a:t>(Red Hat Enterprise Linux, RHEL)</a:t>
            </a:r>
            <a:endParaRPr lang="ko-KR" altLang="en-US" sz="21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CBC79-0A13-9ABA-29A5-BD559749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레드햇 엔터프라이즈 리눅스</a:t>
            </a:r>
            <a:r>
              <a:rPr lang="en-US" altLang="ko-KR"/>
              <a:t> – </a:t>
            </a:r>
            <a:r>
              <a:rPr lang="ko-KR" altLang="en-US"/>
              <a:t>현재의 표준 엔터프라이즈 리눅스</a:t>
            </a:r>
            <a:endParaRPr lang="en-US" altLang="ko-KR"/>
          </a:p>
          <a:p>
            <a:pPr lvl="1"/>
            <a:r>
              <a:rPr lang="ko-KR" altLang="en-US"/>
              <a:t>레드햇이 기업</a:t>
            </a:r>
            <a:r>
              <a:rPr lang="en-US" altLang="ko-KR"/>
              <a:t>, </a:t>
            </a:r>
            <a:r>
              <a:rPr lang="ko-KR" altLang="en-US"/>
              <a:t>공공기관</a:t>
            </a:r>
            <a:r>
              <a:rPr lang="en-US" altLang="ko-KR"/>
              <a:t>, </a:t>
            </a:r>
            <a:r>
              <a:rPr lang="ko-KR" altLang="en-US"/>
              <a:t>금융권 등 핵심 인프라와 서버 환경을 위해</a:t>
            </a:r>
            <a:br>
              <a:rPr lang="en-US" altLang="ko-KR"/>
            </a:br>
            <a:r>
              <a:rPr lang="ko-KR" altLang="en-US"/>
              <a:t>상업용으로 개발 공급하는 플래그십 엔터프라이즈 리눅스</a:t>
            </a:r>
            <a:endParaRPr lang="en-US" altLang="ko-KR"/>
          </a:p>
          <a:p>
            <a:pPr lvl="1"/>
            <a:r>
              <a:rPr lang="ko-KR" altLang="en-US"/>
              <a:t>강력한 안정성과 장기 지원</a:t>
            </a:r>
            <a:endParaRPr lang="en-US" altLang="ko-KR"/>
          </a:p>
          <a:p>
            <a:pPr lvl="2"/>
            <a:r>
              <a:rPr lang="ko-KR" altLang="en-US"/>
              <a:t>하나의 마이너 버전에 대한 수년</a:t>
            </a:r>
            <a:r>
              <a:rPr lang="en-US" altLang="ko-KR"/>
              <a:t>(</a:t>
            </a:r>
            <a:r>
              <a:rPr lang="ko-KR" altLang="en-US"/>
              <a:t>보통 </a:t>
            </a:r>
            <a:r>
              <a:rPr lang="en-US" altLang="ko-KR"/>
              <a:t>10</a:t>
            </a:r>
            <a:r>
              <a:rPr lang="ko-KR" altLang="en-US"/>
              <a:t>년</a:t>
            </a:r>
            <a:r>
              <a:rPr lang="en-US" altLang="ko-KR"/>
              <a:t>)</a:t>
            </a:r>
            <a:r>
              <a:rPr lang="ko-KR" altLang="en-US"/>
              <a:t>에 걸친 장기 지원</a:t>
            </a:r>
            <a:r>
              <a:rPr lang="en-US" altLang="ko-KR"/>
              <a:t>(LTS)</a:t>
            </a:r>
            <a:r>
              <a:rPr lang="ko-KR" altLang="en-US"/>
              <a:t>을 제공</a:t>
            </a:r>
            <a:endParaRPr lang="en-US" altLang="ko-KR"/>
          </a:p>
          <a:p>
            <a:pPr lvl="2"/>
            <a:r>
              <a:rPr lang="ko-KR" altLang="en-US"/>
              <a:t>수많은 </a:t>
            </a:r>
            <a:r>
              <a:rPr lang="en-US" altLang="ko-KR"/>
              <a:t>QA(</a:t>
            </a:r>
            <a:r>
              <a:rPr lang="ko-KR" altLang="en-US"/>
              <a:t>품질 검증</a:t>
            </a:r>
            <a:r>
              <a:rPr lang="en-US" altLang="ko-KR"/>
              <a:t>)</a:t>
            </a:r>
            <a:r>
              <a:rPr lang="ko-KR" altLang="en-US"/>
              <a:t>와 철저한 보안 패치를 거쳐 다운타임을 최소화</a:t>
            </a:r>
            <a:endParaRPr lang="en-US" altLang="ko-KR"/>
          </a:p>
          <a:p>
            <a:pPr lvl="1"/>
            <a:r>
              <a:rPr lang="ko-KR" altLang="en-US"/>
              <a:t>사용 핵심 모델</a:t>
            </a:r>
            <a:endParaRPr lang="en-US" altLang="ko-KR"/>
          </a:p>
          <a:p>
            <a:pPr lvl="2"/>
            <a:r>
              <a:rPr lang="en-US" altLang="ko-KR"/>
              <a:t>OS </a:t>
            </a:r>
            <a:r>
              <a:rPr lang="ko-KR" altLang="en-US"/>
              <a:t>자체는 소스 코드가 공개되어 무료로 사용 가능</a:t>
            </a:r>
            <a:endParaRPr lang="en-US" altLang="ko-KR"/>
          </a:p>
          <a:p>
            <a:pPr lvl="2"/>
            <a:r>
              <a:rPr lang="ko-KR" altLang="en-US"/>
              <a:t>레드햇으로부터 공식 기술 지원</a:t>
            </a:r>
            <a:r>
              <a:rPr lang="en-US" altLang="ko-KR"/>
              <a:t>, </a:t>
            </a:r>
            <a:r>
              <a:rPr lang="ko-KR" altLang="en-US"/>
              <a:t>인증된 소프트웨어 패키지</a:t>
            </a:r>
            <a:r>
              <a:rPr lang="en-US" altLang="ko-KR"/>
              <a:t>, </a:t>
            </a:r>
            <a:r>
              <a:rPr lang="ko-KR" altLang="en-US"/>
              <a:t>보안 업데이트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컨설팅을 받으려면 유로 구독을 이용해야 함</a:t>
            </a:r>
            <a:endParaRPr lang="en-US" altLang="ko-KR"/>
          </a:p>
          <a:p>
            <a:pPr lvl="1"/>
            <a:r>
              <a:rPr lang="ko-KR" altLang="en-US"/>
              <a:t>엔터프라이즈 생태계</a:t>
            </a:r>
            <a:endParaRPr lang="en-US" altLang="ko-KR"/>
          </a:p>
          <a:p>
            <a:pPr lvl="2"/>
            <a:r>
              <a:rPr lang="ko-KR" altLang="en-US"/>
              <a:t>오라클</a:t>
            </a:r>
            <a:r>
              <a:rPr lang="en-US" altLang="ko-KR"/>
              <a:t>, SAP, IBM </a:t>
            </a:r>
            <a:r>
              <a:rPr lang="ko-KR" altLang="en-US"/>
              <a:t>등 글로벌 사용 소프트웨어와 하드웨어들과 공식 협력 맺은 </a:t>
            </a:r>
            <a:br>
              <a:rPr lang="en-US" altLang="ko-KR"/>
            </a:br>
            <a:r>
              <a:rPr lang="ko-KR" altLang="en-US"/>
              <a:t>표준 플랫폼</a:t>
            </a:r>
            <a:endParaRPr lang="en-US" altLang="ko-KR"/>
          </a:p>
          <a:p>
            <a:pPr lvl="1"/>
            <a:r>
              <a:rPr lang="ko-KR" altLang="en-US"/>
              <a:t>패키지 관리</a:t>
            </a:r>
            <a:endParaRPr lang="en-US" altLang="ko-KR"/>
          </a:p>
          <a:p>
            <a:pPr lvl="2"/>
            <a:r>
              <a:rPr lang="en-US" altLang="ko-KR"/>
              <a:t>RPM</a:t>
            </a:r>
            <a:r>
              <a:rPr lang="ko-KR" altLang="en-US"/>
              <a:t> 기반이며</a:t>
            </a:r>
            <a:r>
              <a:rPr lang="en-US" altLang="ko-KR"/>
              <a:t>, </a:t>
            </a:r>
            <a:r>
              <a:rPr lang="ko-KR" altLang="en-US"/>
              <a:t>엄격하게 검증된 </a:t>
            </a:r>
            <a:r>
              <a:rPr lang="en-US" altLang="ko-KR"/>
              <a:t>dnf </a:t>
            </a:r>
            <a:r>
              <a:rPr lang="ko-KR" altLang="en-US"/>
              <a:t>패키지 관리자 사용</a:t>
            </a:r>
            <a:endParaRPr lang="en-US" altLang="ko-KR"/>
          </a:p>
          <a:p>
            <a:pPr lvl="3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8A120-E57F-F10E-C7EF-A0F5FF63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8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05927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91E7F-82FC-623E-2038-9CBBEA4E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센토 </a:t>
            </a:r>
            <a:r>
              <a:rPr lang="en-US" altLang="ko-KR"/>
              <a:t>OS(CentOS Linux)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94E25-EA58-45F8-92D9-2D78616A4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센토 </a:t>
            </a:r>
            <a:r>
              <a:rPr lang="en-US" altLang="ko-KR"/>
              <a:t>OS – </a:t>
            </a:r>
            <a:r>
              <a:rPr lang="ko-KR" altLang="en-US"/>
              <a:t>갑작스럽게 이별고백</a:t>
            </a:r>
            <a:r>
              <a:rPr lang="en-US" altLang="ko-KR"/>
              <a:t> </a:t>
            </a:r>
            <a:r>
              <a:rPr lang="ko-KR" altLang="en-US"/>
              <a:t>센토 </a:t>
            </a:r>
            <a:r>
              <a:rPr lang="en-US" altLang="ko-KR"/>
              <a:t>OS</a:t>
            </a:r>
          </a:p>
          <a:p>
            <a:pPr lvl="1"/>
            <a:r>
              <a:rPr lang="en-US" altLang="ko-KR"/>
              <a:t>RHEL</a:t>
            </a:r>
            <a:r>
              <a:rPr lang="ko-KR" altLang="en-US"/>
              <a:t>의 소스 코드를 그대로 가져와 재빌드한 후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무료로 배포하던 다운스트림</a:t>
            </a:r>
            <a:r>
              <a:rPr lang="en-US" altLang="ko-KR"/>
              <a:t>(Downstream) </a:t>
            </a:r>
            <a:r>
              <a:rPr lang="ko-KR" altLang="en-US"/>
              <a:t>리눅스</a:t>
            </a:r>
            <a:endParaRPr lang="en-US" altLang="ko-KR"/>
          </a:p>
          <a:p>
            <a:pPr lvl="1"/>
            <a:r>
              <a:rPr lang="ko-KR" altLang="en-US"/>
              <a:t>레드햇이 상용 버전을 먼저 출시하면 그 뒤를 따라 똑같이 만들어 제공</a:t>
            </a:r>
            <a:endParaRPr lang="en-US" altLang="ko-KR"/>
          </a:p>
          <a:p>
            <a:pPr lvl="1"/>
            <a:r>
              <a:rPr lang="ko-KR" altLang="en-US"/>
              <a:t>완벽한 </a:t>
            </a:r>
            <a:r>
              <a:rPr lang="en-US" altLang="ko-KR"/>
              <a:t>REHL </a:t>
            </a:r>
            <a:r>
              <a:rPr lang="ko-KR" altLang="en-US"/>
              <a:t>호환성</a:t>
            </a:r>
            <a:endParaRPr lang="en-US" altLang="ko-KR"/>
          </a:p>
          <a:p>
            <a:pPr lvl="2"/>
            <a:r>
              <a:rPr lang="en-US" altLang="ko-KR"/>
              <a:t>REHL</a:t>
            </a:r>
            <a:r>
              <a:rPr lang="ko-KR" altLang="en-US"/>
              <a:t>과 </a:t>
            </a:r>
            <a:r>
              <a:rPr lang="en-US" altLang="ko-KR"/>
              <a:t>100% </a:t>
            </a:r>
            <a:r>
              <a:rPr lang="ko-KR" altLang="en-US"/>
              <a:t>동일한 바이너리 호환성을 가짐</a:t>
            </a:r>
            <a:endParaRPr lang="en-US" altLang="ko-KR"/>
          </a:p>
          <a:p>
            <a:pPr lvl="2"/>
            <a:r>
              <a:rPr lang="ko-KR" altLang="en-US"/>
              <a:t>비용을 내지 않고 엔터프라이즈급 서버를 구축하려는 기업들에게 사실상의 </a:t>
            </a:r>
            <a:br>
              <a:rPr lang="en-US" altLang="ko-KR"/>
            </a:br>
            <a:r>
              <a:rPr lang="ko-KR" altLang="en-US"/>
              <a:t>표준 엔터프라이즈 리눅스로 큰 인기</a:t>
            </a:r>
            <a:endParaRPr lang="en-US" altLang="ko-KR"/>
          </a:p>
          <a:p>
            <a:pPr lvl="1"/>
            <a:r>
              <a:rPr lang="ko-KR" altLang="en-US"/>
              <a:t>안정성과 중심</a:t>
            </a:r>
            <a:endParaRPr lang="en-US" altLang="ko-KR"/>
          </a:p>
          <a:p>
            <a:pPr lvl="2"/>
            <a:r>
              <a:rPr lang="ko-KR" altLang="en-US"/>
              <a:t>이미 검증된 </a:t>
            </a:r>
            <a:r>
              <a:rPr lang="en-US" altLang="ko-KR"/>
              <a:t>REHL</a:t>
            </a:r>
            <a:r>
              <a:rPr lang="ko-KR" altLang="en-US"/>
              <a:t>의 코드를 기반으로 했기 떄문에 운영 환경에서 예측 가능하고 </a:t>
            </a:r>
            <a:br>
              <a:rPr lang="en-US" altLang="ko-KR"/>
            </a:br>
            <a:r>
              <a:rPr lang="ko-KR" altLang="en-US"/>
              <a:t>매우 안정적</a:t>
            </a:r>
            <a:endParaRPr lang="en-US" altLang="ko-KR"/>
          </a:p>
          <a:p>
            <a:pPr lvl="1"/>
            <a:r>
              <a:rPr lang="ko-KR" altLang="en-US"/>
              <a:t>지원 종료</a:t>
            </a:r>
            <a:endParaRPr lang="en-US" altLang="ko-KR"/>
          </a:p>
          <a:p>
            <a:pPr lvl="2"/>
            <a:r>
              <a:rPr lang="ko-KR" altLang="en-US"/>
              <a:t>레드햇 정책 변경으로 인해 센토 </a:t>
            </a:r>
            <a:r>
              <a:rPr lang="en-US" altLang="ko-KR"/>
              <a:t>OS</a:t>
            </a:r>
            <a:r>
              <a:rPr lang="ko-KR" altLang="en-US"/>
              <a:t> </a:t>
            </a:r>
            <a:r>
              <a:rPr lang="en-US" altLang="ko-KR"/>
              <a:t>8</a:t>
            </a:r>
            <a:r>
              <a:rPr lang="ko-KR" altLang="en-US"/>
              <a:t>은 </a:t>
            </a:r>
            <a:r>
              <a:rPr lang="en-US" altLang="ko-KR"/>
              <a:t>2021</a:t>
            </a:r>
            <a:r>
              <a:rPr lang="ko-KR" altLang="en-US"/>
              <a:t>년 말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센토 </a:t>
            </a:r>
            <a:r>
              <a:rPr lang="en-US" altLang="ko-KR"/>
              <a:t>OS 7</a:t>
            </a:r>
            <a:r>
              <a:rPr lang="ko-KR" altLang="en-US"/>
              <a:t>은 </a:t>
            </a:r>
            <a:r>
              <a:rPr lang="en-US" altLang="ko-KR"/>
              <a:t>2024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월에 공식지원이 완전히 종료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9F192-61BA-10DB-7FAD-D3BAF9AD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9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418355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BD0E1-0417-1CDD-60F5-4B4E5201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센토 </a:t>
            </a:r>
            <a:r>
              <a:rPr lang="en-US" altLang="ko-KR"/>
              <a:t>OS </a:t>
            </a:r>
            <a:r>
              <a:rPr lang="ko-KR" altLang="en-US"/>
              <a:t>스트림</a:t>
            </a:r>
            <a:r>
              <a:rPr lang="en-US" altLang="ko-KR"/>
              <a:t>(CentOS Stream)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C1944-275F-D0CF-16A3-7311962A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센토 </a:t>
            </a:r>
            <a:r>
              <a:rPr lang="en-US" altLang="ko-KR"/>
              <a:t>OS </a:t>
            </a:r>
            <a:r>
              <a:rPr lang="ko-KR" altLang="en-US"/>
              <a:t>스트림 </a:t>
            </a:r>
            <a:r>
              <a:rPr lang="en-US" altLang="ko-KR"/>
              <a:t>– </a:t>
            </a:r>
            <a:r>
              <a:rPr lang="ko-KR" altLang="en-US"/>
              <a:t>이도저도 아닌 </a:t>
            </a:r>
            <a:r>
              <a:rPr lang="en-US" altLang="ko-KR"/>
              <a:t>OS</a:t>
            </a:r>
            <a:r>
              <a:rPr lang="ko-KR" altLang="en-US"/>
              <a:t>로 사용자들에게 외면 받다</a:t>
            </a:r>
            <a:endParaRPr lang="en-US" altLang="ko-KR"/>
          </a:p>
          <a:p>
            <a:pPr lvl="1"/>
            <a:r>
              <a:rPr lang="ko-KR" altLang="en-US"/>
              <a:t>기존 센토 </a:t>
            </a:r>
            <a:r>
              <a:rPr lang="en-US" altLang="ko-KR"/>
              <a:t>OS</a:t>
            </a:r>
            <a:r>
              <a:rPr lang="ko-KR" altLang="en-US"/>
              <a:t>의 개념을 완전히 뒤집어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레드햇 엔터프라이즈 리눅스이 정식 출시 전 다음에 나올 버전을 </a:t>
            </a:r>
            <a:br>
              <a:rPr lang="en-US" altLang="ko-KR"/>
            </a:br>
            <a:r>
              <a:rPr lang="ko-KR" altLang="en-US"/>
              <a:t>미리 테스트하고 개발하는 업스트림</a:t>
            </a:r>
            <a:r>
              <a:rPr lang="en-US" altLang="ko-KR"/>
              <a:t>(Upstream) </a:t>
            </a:r>
            <a:r>
              <a:rPr lang="ko-KR" altLang="en-US"/>
              <a:t>플랫폼</a:t>
            </a:r>
            <a:endParaRPr lang="en-US" altLang="ko-KR"/>
          </a:p>
          <a:p>
            <a:pPr lvl="1"/>
            <a:r>
              <a:rPr lang="ko-KR" altLang="en-US"/>
              <a:t>레드햇 엔터프라이즈 리눅스와 페도라 리눅스의 다리 역할</a:t>
            </a:r>
            <a:endParaRPr lang="en-US" altLang="ko-KR"/>
          </a:p>
          <a:p>
            <a:pPr lvl="2"/>
            <a:r>
              <a:rPr lang="ko-KR" altLang="en-US"/>
              <a:t>페도라 리눅스에서 검증된 기술이 레드랫 엔터프라이즈 리눅스에 들어가기전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최종적으로 통합되고 다듬는 리눅스</a:t>
            </a:r>
            <a:endParaRPr lang="en-US" altLang="ko-KR"/>
          </a:p>
          <a:p>
            <a:pPr lvl="1"/>
            <a:r>
              <a:rPr lang="ko-KR" altLang="en-US"/>
              <a:t>롤링 릴리스 성격</a:t>
            </a:r>
            <a:endParaRPr lang="en-US" altLang="ko-KR"/>
          </a:p>
          <a:p>
            <a:pPr lvl="2"/>
            <a:r>
              <a:rPr lang="ko-KR" altLang="en-US"/>
              <a:t>고정된 버전으로 몇 년마다 크게 업데이트되던 과거와 달리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지속적으로 패치와 업데이트가 반영되는 흐름</a:t>
            </a:r>
            <a:r>
              <a:rPr lang="en-US" altLang="ko-KR"/>
              <a:t>(Stream)</a:t>
            </a:r>
            <a:r>
              <a:rPr lang="ko-KR" altLang="en-US"/>
              <a:t>형태로 바뀜</a:t>
            </a:r>
            <a:endParaRPr lang="en-US" altLang="ko-KR"/>
          </a:p>
          <a:p>
            <a:pPr lvl="1"/>
            <a:r>
              <a:rPr lang="ko-KR" altLang="en-US"/>
              <a:t>위상의 변화</a:t>
            </a:r>
            <a:endParaRPr lang="en-US" altLang="ko-KR"/>
          </a:p>
          <a:p>
            <a:pPr lvl="2"/>
            <a:r>
              <a:rPr lang="ko-KR" altLang="en-US"/>
              <a:t>레드햇 엔터프라이즈 리눅스보다 살짝 앞서서 코드가 반영되기 때문에 </a:t>
            </a:r>
            <a:br>
              <a:rPr lang="en-US" altLang="ko-KR"/>
            </a:br>
            <a:r>
              <a:rPr lang="ko-KR" altLang="en-US"/>
              <a:t>엄밀히 말하면 </a:t>
            </a:r>
            <a:r>
              <a:rPr lang="en-US" altLang="ko-KR"/>
              <a:t>‘</a:t>
            </a:r>
            <a:r>
              <a:rPr lang="ko-KR" altLang="en-US"/>
              <a:t>레드햇 엔터프라이즈 리눅스의 복제품</a:t>
            </a:r>
            <a:r>
              <a:rPr lang="en-US" altLang="ko-KR"/>
              <a:t>＇</a:t>
            </a:r>
            <a:r>
              <a:rPr lang="ko-KR" altLang="en-US"/>
              <a:t>이 아닌 </a:t>
            </a:r>
            <a:br>
              <a:rPr lang="en-US" altLang="ko-KR"/>
            </a:br>
            <a:r>
              <a:rPr lang="en-US" altLang="ko-KR"/>
              <a:t>‘</a:t>
            </a:r>
            <a:r>
              <a:rPr lang="ko-KR" altLang="en-US"/>
              <a:t>미리보는 레드햇 엔터프라이즈 리눅스</a:t>
            </a:r>
            <a:r>
              <a:rPr lang="en-US" altLang="ko-KR"/>
              <a:t>’</a:t>
            </a:r>
            <a:r>
              <a:rPr lang="ko-KR" altLang="en-US"/>
              <a:t>으로 개발</a:t>
            </a:r>
            <a:r>
              <a:rPr lang="en-US" altLang="ko-KR"/>
              <a:t>/</a:t>
            </a:r>
            <a:r>
              <a:rPr lang="ko-KR" altLang="en-US"/>
              <a:t>테스트 </a:t>
            </a:r>
            <a:r>
              <a:rPr lang="en-US" altLang="ko-KR"/>
              <a:t>OS</a:t>
            </a:r>
            <a:r>
              <a:rPr lang="ko-KR" altLang="en-US"/>
              <a:t>에 가까워짐</a:t>
            </a:r>
            <a:endParaRPr lang="en-US" altLang="ko-KR"/>
          </a:p>
          <a:p>
            <a:pPr lvl="1"/>
            <a:r>
              <a:rPr lang="ko-KR" altLang="en-US"/>
              <a:t>패키지 관리</a:t>
            </a:r>
            <a:endParaRPr lang="en-US" altLang="ko-KR"/>
          </a:p>
          <a:p>
            <a:pPr lvl="2"/>
            <a:r>
              <a:rPr lang="ko-KR" altLang="en-US"/>
              <a:t>기존과 동일하게 </a:t>
            </a:r>
            <a:r>
              <a:rPr lang="en-US" altLang="ko-KR"/>
              <a:t>RPM </a:t>
            </a:r>
            <a:r>
              <a:rPr lang="ko-KR" altLang="en-US"/>
              <a:t>패키지와 </a:t>
            </a:r>
            <a:r>
              <a:rPr lang="en-US" altLang="ko-KR"/>
              <a:t>dnf </a:t>
            </a:r>
            <a:r>
              <a:rPr lang="ko-KR" altLang="en-US"/>
              <a:t>패키지 관리자 사용</a:t>
            </a:r>
            <a:endParaRPr lang="en-US" altLang="ko-KR"/>
          </a:p>
          <a:p>
            <a:pPr lvl="3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EE2A18-F626-6238-FE60-14945DCF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10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978273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DFFDD-F85E-E362-8212-73C11DE3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로키 리눅스</a:t>
            </a:r>
            <a:r>
              <a:rPr lang="en-US" altLang="ko-KR"/>
              <a:t>(Rocky Linux)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F6DEA-D7CF-A3D6-6798-8F324358F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900"/>
              <a:t>로키 리눅스 </a:t>
            </a:r>
            <a:r>
              <a:rPr lang="en-US" altLang="ko-KR" sz="1900"/>
              <a:t>– CentOS</a:t>
            </a:r>
            <a:r>
              <a:rPr lang="ko-KR" altLang="en-US" sz="1900"/>
              <a:t>의 배신과 레드햇 엔터프라이즈 리눅스에 대한 반격</a:t>
            </a:r>
            <a:endParaRPr lang="en-US" altLang="ko-KR" sz="1900"/>
          </a:p>
          <a:p>
            <a:pPr lvl="1"/>
            <a:r>
              <a:rPr lang="en-US" altLang="ko-KR"/>
              <a:t>CentOS</a:t>
            </a:r>
            <a:r>
              <a:rPr lang="ko-KR" altLang="en-US"/>
              <a:t>의 지원 중단 이후</a:t>
            </a:r>
            <a:r>
              <a:rPr lang="en-US" altLang="ko-KR"/>
              <a:t>, </a:t>
            </a:r>
            <a:r>
              <a:rPr lang="ko-KR" altLang="en-US"/>
              <a:t>레드햇 엔터프라이즈 리눅스와 소스 코드 수준에서 </a:t>
            </a:r>
            <a:r>
              <a:rPr lang="en-US" altLang="ko-KR"/>
              <a:t>1:1 </a:t>
            </a:r>
            <a:r>
              <a:rPr lang="ko-KR" altLang="en-US"/>
              <a:t>완벽 호환을 목표로 커뮤니티 주도 하에 만들어진 엔터프라이즈 리눅스</a:t>
            </a:r>
            <a:endParaRPr lang="en-US" altLang="ko-KR"/>
          </a:p>
          <a:p>
            <a:pPr lvl="1"/>
            <a:r>
              <a:rPr lang="ko-KR" altLang="en-US"/>
              <a:t>레드햇 엔터프라이즈 리눅스의 무료 대안</a:t>
            </a:r>
            <a:endParaRPr lang="en-US" altLang="ko-KR"/>
          </a:p>
          <a:p>
            <a:pPr lvl="2"/>
            <a:r>
              <a:rPr lang="ko-KR" altLang="en-US"/>
              <a:t>레드햇 엔터프라이즈 리눅스와 완전히 동일한 패키지 구도를 가지면서도 별도의 </a:t>
            </a:r>
            <a:br>
              <a:rPr lang="en-US" altLang="ko-KR"/>
            </a:br>
            <a:r>
              <a:rPr lang="ko-KR" altLang="en-US"/>
              <a:t>라이선스 비용 없이 사용으로 서버 환경에서 각광</a:t>
            </a:r>
            <a:endParaRPr lang="en-US" altLang="ko-KR"/>
          </a:p>
          <a:p>
            <a:pPr lvl="1"/>
            <a:r>
              <a:rPr lang="ko-KR" altLang="en-US"/>
              <a:t>장기 지원</a:t>
            </a:r>
            <a:endParaRPr lang="en-US" altLang="ko-KR"/>
          </a:p>
          <a:p>
            <a:pPr lvl="2"/>
            <a:r>
              <a:rPr lang="ko-KR" altLang="en-US"/>
              <a:t>레드햇 엔터프라이즈 라이프사이클을 따르므로 서버 운영체제로 매우 안정적</a:t>
            </a:r>
            <a:endParaRPr lang="en-US" altLang="ko-KR"/>
          </a:p>
          <a:p>
            <a:pPr lvl="1"/>
            <a:r>
              <a:rPr lang="ko-KR" altLang="en-US"/>
              <a:t>패키지 관리</a:t>
            </a:r>
            <a:endParaRPr lang="en-US" altLang="ko-KR"/>
          </a:p>
          <a:p>
            <a:pPr lvl="2"/>
            <a:r>
              <a:rPr lang="ko-KR" altLang="en-US"/>
              <a:t>레드햇 엔터프라이즈 리눅스와 동일하게 </a:t>
            </a:r>
            <a:r>
              <a:rPr lang="en-US" altLang="ko-KR"/>
              <a:t>RPM </a:t>
            </a:r>
            <a:r>
              <a:rPr lang="ko-KR" altLang="en-US"/>
              <a:t>및 </a:t>
            </a:r>
            <a:r>
              <a:rPr lang="en-US" altLang="ko-KR"/>
              <a:t>dnf</a:t>
            </a:r>
            <a:r>
              <a:rPr lang="ko-KR" altLang="en-US"/>
              <a:t>를 사용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93F12-6AE6-4761-E7F1-B4ED38C2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11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232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12C40-77C0-CB09-9AB1-D305361D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데비안 리눅스</a:t>
            </a:r>
            <a:r>
              <a:rPr lang="en-US" altLang="ko-KR"/>
              <a:t>(Debian Linux)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4AEF4-2977-A171-1BB3-E2724202A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데비안</a:t>
            </a:r>
            <a:r>
              <a:rPr lang="ko-KR" altLang="en-US" dirty="0"/>
              <a:t> 리눅스 </a:t>
            </a:r>
            <a:r>
              <a:rPr lang="en-US" altLang="ko-KR" dirty="0"/>
              <a:t>– </a:t>
            </a:r>
            <a:r>
              <a:rPr lang="ko-KR" altLang="en-US" dirty="0"/>
              <a:t>제가 리눅스였고</a:t>
            </a:r>
            <a:r>
              <a:rPr lang="en-US" altLang="ko-KR" dirty="0"/>
              <a:t>, </a:t>
            </a:r>
            <a:r>
              <a:rPr lang="ko-KR" altLang="en-US" dirty="0" err="1"/>
              <a:t>데비안</a:t>
            </a:r>
            <a:r>
              <a:rPr lang="ko-KR" altLang="en-US" dirty="0"/>
              <a:t> 자체가 리눅스였죠</a:t>
            </a:r>
            <a:r>
              <a:rPr lang="en-US" altLang="ko-KR" dirty="0"/>
              <a:t>…</a:t>
            </a:r>
          </a:p>
          <a:p>
            <a:pPr lvl="1"/>
            <a:r>
              <a:rPr lang="ko-KR" altLang="en-US" dirty="0"/>
              <a:t>우분투의 모태가 되는 배포판으로</a:t>
            </a:r>
            <a:r>
              <a:rPr lang="en-US" altLang="ko-KR" dirty="0"/>
              <a:t>, </a:t>
            </a:r>
            <a:r>
              <a:rPr lang="ko-KR" altLang="en-US" dirty="0"/>
              <a:t>순수 커뮤니티에 의해 </a:t>
            </a:r>
            <a:r>
              <a:rPr lang="ko-KR" altLang="en-US" dirty="0" err="1"/>
              <a:t>유지보수되는</a:t>
            </a:r>
            <a:br>
              <a:rPr lang="en-US" altLang="ko-KR" dirty="0"/>
            </a:br>
            <a:r>
              <a:rPr lang="ko-KR" altLang="en-US" dirty="0"/>
              <a:t>가장 역사 깊고 전통 있는 리눅스 중 하나</a:t>
            </a:r>
            <a:endParaRPr lang="en-US" altLang="ko-KR" dirty="0"/>
          </a:p>
          <a:p>
            <a:pPr lvl="1"/>
            <a:r>
              <a:rPr lang="ko-KR" altLang="en-US" dirty="0"/>
              <a:t>철저한 안정성과  자유 소프트웨어 정신</a:t>
            </a:r>
            <a:endParaRPr lang="en-US" altLang="ko-KR" dirty="0"/>
          </a:p>
          <a:p>
            <a:pPr lvl="2"/>
            <a:r>
              <a:rPr lang="ko-KR" altLang="en-US" dirty="0"/>
              <a:t>패키지가 시스템에 통합되기 전 매우 엄격하고 보수적인 테스트를 거치기 때문에</a:t>
            </a:r>
            <a:br>
              <a:rPr lang="en-US" altLang="ko-KR" dirty="0"/>
            </a:br>
            <a:r>
              <a:rPr lang="ko-KR" altLang="en-US" dirty="0"/>
              <a:t>서버 다운될 일이 거의 없을 정도로 극도로 안정</a:t>
            </a:r>
            <a:endParaRPr lang="en-US" altLang="ko-KR" dirty="0"/>
          </a:p>
          <a:p>
            <a:pPr lvl="1"/>
            <a:r>
              <a:rPr lang="ko-KR" altLang="en-US" dirty="0"/>
              <a:t>우분투의 뿌리</a:t>
            </a:r>
            <a:endParaRPr lang="en-US" altLang="ko-KR" dirty="0"/>
          </a:p>
          <a:p>
            <a:pPr lvl="2"/>
            <a:r>
              <a:rPr lang="ko-KR" altLang="en-US" dirty="0"/>
              <a:t>우분투의 비롯한 수많은 하위 배포한들의 기반이 되는 원조 역할</a:t>
            </a:r>
            <a:endParaRPr lang="en-US" altLang="ko-KR" dirty="0"/>
          </a:p>
          <a:p>
            <a:pPr lvl="1"/>
            <a:r>
              <a:rPr lang="ko-KR" altLang="en-US" dirty="0"/>
              <a:t>패키지 관리</a:t>
            </a:r>
            <a:endParaRPr lang="en-US" altLang="ko-KR" dirty="0"/>
          </a:p>
          <a:p>
            <a:pPr lvl="2"/>
            <a:r>
              <a:rPr lang="en-US" altLang="ko-KR" dirty="0"/>
              <a:t>apt </a:t>
            </a:r>
            <a:r>
              <a:rPr lang="ko-KR" altLang="en-US" dirty="0"/>
              <a:t>패키지 관리자를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F07DE-E3FB-4721-063B-508FC84E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12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11192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9AFE1-9D6A-DCF6-4624-9ADD2585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우분투 리눅스</a:t>
            </a:r>
            <a:r>
              <a:rPr lang="en-US" altLang="ko-KR"/>
              <a:t>(Ubuntu Linux)</a:t>
            </a:r>
            <a:r>
              <a:rPr lang="ko-KR" altLang="en-US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9C306-62D0-1485-646B-B8455D564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우분투 리눅스 </a:t>
            </a:r>
            <a:r>
              <a:rPr lang="en-US" altLang="ko-KR"/>
              <a:t>– </a:t>
            </a:r>
            <a:r>
              <a:rPr lang="ko-KR" altLang="en-US"/>
              <a:t>리눅스 배우시게요</a:t>
            </a:r>
            <a:r>
              <a:rPr lang="en-US" altLang="ko-KR"/>
              <a:t>? </a:t>
            </a:r>
            <a:r>
              <a:rPr lang="ko-KR" altLang="en-US"/>
              <a:t>그럼 우분투 배우셔야죠</a:t>
            </a:r>
            <a:r>
              <a:rPr lang="en-US" altLang="ko-KR"/>
              <a:t>!</a:t>
            </a:r>
          </a:p>
          <a:p>
            <a:pPr lvl="1"/>
            <a:r>
              <a:rPr lang="ko-KR" altLang="en-US"/>
              <a:t>캐노니컬</a:t>
            </a:r>
            <a:r>
              <a:rPr lang="en-US" altLang="ko-KR"/>
              <a:t>(Canonical)</a:t>
            </a:r>
            <a:r>
              <a:rPr lang="ko-KR" altLang="en-US"/>
              <a:t>에서 개발하여</a:t>
            </a:r>
            <a:r>
              <a:rPr lang="en-US" altLang="ko-KR"/>
              <a:t>, </a:t>
            </a:r>
            <a:r>
              <a:rPr lang="ko-KR" altLang="en-US"/>
              <a:t>전 세계에서 가자 대중적으로 널리 쓰이는 데스크톱 및 서버용 리눅스 배포한</a:t>
            </a:r>
            <a:endParaRPr lang="en-US" altLang="ko-KR"/>
          </a:p>
          <a:p>
            <a:pPr lvl="1"/>
            <a:r>
              <a:rPr lang="ko-KR" altLang="en-US"/>
              <a:t>방대한 사용자 커뮤니티</a:t>
            </a:r>
            <a:endParaRPr lang="en-US" altLang="ko-KR"/>
          </a:p>
          <a:p>
            <a:pPr lvl="2"/>
            <a:r>
              <a:rPr lang="ko-KR" altLang="en-US" sz="1500"/>
              <a:t>가장 자료가 많고 초보자가 접근하기 쉬워 리눅스 입문용</a:t>
            </a:r>
            <a:r>
              <a:rPr lang="en-US" altLang="ko-KR" sz="1500"/>
              <a:t>, AI/</a:t>
            </a:r>
            <a:r>
              <a:rPr lang="ko-KR" altLang="en-US" sz="1500"/>
              <a:t>딥러닝 개발 환경의 표준</a:t>
            </a:r>
            <a:endParaRPr lang="en-US" altLang="ko-KR" sz="1500"/>
          </a:p>
          <a:p>
            <a:pPr lvl="1"/>
            <a:r>
              <a:rPr lang="ko-KR" altLang="en-US" sz="1700"/>
              <a:t>패키지 관리</a:t>
            </a:r>
            <a:endParaRPr lang="en-US" altLang="ko-KR" sz="1700"/>
          </a:p>
          <a:p>
            <a:pPr lvl="2"/>
            <a:r>
              <a:rPr lang="ko-KR" altLang="en-US" sz="1500"/>
              <a:t>데비안 계열로 </a:t>
            </a:r>
            <a:r>
              <a:rPr lang="en-US" altLang="ko-KR" sz="1500"/>
              <a:t>apt </a:t>
            </a:r>
            <a:r>
              <a:rPr lang="ko-KR" altLang="en-US" sz="1500"/>
              <a:t>패키지를 관리자를 사용하며</a:t>
            </a:r>
            <a:r>
              <a:rPr lang="en-US" altLang="ko-KR" sz="1500"/>
              <a:t>, </a:t>
            </a:r>
            <a:r>
              <a:rPr lang="ko-KR" altLang="en-US" sz="1500"/>
              <a:t>자체적인 </a:t>
            </a:r>
            <a:r>
              <a:rPr lang="en-US" altLang="ko-KR" sz="1500"/>
              <a:t>deb</a:t>
            </a:r>
            <a:r>
              <a:rPr lang="ko-KR" altLang="en-US" sz="1500"/>
              <a:t> 및 스냅</a:t>
            </a:r>
            <a:r>
              <a:rPr lang="en-US" altLang="ko-KR" sz="1500"/>
              <a:t>(snap) </a:t>
            </a:r>
            <a:r>
              <a:rPr lang="ko-KR" altLang="en-US" sz="1500"/>
              <a:t>패키지 사용</a:t>
            </a:r>
            <a:endParaRPr lang="en-US" altLang="ko-KR" sz="1500"/>
          </a:p>
          <a:p>
            <a:pPr lvl="2"/>
            <a:r>
              <a:rPr lang="en-US" altLang="ko-KR" sz="1500"/>
              <a:t>dnf  </a:t>
            </a:r>
            <a:r>
              <a:rPr lang="en-US" altLang="ko-KR" sz="1500">
                <a:sym typeface="Wingdings" panose="05000000000000000000" pitchFamily="2" charset="2"/>
              </a:rPr>
              <a:t> </a:t>
            </a:r>
            <a:r>
              <a:rPr lang="ko-KR" altLang="en-US" sz="1500">
                <a:sym typeface="Wingdings" panose="05000000000000000000" pitchFamily="2" charset="2"/>
              </a:rPr>
              <a:t>패키지 설치 전 종속성및 의존성 검사 후 패키지 설치</a:t>
            </a:r>
            <a:r>
              <a:rPr lang="en-US" altLang="ko-KR" sz="1500">
                <a:sym typeface="Wingdings" panose="05000000000000000000" pitchFamily="2" charset="2"/>
              </a:rPr>
              <a:t>, </a:t>
            </a:r>
            <a:br>
              <a:rPr lang="en-US" altLang="ko-KR" sz="1500">
                <a:sym typeface="Wingdings" panose="05000000000000000000" pitchFamily="2" charset="2"/>
              </a:rPr>
            </a:br>
            <a:r>
              <a:rPr lang="ko-KR" altLang="en-US" sz="1500">
                <a:sym typeface="Wingdings" panose="05000000000000000000" pitchFamily="2" charset="2"/>
              </a:rPr>
              <a:t>만약 종속성 검사및 의존성 검사에서 에러발생시 설치 시작을 안 함</a:t>
            </a:r>
            <a:endParaRPr lang="en-US" altLang="ko-KR" sz="1500">
              <a:sym typeface="Wingdings" panose="05000000000000000000" pitchFamily="2" charset="2"/>
            </a:endParaRPr>
          </a:p>
          <a:p>
            <a:pPr lvl="2"/>
            <a:r>
              <a:rPr lang="en-US" altLang="ko-KR" sz="1500">
                <a:sym typeface="Wingdings" panose="05000000000000000000" pitchFamily="2" charset="2"/>
              </a:rPr>
              <a:t>apt</a:t>
            </a:r>
            <a:r>
              <a:rPr lang="ko-KR" altLang="en-US" sz="1500">
                <a:sym typeface="Wingdings" panose="05000000000000000000" pitchFamily="2" charset="2"/>
              </a:rPr>
              <a:t> </a:t>
            </a:r>
            <a:r>
              <a:rPr lang="en-US" altLang="ko-KR" sz="1500">
                <a:sym typeface="Wingdings" panose="05000000000000000000" pitchFamily="2" charset="2"/>
              </a:rPr>
              <a:t></a:t>
            </a:r>
            <a:r>
              <a:rPr lang="ko-KR" altLang="en-US" sz="1500">
                <a:sym typeface="Wingdings" panose="05000000000000000000" pitchFamily="2" charset="2"/>
              </a:rPr>
              <a:t> 패키지 설치 전 종속성및 의존성 검사가 없이 바로 패키지 설치로</a:t>
            </a:r>
            <a:br>
              <a:rPr lang="en-US" altLang="ko-KR" sz="1500">
                <a:sym typeface="Wingdings" panose="05000000000000000000" pitchFamily="2" charset="2"/>
              </a:rPr>
            </a:br>
            <a:r>
              <a:rPr lang="ko-KR" altLang="en-US" sz="1500">
                <a:sym typeface="Wingdings" panose="05000000000000000000" pitchFamily="2" charset="2"/>
              </a:rPr>
              <a:t>패키지 설치 및 관리에 많은 에러가 발생</a:t>
            </a:r>
            <a:endParaRPr lang="en-US" altLang="ko-KR" sz="1500">
              <a:sym typeface="Wingdings" panose="05000000000000000000" pitchFamily="2" charset="2"/>
            </a:endParaRPr>
          </a:p>
          <a:p>
            <a:pPr lvl="1"/>
            <a:r>
              <a:rPr lang="ko-KR" altLang="en-US" sz="1700">
                <a:sym typeface="Wingdings" panose="05000000000000000000" pitchFamily="2" charset="2"/>
              </a:rPr>
              <a:t>주기적 릴리스 </a:t>
            </a:r>
            <a:endParaRPr lang="en-US" altLang="ko-KR" sz="1700">
              <a:sym typeface="Wingdings" panose="05000000000000000000" pitchFamily="2" charset="2"/>
            </a:endParaRPr>
          </a:p>
          <a:p>
            <a:pPr lvl="2"/>
            <a:r>
              <a:rPr lang="en-US" altLang="ko-KR" sz="1500">
                <a:sym typeface="Wingdings" panose="05000000000000000000" pitchFamily="2" charset="2"/>
              </a:rPr>
              <a:t>2</a:t>
            </a:r>
            <a:r>
              <a:rPr lang="ko-KR" altLang="en-US" sz="1500">
                <a:sym typeface="Wingdings" panose="05000000000000000000" pitchFamily="2" charset="2"/>
              </a:rPr>
              <a:t>년마다 장기 지원</a:t>
            </a:r>
            <a:r>
              <a:rPr lang="en-US" altLang="ko-KR" sz="1500">
                <a:sym typeface="Wingdings" panose="05000000000000000000" pitchFamily="2" charset="2"/>
              </a:rPr>
              <a:t>(LTS) </a:t>
            </a:r>
            <a:r>
              <a:rPr lang="ko-KR" altLang="en-US" sz="1500">
                <a:sym typeface="Wingdings" panose="05000000000000000000" pitchFamily="2" charset="2"/>
              </a:rPr>
              <a:t>버전을 제공하여 안정성과 최신성을 조화롭게 유지</a:t>
            </a:r>
            <a:endParaRPr lang="en-US" altLang="ko-KR" sz="1500">
              <a:sym typeface="Wingdings" panose="05000000000000000000" pitchFamily="2" charset="2"/>
            </a:endParaRPr>
          </a:p>
          <a:p>
            <a:pPr lvl="1"/>
            <a:r>
              <a:rPr lang="ko-KR" altLang="en-US" sz="1700">
                <a:sym typeface="Wingdings" panose="05000000000000000000" pitchFamily="2" charset="2"/>
              </a:rPr>
              <a:t>레드햇 리눅스 계열과 우분투 리눅스 계열의 차이</a:t>
            </a:r>
            <a:endParaRPr lang="en-US" altLang="ko-KR" sz="1700">
              <a:sym typeface="Wingdings" panose="05000000000000000000" pitchFamily="2" charset="2"/>
            </a:endParaRPr>
          </a:p>
          <a:p>
            <a:pPr lvl="2"/>
            <a:r>
              <a:rPr lang="ko-KR" altLang="en-US" sz="1500">
                <a:sym typeface="Wingdings" panose="05000000000000000000" pitchFamily="2" charset="2"/>
              </a:rPr>
              <a:t>레드햇 리눅스 계열을 철저한 개발자 위주의 </a:t>
            </a:r>
            <a:r>
              <a:rPr lang="en-US" altLang="ko-KR" sz="1500">
                <a:sym typeface="Wingdings" panose="05000000000000000000" pitchFamily="2" charset="2"/>
              </a:rPr>
              <a:t>OS</a:t>
            </a:r>
            <a:r>
              <a:rPr lang="ko-KR" altLang="en-US" sz="1500">
                <a:sym typeface="Wingdings" panose="05000000000000000000" pitchFamily="2" charset="2"/>
              </a:rPr>
              <a:t>로 레드햇 리눅스 계열 </a:t>
            </a:r>
            <a:r>
              <a:rPr lang="en-US" altLang="ko-KR" sz="1500">
                <a:sym typeface="Wingdings" panose="05000000000000000000" pitchFamily="2" charset="2"/>
              </a:rPr>
              <a:t>OS</a:t>
            </a:r>
            <a:r>
              <a:rPr lang="ko-KR" altLang="en-US" sz="1500">
                <a:sym typeface="Wingdings" panose="05000000000000000000" pitchFamily="2" charset="2"/>
              </a:rPr>
              <a:t>를 사용하다</a:t>
            </a:r>
            <a:br>
              <a:rPr lang="en-US" altLang="ko-KR" sz="1500">
                <a:sym typeface="Wingdings" panose="05000000000000000000" pitchFamily="2" charset="2"/>
              </a:rPr>
            </a:br>
            <a:r>
              <a:rPr lang="ko-KR" altLang="en-US" sz="1500">
                <a:sym typeface="Wingdings" panose="05000000000000000000" pitchFamily="2" charset="2"/>
              </a:rPr>
              <a:t>우분투 리눅스 계열 사용하면 명령어부터 대부분 기능 사용에 어려움이 많음</a:t>
            </a:r>
            <a:endParaRPr lang="en-US" altLang="ko-KR" sz="1500">
              <a:sym typeface="Wingdings" panose="05000000000000000000" pitchFamily="2" charset="2"/>
            </a:endParaRPr>
          </a:p>
          <a:p>
            <a:pPr lvl="2"/>
            <a:r>
              <a:rPr lang="en-US" altLang="ko-KR" sz="1500">
                <a:sym typeface="Wingdings" panose="05000000000000000000" pitchFamily="2" charset="2"/>
              </a:rPr>
              <a:t>	</a:t>
            </a:r>
            <a:r>
              <a:rPr lang="ko-KR" altLang="en-US" sz="1500">
                <a:sym typeface="Wingdings" panose="05000000000000000000" pitchFamily="2" charset="2"/>
              </a:rPr>
              <a:t>리눅스를 처음 배우기 전 레드햇 리눅스 계열과 우분투 리눅스 계열을 배울지 생각이 필수</a:t>
            </a:r>
            <a:endParaRPr lang="en-US" altLang="ko-KR" sz="15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29D92-0B4B-D82D-6B34-70CE4D600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13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996421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8C5D8-8A35-FEE0-E4B7-950790C3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젠투 리눅스</a:t>
            </a:r>
            <a:r>
              <a:rPr lang="en-US" altLang="ko-KR"/>
              <a:t>(GenToo Linux)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31816-30E7-E621-0E19-1A52AD9C4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젠투 리눅스 </a:t>
            </a:r>
            <a:r>
              <a:rPr lang="en-US" altLang="ko-KR"/>
              <a:t>– </a:t>
            </a:r>
            <a:r>
              <a:rPr lang="ko-KR" altLang="en-US"/>
              <a:t>막내지만</a:t>
            </a:r>
            <a:r>
              <a:rPr lang="en-US" altLang="ko-KR"/>
              <a:t>… </a:t>
            </a:r>
            <a:r>
              <a:rPr lang="ko-KR" altLang="en-US"/>
              <a:t>사랑을 못 받았죠</a:t>
            </a:r>
            <a:r>
              <a:rPr lang="en-US" altLang="ko-KR"/>
              <a:t>…</a:t>
            </a:r>
          </a:p>
          <a:p>
            <a:pPr lvl="1"/>
            <a:r>
              <a:rPr lang="ko-KR" altLang="en-US"/>
              <a:t>소프트웨어를 미리 컴파일된 바이너리 형태로 제공하는 일반적인 배포판과 </a:t>
            </a:r>
            <a:br>
              <a:rPr lang="en-US" altLang="ko-KR"/>
            </a:br>
            <a:r>
              <a:rPr lang="ko-KR" altLang="en-US"/>
              <a:t>달리</a:t>
            </a:r>
            <a:r>
              <a:rPr lang="en-US" altLang="ko-KR"/>
              <a:t>, </a:t>
            </a:r>
            <a:r>
              <a:rPr lang="ko-KR" altLang="en-US"/>
              <a:t>사용자의 하드웨어 환경에 맞춰 소스 코드를 직접 다운로드 하여 컴파일</a:t>
            </a:r>
            <a:endParaRPr lang="en-US" altLang="ko-KR"/>
          </a:p>
          <a:p>
            <a:pPr lvl="1"/>
            <a:r>
              <a:rPr lang="en-US" altLang="ko-KR"/>
              <a:t>BSD</a:t>
            </a:r>
            <a:r>
              <a:rPr lang="ko-KR" altLang="en-US"/>
              <a:t>의 </a:t>
            </a:r>
            <a:r>
              <a:rPr lang="en-US" altLang="ko-KR"/>
              <a:t>Ports </a:t>
            </a:r>
            <a:r>
              <a:rPr lang="ko-KR" altLang="en-US"/>
              <a:t>시스템에서 영감을 받아 만들어짐</a:t>
            </a:r>
            <a:endParaRPr lang="en-US" altLang="ko-KR"/>
          </a:p>
          <a:p>
            <a:pPr lvl="1"/>
            <a:r>
              <a:rPr lang="ko-KR" altLang="en-US"/>
              <a:t>소스 기반 패키지 관리자</a:t>
            </a:r>
            <a:r>
              <a:rPr lang="en-US" altLang="ko-KR"/>
              <a:t>(Portage)</a:t>
            </a:r>
          </a:p>
          <a:p>
            <a:pPr lvl="2"/>
            <a:r>
              <a:rPr lang="ko-KR" altLang="en-US"/>
              <a:t>세계 최고 수준의 패키지 관리 시스템인 </a:t>
            </a:r>
            <a:r>
              <a:rPr lang="en-US" altLang="ko-KR"/>
              <a:t>Portage</a:t>
            </a:r>
            <a:r>
              <a:rPr lang="ko-KR" altLang="en-US"/>
              <a:t>를 사용하여 소프트웨어를 </a:t>
            </a:r>
            <a:br>
              <a:rPr lang="en-US" altLang="ko-KR"/>
            </a:br>
            <a:r>
              <a:rPr lang="ko-KR" altLang="en-US"/>
              <a:t>빌드</a:t>
            </a:r>
            <a:r>
              <a:rPr lang="en-US" altLang="ko-KR"/>
              <a:t>, </a:t>
            </a:r>
            <a:r>
              <a:rPr lang="ko-KR" altLang="en-US"/>
              <a:t>설치</a:t>
            </a:r>
            <a:r>
              <a:rPr lang="en-US" altLang="ko-KR"/>
              <a:t>, </a:t>
            </a:r>
            <a:r>
              <a:rPr lang="ko-KR" altLang="en-US"/>
              <a:t>관리</a:t>
            </a:r>
            <a:endParaRPr lang="en-US" altLang="ko-KR"/>
          </a:p>
          <a:p>
            <a:pPr lvl="1"/>
            <a:r>
              <a:rPr lang="ko-KR" altLang="en-US"/>
              <a:t>롤링 릴리즈</a:t>
            </a:r>
            <a:r>
              <a:rPr lang="en-US" altLang="ko-KR"/>
              <a:t>(Rolling Release) </a:t>
            </a:r>
            <a:r>
              <a:rPr lang="ko-KR" altLang="en-US"/>
              <a:t>성격</a:t>
            </a:r>
            <a:endParaRPr lang="en-US" altLang="ko-KR"/>
          </a:p>
          <a:p>
            <a:pPr lvl="2"/>
            <a:r>
              <a:rPr lang="ko-KR" altLang="en-US"/>
              <a:t>별도의 대규모 판올림 없이 패키지들이 항상 최신 상태로 유지</a:t>
            </a:r>
            <a:endParaRPr lang="en-US" altLang="ko-KR"/>
          </a:p>
          <a:p>
            <a:pPr lvl="1"/>
            <a:r>
              <a:rPr lang="ko-KR" altLang="en-US"/>
              <a:t>압도적인 빌드 시간과 학습 곡선</a:t>
            </a:r>
            <a:endParaRPr lang="en-US" altLang="ko-KR"/>
          </a:p>
          <a:p>
            <a:pPr lvl="2"/>
            <a:r>
              <a:rPr lang="ko-KR" altLang="en-US"/>
              <a:t>모든 것을 소스부터 컴파일하기 때문에 초기 설치와 대형 패키지 업데이트 시 막대한 컴파일 시간과 </a:t>
            </a:r>
            <a:r>
              <a:rPr lang="en-US" altLang="ko-KR"/>
              <a:t>CPU </a:t>
            </a:r>
            <a:r>
              <a:rPr lang="ko-KR" altLang="en-US"/>
              <a:t>자원이 소모</a:t>
            </a:r>
            <a:endParaRPr lang="en-US" altLang="ko-KR"/>
          </a:p>
          <a:p>
            <a:pPr lvl="2"/>
            <a:r>
              <a:rPr lang="ko-KR" altLang="en-US"/>
              <a:t>리눅스 커널</a:t>
            </a:r>
            <a:r>
              <a:rPr lang="en-US" altLang="ko-KR"/>
              <a:t>, </a:t>
            </a:r>
            <a:r>
              <a:rPr lang="ko-KR" altLang="en-US"/>
              <a:t>파일 시스템 구조에 대한 깊은 지식 요구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A3810-5E9A-5179-B43C-D3373BAD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14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25816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1A656-34E5-590C-7D7E-19111A64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시대별 리눅스 주요 특징및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77FCE-2FB9-7ECA-ADDC-E0266037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1990</a:t>
            </a:r>
            <a:r>
              <a:rPr lang="ko-KR" altLang="en-US"/>
              <a:t>년대 초중반</a:t>
            </a:r>
            <a:r>
              <a:rPr lang="en-US" altLang="ko-KR"/>
              <a:t> - </a:t>
            </a:r>
            <a:r>
              <a:rPr lang="ko-KR" altLang="en-US"/>
              <a:t>원시 및 클래식 리눅스의 탄생</a:t>
            </a:r>
            <a:endParaRPr lang="en-US" altLang="ko-KR"/>
          </a:p>
          <a:p>
            <a:pPr lvl="1"/>
            <a:r>
              <a:rPr lang="ko-KR" altLang="en-US"/>
              <a:t>슬랙웨이</a:t>
            </a:r>
            <a:r>
              <a:rPr lang="en-US" altLang="ko-KR"/>
              <a:t>(1993)</a:t>
            </a:r>
          </a:p>
          <a:p>
            <a:pPr lvl="2"/>
            <a:r>
              <a:rPr lang="ko-KR" altLang="en-US"/>
              <a:t>유닉스 철학을 그대로 이어받아 수동 설정과 투명성을 강조한 최초의 장수 배포판</a:t>
            </a:r>
            <a:endParaRPr lang="en-US" altLang="ko-KR"/>
          </a:p>
          <a:p>
            <a:pPr lvl="1"/>
            <a:r>
              <a:rPr lang="ko-KR" altLang="en-US"/>
              <a:t>데비안 리눅스</a:t>
            </a:r>
            <a:r>
              <a:rPr lang="en-US" altLang="ko-KR"/>
              <a:t>(1993)</a:t>
            </a:r>
          </a:p>
          <a:p>
            <a:pPr lvl="2"/>
            <a:r>
              <a:rPr lang="ko-KR" altLang="en-US"/>
              <a:t>순수 커뮤니티와 철저한 안정성을 검증을 모토로 삼아 후대 수많은 배포판의 뿌리</a:t>
            </a:r>
            <a:endParaRPr lang="en-US" altLang="ko-KR"/>
          </a:p>
          <a:p>
            <a:pPr lvl="1"/>
            <a:r>
              <a:rPr lang="ko-KR" altLang="en-US"/>
              <a:t>레드햇 리눅스</a:t>
            </a:r>
            <a:r>
              <a:rPr lang="en-US" altLang="ko-KR"/>
              <a:t>(1994)</a:t>
            </a:r>
          </a:p>
          <a:p>
            <a:pPr lvl="2"/>
            <a:r>
              <a:rPr lang="ko-KR" altLang="en-US"/>
              <a:t>패키지 관리자</a:t>
            </a:r>
            <a:r>
              <a:rPr lang="en-US" altLang="ko-KR"/>
              <a:t>(rpm)</a:t>
            </a:r>
            <a:r>
              <a:rPr lang="ko-KR" altLang="en-US"/>
              <a:t>의 도입으로 기업과 일반 사용자 시장을 동시에 겨냥</a:t>
            </a:r>
            <a:endParaRPr lang="en-US" altLang="ko-KR"/>
          </a:p>
          <a:p>
            <a:r>
              <a:rPr lang="en-US" altLang="ko-KR"/>
              <a:t>2000</a:t>
            </a:r>
            <a:r>
              <a:rPr lang="ko-KR" altLang="en-US"/>
              <a:t>년대 전후 </a:t>
            </a:r>
            <a:r>
              <a:rPr lang="en-US" altLang="ko-KR"/>
              <a:t>– </a:t>
            </a:r>
            <a:r>
              <a:rPr lang="ko-KR" altLang="en-US"/>
              <a:t>철학의 분화와 최적화</a:t>
            </a:r>
            <a:endParaRPr lang="en-US" altLang="ko-KR"/>
          </a:p>
          <a:p>
            <a:pPr lvl="1"/>
            <a:r>
              <a:rPr lang="ko-KR" altLang="en-US"/>
              <a:t>젠투 리눅스</a:t>
            </a:r>
            <a:r>
              <a:rPr lang="en-US" altLang="ko-KR"/>
              <a:t>(2000) </a:t>
            </a:r>
          </a:p>
          <a:p>
            <a:pPr lvl="2"/>
            <a:r>
              <a:rPr lang="ko-KR" altLang="en-US"/>
              <a:t>미리 만들어진 파일이 아닌 내 컴퓨터 </a:t>
            </a:r>
            <a:r>
              <a:rPr lang="en-US" altLang="ko-KR"/>
              <a:t>CPU</a:t>
            </a:r>
            <a:r>
              <a:rPr lang="ko-KR" altLang="en-US"/>
              <a:t>에 맞춰 스스로 직접 빌드로 초기 설정 많음</a:t>
            </a:r>
            <a:endParaRPr lang="en-US" altLang="ko-KR"/>
          </a:p>
          <a:p>
            <a:pPr lvl="1"/>
            <a:r>
              <a:rPr lang="ko-KR" altLang="en-US"/>
              <a:t>레드햇의 이원화</a:t>
            </a:r>
            <a:r>
              <a:rPr lang="en-US" altLang="ko-KR"/>
              <a:t>(2003)</a:t>
            </a:r>
          </a:p>
          <a:p>
            <a:pPr lvl="2"/>
            <a:r>
              <a:rPr lang="ko-KR" altLang="en-US"/>
              <a:t>기존 레드햇 리눅스를 단종하고</a:t>
            </a:r>
            <a:r>
              <a:rPr lang="en-US" altLang="ko-KR"/>
              <a:t>, </a:t>
            </a:r>
            <a:r>
              <a:rPr lang="ko-KR" altLang="en-US"/>
              <a:t>기업용 유료 표준인 레드햇 엔트프라이 리눅스와</a:t>
            </a:r>
            <a:br>
              <a:rPr lang="en-US" altLang="ko-KR"/>
            </a:br>
            <a:r>
              <a:rPr lang="ko-KR" altLang="en-US"/>
              <a:t>최신 기술 실험용인 페도라 리눅스로 명확히 역할 구분</a:t>
            </a:r>
            <a:endParaRPr lang="en-US" altLang="ko-KR"/>
          </a:p>
          <a:p>
            <a:pPr lvl="2"/>
            <a:r>
              <a:rPr lang="ko-KR" altLang="en-US"/>
              <a:t>우분투 리눅스</a:t>
            </a:r>
            <a:r>
              <a:rPr lang="en-US" altLang="ko-KR"/>
              <a:t>(2004)</a:t>
            </a:r>
          </a:p>
          <a:p>
            <a:pPr lvl="3"/>
            <a:r>
              <a:rPr lang="ko-KR" altLang="en-US"/>
              <a:t>데비안을 기반으로 누구나 쉽게 쓸 수 있는 사용자 친화적 환경 제공으로 </a:t>
            </a:r>
            <a:br>
              <a:rPr lang="en-US" altLang="ko-KR"/>
            </a:br>
            <a:r>
              <a:rPr lang="ko-KR" altLang="en-US"/>
              <a:t>리눅스의 대중화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B399C-6072-C8CD-D1C0-E583095C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5176-EA6A-4351-9392-EC41082E8256}" type="slidenum">
              <a:rPr lang="ko-KR" altLang="en-US" smtClean="0"/>
              <a:pPr/>
              <a:t>15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80314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>
            <a:extLst>
              <a:ext uri="{FF2B5EF4-FFF2-40B4-BE49-F238E27FC236}">
                <a16:creationId xmlns:a16="http://schemas.microsoft.com/office/drawing/2014/main" id="{8977FB55-BB75-912C-BC5C-8BFFFA8937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가톨릭대학교 컴퓨터정보공학부</a:t>
            </a:r>
            <a:endParaRPr lang="en-US" altLang="ko-KR"/>
          </a:p>
          <a:p>
            <a:r>
              <a:rPr lang="ko-KR" altLang="en-US"/>
              <a:t>박 영 환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BD7264B-3C6D-F1F5-3F22-3F716E41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" y="692150"/>
            <a:ext cx="9036050" cy="2232025"/>
          </a:xfrm>
        </p:spPr>
        <p:txBody>
          <a:bodyPr/>
          <a:lstStyle/>
          <a:p>
            <a:r>
              <a:rPr lang="en-US" altLang="ko-KR" sz="2000" dirty="0"/>
              <a:t>Section 02</a:t>
            </a:r>
            <a:br>
              <a:rPr lang="en-US" altLang="ko-KR" dirty="0"/>
            </a:br>
            <a:r>
              <a:rPr lang="ko-KR" altLang="en-US" dirty="0"/>
              <a:t>가상 머신 소프트웨어 </a:t>
            </a:r>
            <a:r>
              <a:rPr lang="en-US" altLang="ko-KR" dirty="0"/>
              <a:t>: VMWare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9EE1A9-989B-4210-FCDF-10BB98F6CC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438900"/>
            <a:ext cx="2133600" cy="279400"/>
          </a:xfrm>
        </p:spPr>
        <p:txBody>
          <a:bodyPr/>
          <a:lstStyle/>
          <a:p>
            <a:fld id="{A9265176-EA6A-4351-9392-EC41082E8256}" type="slidenum">
              <a:rPr lang="ko-KR" altLang="en-US" smtClean="0"/>
              <a:pPr/>
              <a:t>16</a:t>
            </a:fld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298694719"/>
      </p:ext>
    </p:extLst>
  </p:cSld>
  <p:clrMapOvr>
    <a:masterClrMapping/>
  </p:clrMapOvr>
</p:sld>
</file>

<file path=ppt/theme/theme1.xml><?xml version="1.0" encoding="utf-8"?>
<a:theme xmlns:a="http://schemas.openxmlformats.org/drawingml/2006/main" name="Chapter01_리눅스_입문과_기본사용법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Chapter01_리눅스_입문과_기본사용법</Template>
  <TotalTime>713</TotalTime>
  <Words>1488</Words>
  <Application>Microsoft Office PowerPoint</Application>
  <PresentationFormat>화면 슬라이드 쇼(4:3)</PresentationFormat>
  <Paragraphs>177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Wingdings</vt:lpstr>
      <vt:lpstr>Pretendard SemiBold</vt:lpstr>
      <vt:lpstr>Arial</vt:lpstr>
      <vt:lpstr>Aptos</vt:lpstr>
      <vt:lpstr>Aptos Display</vt:lpstr>
      <vt:lpstr>Pretendard Medium</vt:lpstr>
      <vt:lpstr>Pretendard ExtraBold</vt:lpstr>
      <vt:lpstr>Pretendard</vt:lpstr>
      <vt:lpstr>맑은 고딕</vt:lpstr>
      <vt:lpstr>Chapter01_리눅스_입문과_기본사용법</vt:lpstr>
      <vt:lpstr>Chapter 01 리눅스 커널 프로그래밍 환경 구축</vt:lpstr>
      <vt:lpstr>목차</vt:lpstr>
      <vt:lpstr>Section 01 리눅스 배포판의 종류</vt:lpstr>
      <vt:lpstr>리눅스 배포판의 종류 개요</vt:lpstr>
      <vt:lpstr>슬렉웨이(Slackware)</vt:lpstr>
      <vt:lpstr>레드햇 리눅스(Red Hat Linux, RHL)</vt:lpstr>
      <vt:lpstr>페도라 리눅스(Fedora Linux)</vt:lpstr>
      <vt:lpstr>레드햇 엔터프라이즈 리눅스(Red Hat Enterprise Linux, RHEL)</vt:lpstr>
      <vt:lpstr>센토 OS(CentOS Linux)</vt:lpstr>
      <vt:lpstr>센토 OS 스트림(CentOS Stream)</vt:lpstr>
      <vt:lpstr>로키 리눅스(Rocky Linux)</vt:lpstr>
      <vt:lpstr>데비안 리눅스(Debian Linux)</vt:lpstr>
      <vt:lpstr>우분투 리눅스(Ubuntu Linux) </vt:lpstr>
      <vt:lpstr>젠투 리눅스(GenToo Linux)</vt:lpstr>
      <vt:lpstr>시대별 리눅스 주요 특징및 요약</vt:lpstr>
      <vt:lpstr>Section 02 가상 머신 소프트웨어 : VMWare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53</cp:revision>
  <dcterms:created xsi:type="dcterms:W3CDTF">2021-04-26T06:13:07Z</dcterms:created>
  <dcterms:modified xsi:type="dcterms:W3CDTF">2026-10-18T14:07:47Z</dcterms:modified>
</cp:coreProperties>
</file>