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60" r:id="rId1"/>
  </p:sldMasterIdLst>
  <p:notesMasterIdLst>
    <p:notesMasterId r:id="rId15"/>
  </p:notesMasterIdLst>
  <p:sldIdLst>
    <p:sldId id="271" r:id="rId2"/>
    <p:sldId id="272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4" r:id="rId13"/>
    <p:sldId id="285" r:id="rId14"/>
  </p:sldIdLst>
  <p:sldSz cx="9144000" cy="6858000" type="screen4x3"/>
  <p:notesSz cx="6858000" cy="9144000"/>
  <p:embeddedFontLst>
    <p:embeddedFont>
      <p:font typeface="Pretendard" panose="020B0600000101010101" charset="-127"/>
      <p:regular r:id="rId16"/>
      <p:bold r:id="rId17"/>
    </p:embeddedFont>
    <p:embeddedFont>
      <p:font typeface="Pretendard ExtraBold" panose="020B0600000101010101" charset="-127"/>
      <p:bold r:id="rId18"/>
    </p:embeddedFont>
    <p:embeddedFont>
      <p:font typeface="Pretendard Medium" panose="020B0600000101010101" charset="-127"/>
      <p:regular r:id="rId19"/>
    </p:embeddedFont>
    <p:embeddedFont>
      <p:font typeface="Pretendard SemiBold" panose="020B0600000101010101" charset="-127"/>
      <p:bold r:id="rId20"/>
    </p:embeddedFont>
    <p:embeddedFont>
      <p:font typeface="맑은 고딕" panose="020B0503020000020004" pitchFamily="50" charset="-127"/>
      <p:regular r:id="rId21"/>
      <p:bold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365D"/>
    <a:srgbClr val="091625"/>
    <a:srgbClr val="0D1F35"/>
    <a:srgbClr val="3478C0"/>
    <a:srgbClr val="4BAC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7" d="100"/>
          <a:sy n="87" d="100"/>
        </p:scale>
        <p:origin x="282" y="3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DB750E-9B39-466D-87BC-BD4BEA67FF0D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DD0763-FFD5-4FB9-91A2-B763154E76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92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1E37EC53-04E9-741B-EB65-2DA97F3543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3"/>
            <a:ext cx="9144000" cy="3429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F2CFACB-FDB6-24A7-5BC2-B211E25EBE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429000"/>
            <a:ext cx="9144000" cy="34290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984625"/>
            <a:ext cx="7772400" cy="1655762"/>
          </a:xfrm>
          <a:noFill/>
          <a:ln>
            <a:noFill/>
          </a:ln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None/>
              <a:defRPr sz="2200">
                <a:solidFill>
                  <a:srgbClr val="17365D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B4A3B73-B170-C364-B8FB-D10D7709838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09" y="23811"/>
            <a:ext cx="9144000" cy="3509963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4F462443-F3BA-08F8-7E8C-EA226C413B6B}"/>
              </a:ext>
            </a:extLst>
          </p:cNvPr>
          <p:cNvSpPr/>
          <p:nvPr userDrawn="1"/>
        </p:nvSpPr>
        <p:spPr>
          <a:xfrm>
            <a:off x="0" y="23811"/>
            <a:ext cx="9144000" cy="3509963"/>
          </a:xfrm>
          <a:prstGeom prst="rect">
            <a:avLst/>
          </a:prstGeom>
          <a:solidFill>
            <a:srgbClr val="0D1F35">
              <a:alpha val="5764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84994"/>
            <a:ext cx="7772400" cy="2387600"/>
          </a:xfrm>
        </p:spPr>
        <p:txBody>
          <a:bodyPr anchor="ctr"/>
          <a:lstStyle>
            <a:lvl1pPr algn="l">
              <a:lnSpc>
                <a:spcPct val="150000"/>
              </a:lnSpc>
              <a:defRPr sz="4000" b="1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0154D96-ACE3-39D1-CFBC-0BB5851A850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17500" t="25172" r="73541" b="25172"/>
          <a:stretch>
            <a:fillRect/>
          </a:stretch>
        </p:blipFill>
        <p:spPr>
          <a:xfrm>
            <a:off x="528918" y="4054017"/>
            <a:ext cx="819150" cy="151697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08192DB-9F08-EC89-B261-1FF64899795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70698" t="25172" r="20343" b="25172"/>
          <a:stretch>
            <a:fillRect/>
          </a:stretch>
        </p:blipFill>
        <p:spPr>
          <a:xfrm>
            <a:off x="7795932" y="4054017"/>
            <a:ext cx="819150" cy="1516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835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4B296DDD-CDEF-4940-C8A5-3B788A0C03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600" y="329556"/>
            <a:ext cx="8884800" cy="633600"/>
          </a:xfrm>
        </p:spPr>
        <p:txBody>
          <a:bodyPr/>
          <a:lstStyle>
            <a:lvl1pPr>
              <a:lnSpc>
                <a:spcPct val="100000"/>
              </a:lnSpc>
              <a:defRPr sz="2200" b="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3CACB84-D1A8-72BD-5C75-8335D4D98ED7}"/>
              </a:ext>
            </a:extLst>
          </p:cNvPr>
          <p:cNvSpPr/>
          <p:nvPr userDrawn="1"/>
        </p:nvSpPr>
        <p:spPr>
          <a:xfrm>
            <a:off x="1" y="1023504"/>
            <a:ext cx="9144000" cy="56583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600" y="1069200"/>
            <a:ext cx="8884800" cy="5216400"/>
          </a:xfrm>
          <a:solidFill>
            <a:schemeClr val="bg1">
              <a:alpha val="58000"/>
            </a:schemeClr>
          </a:solidFill>
        </p:spPr>
        <p:txBody>
          <a:bodyPr/>
          <a:lstStyle>
            <a:lvl1pPr>
              <a:lnSpc>
                <a:spcPct val="100000"/>
              </a:lnSpc>
              <a:defRPr sz="2000" b="1">
                <a:solidFill>
                  <a:srgbClr val="17365D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  <a:lvl2pPr>
              <a:lnSpc>
                <a:spcPct val="100000"/>
              </a:lnSpc>
              <a:buFont typeface="Aptos" panose="020B0004020202020204" pitchFamily="34" charset="0"/>
              <a:buChar char="-"/>
              <a:defRPr sz="1800">
                <a:solidFill>
                  <a:srgbClr val="091625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2pPr>
            <a:lvl3pPr>
              <a:lnSpc>
                <a:spcPct val="100000"/>
              </a:lnSpc>
              <a:defRPr sz="1600">
                <a:solidFill>
                  <a:srgbClr val="091625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3pPr>
            <a:lvl4pPr>
              <a:lnSpc>
                <a:spcPct val="100000"/>
              </a:lnSpc>
              <a:defRPr sz="1600">
                <a:solidFill>
                  <a:srgbClr val="091625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4pPr>
            <a:lvl5pPr>
              <a:lnSpc>
                <a:spcPct val="100000"/>
              </a:lnSpc>
              <a:defRPr sz="1600">
                <a:solidFill>
                  <a:srgbClr val="09162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57000" y="6301146"/>
            <a:ext cx="2057400" cy="365125"/>
          </a:xfrm>
        </p:spPr>
        <p:txBody>
          <a:bodyPr/>
          <a:lstStyle>
            <a:lvl1pPr>
              <a:defRPr sz="1600" b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fld id="{CF778C34-43E3-490B-9E7D-DDD59568136A}" type="slidenum">
              <a:rPr lang="ko-KR" altLang="en-US" smtClean="0"/>
              <a:pPr/>
              <a:t>‹#›</a:t>
            </a:fld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54553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78C34-43E3-490B-9E7D-DDD5956813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0268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78C34-43E3-490B-9E7D-DDD5956813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358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78C34-43E3-490B-9E7D-DDD5956813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804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78C34-43E3-490B-9E7D-DDD5956813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6856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78C34-43E3-490B-9E7D-DDD5956813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1916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78C34-43E3-490B-9E7D-DDD5956813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3131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78C34-43E3-490B-9E7D-DDD5956813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8545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78C34-43E3-490B-9E7D-DDD5956813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9153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78C34-43E3-490B-9E7D-DDD5956813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329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778C34-43E3-490B-9E7D-DDD5956813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4834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4C7E6C0F-CDCC-C756-F70C-45B64E3F03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가톨릭대학교 컴퓨터정보공학부</a:t>
            </a:r>
            <a:endParaRPr lang="en-US" altLang="ko-KR" dirty="0"/>
          </a:p>
          <a:p>
            <a:r>
              <a:rPr lang="ko-KR" altLang="en-US" dirty="0"/>
              <a:t>박 영 환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E78994A-002C-8DB3-2F03-022B39BCB9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z="2000" dirty="0"/>
              <a:t>Chapter 01</a:t>
            </a:r>
            <a:br>
              <a:rPr lang="en-US" altLang="ko-KR" dirty="0"/>
            </a:br>
            <a:r>
              <a:rPr lang="ko-KR" altLang="en-US" dirty="0"/>
              <a:t>리눅스 입문과 설치하기</a:t>
            </a:r>
          </a:p>
        </p:txBody>
      </p:sp>
    </p:spTree>
    <p:extLst>
      <p:ext uri="{BB962C8B-B14F-4D97-AF65-F5344CB8AC3E}">
        <p14:creationId xmlns:p14="http://schemas.microsoft.com/office/powerpoint/2010/main" val="2406946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205466-855D-71E8-22EE-31EA6FA9C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1BC09A-0EA4-3549-C148-BEA70E569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운영체제의 개요</a:t>
            </a:r>
            <a:endParaRPr lang="en-US" altLang="ko-KR" dirty="0"/>
          </a:p>
          <a:p>
            <a:r>
              <a:rPr lang="ko-KR" altLang="en-US" dirty="0"/>
              <a:t>리눅스 기초</a:t>
            </a:r>
            <a:endParaRPr lang="en-US" altLang="ko-KR" dirty="0"/>
          </a:p>
          <a:p>
            <a:r>
              <a:rPr lang="ko-KR" altLang="en-US" dirty="0"/>
              <a:t>리눅스 실습 환경 구축</a:t>
            </a:r>
            <a:endParaRPr lang="en-US" altLang="ko-KR" dirty="0"/>
          </a:p>
          <a:p>
            <a:r>
              <a:rPr lang="ko-KR" altLang="en-US" dirty="0"/>
              <a:t>리눅스 윈도 기본 사용법</a:t>
            </a:r>
            <a:endParaRPr lang="en-US" altLang="ko-KR" dirty="0"/>
          </a:p>
          <a:p>
            <a:r>
              <a:rPr lang="ko-KR" altLang="en-US" dirty="0"/>
              <a:t>리눅스 명령 사용법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86A576-9F4F-7D3A-CD50-17464072A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78C34-43E3-490B-9E7D-DDD59568136A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5343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CE964DFB-CC4F-7955-457B-30462C6A3F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가톨릭대학교 컴퓨터정보공학부</a:t>
            </a:r>
            <a:endParaRPr lang="en-US" altLang="ko-KR" dirty="0"/>
          </a:p>
          <a:p>
            <a:r>
              <a:rPr lang="ko-KR" altLang="en-US" dirty="0"/>
              <a:t>박 영 환</a:t>
            </a:r>
            <a:endParaRPr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FC47F2F-72D9-19EC-65B3-2940EE35E5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z="2000" dirty="0"/>
              <a:t>Section 01</a:t>
            </a:r>
            <a:br>
              <a:rPr lang="en-US" altLang="ko-KR" dirty="0"/>
            </a:br>
            <a:r>
              <a:rPr lang="ko-KR" altLang="en-US" dirty="0"/>
              <a:t>운영체제의 개요</a:t>
            </a:r>
          </a:p>
        </p:txBody>
      </p:sp>
    </p:spTree>
    <p:extLst>
      <p:ext uri="{BB962C8B-B14F-4D97-AF65-F5344CB8AC3E}">
        <p14:creationId xmlns:p14="http://schemas.microsoft.com/office/powerpoint/2010/main" val="603335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B28D52-DAE8-5F30-4EF5-9FDFFCEB3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운영체제의 개요 </a:t>
            </a:r>
            <a:r>
              <a:rPr lang="en-US" altLang="ko-KR" dirty="0"/>
              <a:t>- 1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25C1CB-407C-0529-CF85-2017737DD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운영체제의 개념</a:t>
            </a:r>
            <a:endParaRPr lang="en-US" altLang="ko-KR" dirty="0"/>
          </a:p>
          <a:p>
            <a:pPr lvl="1"/>
            <a:r>
              <a:rPr lang="ko-KR" altLang="en-US" dirty="0"/>
              <a:t>컴퓨터 하드웨어와 응용 프로그램 사이에서 인터페이스를 제공하는 소프트웨어</a:t>
            </a:r>
            <a:endParaRPr lang="en-US" altLang="ko-KR" dirty="0"/>
          </a:p>
          <a:p>
            <a:pPr lvl="1"/>
            <a:r>
              <a:rPr lang="ko-KR" altLang="en-US" dirty="0"/>
              <a:t>컴퓨터 시스템에서 핵심적인 역할 수행</a:t>
            </a:r>
            <a:endParaRPr lang="en-US" altLang="ko-KR" dirty="0"/>
          </a:p>
          <a:p>
            <a:pPr lvl="1"/>
            <a:r>
              <a:rPr lang="ko-KR" altLang="en-US" dirty="0"/>
              <a:t>사용자가 프로그램을 실행할 수 있는 환경을 제공하며 사용자 및 응용 프로그램이 </a:t>
            </a:r>
            <a:br>
              <a:rPr lang="en-US" altLang="ko-KR" dirty="0"/>
            </a:br>
            <a:r>
              <a:rPr lang="ko-KR" altLang="en-US" dirty="0"/>
              <a:t>컴퓨터 자원을 효율적으로 사용하도록 관리</a:t>
            </a:r>
            <a:endParaRPr lang="en-US" altLang="ko-KR" dirty="0"/>
          </a:p>
          <a:p>
            <a:r>
              <a:rPr lang="ko-KR" altLang="en-US" dirty="0"/>
              <a:t>운영체제의 목적</a:t>
            </a:r>
            <a:endParaRPr lang="en-US" altLang="ko-KR" dirty="0"/>
          </a:p>
          <a:p>
            <a:pPr lvl="1"/>
            <a:r>
              <a:rPr lang="ko-KR" altLang="en-US" dirty="0"/>
              <a:t>사용자에게 컴퓨터 시스템 사용의 편의성 제공</a:t>
            </a:r>
            <a:endParaRPr lang="en-US" altLang="ko-KR" dirty="0"/>
          </a:p>
          <a:p>
            <a:pPr lvl="2"/>
            <a:r>
              <a:rPr lang="ko-KR" altLang="en-US" dirty="0"/>
              <a:t>사용자가 편리하게 사용할 수 있도록 윈도우 환경 중심으로 발전</a:t>
            </a:r>
            <a:endParaRPr lang="en-US" altLang="ko-KR" dirty="0"/>
          </a:p>
          <a:p>
            <a:pPr lvl="1"/>
            <a:r>
              <a:rPr lang="ko-KR" altLang="en-US" dirty="0"/>
              <a:t>컴퓨터 시스템의 자원을 효율적으로 운영</a:t>
            </a:r>
            <a:endParaRPr lang="en-US" altLang="ko-KR" dirty="0"/>
          </a:p>
          <a:p>
            <a:pPr lvl="2"/>
            <a:r>
              <a:rPr lang="ko-KR" altLang="en-US" dirty="0"/>
              <a:t>다중 사용자 환경에서 컴퓨터 시스템이 가지고 있는 </a:t>
            </a:r>
            <a:r>
              <a:rPr lang="en-US" altLang="ko-KR" dirty="0"/>
              <a:t>CPU, </a:t>
            </a:r>
            <a:r>
              <a:rPr lang="ko-KR" altLang="en-US" dirty="0"/>
              <a:t>메모리 등의 물리적 자원을 </a:t>
            </a:r>
            <a:br>
              <a:rPr lang="en-US" altLang="ko-KR" dirty="0"/>
            </a:br>
            <a:r>
              <a:rPr lang="ko-KR" altLang="en-US" dirty="0"/>
              <a:t>효율적으로 운영하고 관리하는 것</a:t>
            </a:r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DCD214-A99F-FE05-516E-19FBEA972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78C34-43E3-490B-9E7D-DDD59568136A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61166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3DC56-CA7E-711E-06AD-150A34CD3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운영체제의 개요 </a:t>
            </a:r>
            <a:r>
              <a:rPr lang="en-US" altLang="ko-KR" dirty="0"/>
              <a:t>- 2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C4DB34-D1B3-696D-ABC2-0C1EFB5AA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운영체제의 기능</a:t>
            </a:r>
            <a:endParaRPr lang="en-US" altLang="ko-KR" dirty="0"/>
          </a:p>
          <a:p>
            <a:pPr lvl="1"/>
            <a:r>
              <a:rPr lang="ko-KR" altLang="en-US" dirty="0"/>
              <a:t>프로세스 관리</a:t>
            </a:r>
            <a:endParaRPr lang="en-US" altLang="ko-KR" dirty="0"/>
          </a:p>
          <a:p>
            <a:pPr lvl="2"/>
            <a:r>
              <a:rPr lang="ko-KR" altLang="en-US" dirty="0"/>
              <a:t>운영체제는 프로세스를 생성</a:t>
            </a:r>
            <a:r>
              <a:rPr lang="en-US" altLang="ko-KR" dirty="0"/>
              <a:t>·</a:t>
            </a:r>
            <a:r>
              <a:rPr lang="ko-KR" altLang="en-US" dirty="0"/>
              <a:t>스케줄링</a:t>
            </a:r>
            <a:r>
              <a:rPr lang="en-US" altLang="ko-KR" dirty="0"/>
              <a:t>·</a:t>
            </a:r>
            <a:r>
              <a:rPr lang="ko-KR" altLang="en-US" dirty="0"/>
              <a:t>중지</a:t>
            </a:r>
            <a:r>
              <a:rPr lang="en-US" altLang="ko-KR" dirty="0"/>
              <a:t>·</a:t>
            </a:r>
            <a:r>
              <a:rPr lang="ko-KR" altLang="en-US" dirty="0"/>
              <a:t>관리하여 다중 작업 환경 제공</a:t>
            </a:r>
            <a:endParaRPr lang="en-US" altLang="ko-KR" dirty="0"/>
          </a:p>
          <a:p>
            <a:pPr lvl="2"/>
            <a:r>
              <a:rPr lang="ko-KR" altLang="en-US" dirty="0"/>
              <a:t>여러 프로세스에 </a:t>
            </a:r>
            <a:r>
              <a:rPr lang="en-US" altLang="ko-KR" dirty="0"/>
              <a:t>CPU </a:t>
            </a:r>
            <a:r>
              <a:rPr lang="ko-KR" altLang="en-US" dirty="0"/>
              <a:t>시간을 적절하게 할당하는 것은 시스템의 효율성을 높이기 위한 핵심적인 기능으로 다양한 메모리</a:t>
            </a:r>
            <a:r>
              <a:rPr lang="en-US" altLang="ko-KR" dirty="0"/>
              <a:t>, </a:t>
            </a:r>
            <a:r>
              <a:rPr lang="ko-KR" altLang="en-US" dirty="0"/>
              <a:t>페이지 교체 등을 통해 메모리 자원을 효율적으로 관리</a:t>
            </a:r>
            <a:endParaRPr lang="en-US" altLang="ko-KR" dirty="0"/>
          </a:p>
          <a:p>
            <a:pPr lvl="1"/>
            <a:r>
              <a:rPr lang="ko-KR" altLang="en-US" dirty="0"/>
              <a:t>메모리 관리</a:t>
            </a:r>
            <a:endParaRPr lang="en-US" altLang="ko-KR" dirty="0"/>
          </a:p>
          <a:p>
            <a:pPr lvl="2"/>
            <a:r>
              <a:rPr lang="ko-KR" altLang="en-US" dirty="0"/>
              <a:t>메모리 할당 및 해제</a:t>
            </a:r>
            <a:r>
              <a:rPr lang="en-US" altLang="ko-KR" dirty="0"/>
              <a:t>, </a:t>
            </a:r>
            <a:r>
              <a:rPr lang="ko-KR" altLang="en-US" dirty="0"/>
              <a:t>가상 메모리</a:t>
            </a:r>
            <a:r>
              <a:rPr lang="en-US" altLang="ko-KR" dirty="0"/>
              <a:t>, </a:t>
            </a:r>
            <a:r>
              <a:rPr lang="ko-KR" altLang="en-US" dirty="0"/>
              <a:t>페이지 교체 등을 통해 메모리자원을 효율적으로 관리</a:t>
            </a:r>
            <a:endParaRPr lang="en-US" altLang="ko-KR" dirty="0"/>
          </a:p>
          <a:p>
            <a:pPr lvl="1"/>
            <a:r>
              <a:rPr lang="ko-KR" altLang="en-US" dirty="0"/>
              <a:t>파일 시스템 관리</a:t>
            </a:r>
            <a:endParaRPr lang="en-US" altLang="ko-KR" dirty="0"/>
          </a:p>
          <a:p>
            <a:pPr lvl="2"/>
            <a:r>
              <a:rPr lang="ko-KR" altLang="en-US" dirty="0"/>
              <a:t>파일과 디렉터리를 생성하고 읽기</a:t>
            </a:r>
            <a:r>
              <a:rPr lang="en-US" altLang="ko-KR" dirty="0"/>
              <a:t>, </a:t>
            </a:r>
            <a:r>
              <a:rPr lang="ko-KR" altLang="en-US" dirty="0"/>
              <a:t>쓰기</a:t>
            </a:r>
            <a:r>
              <a:rPr lang="en-US" altLang="ko-KR" dirty="0"/>
              <a:t>, </a:t>
            </a:r>
            <a:r>
              <a:rPr lang="ko-KR" altLang="en-US" dirty="0"/>
              <a:t>삭제하기 기능을 수행하며 데이터를 관리</a:t>
            </a:r>
            <a:endParaRPr lang="en-US" altLang="ko-KR" dirty="0"/>
          </a:p>
          <a:p>
            <a:pPr lvl="1"/>
            <a:r>
              <a:rPr lang="ko-KR" altLang="en-US" dirty="0"/>
              <a:t>입출력 관리</a:t>
            </a:r>
            <a:endParaRPr lang="en-US" altLang="ko-KR" dirty="0"/>
          </a:p>
          <a:p>
            <a:pPr lvl="2"/>
            <a:r>
              <a:rPr lang="ko-KR" altLang="en-US" dirty="0"/>
              <a:t>입출력 장치와 상호작용하여 테이블을 읽고 쓰며</a:t>
            </a:r>
            <a:r>
              <a:rPr lang="en-US" altLang="ko-KR" dirty="0"/>
              <a:t>, </a:t>
            </a:r>
            <a:r>
              <a:rPr lang="ko-KR" altLang="en-US" dirty="0"/>
              <a:t>입출력 장치의 </a:t>
            </a:r>
            <a:r>
              <a:rPr lang="ko-KR" altLang="en-US" dirty="0" err="1"/>
              <a:t>버퍼링</a:t>
            </a:r>
            <a:r>
              <a:rPr lang="ko-KR" altLang="en-US" dirty="0"/>
              <a:t> 및 스케줄링 담당</a:t>
            </a:r>
            <a:endParaRPr lang="en-US" altLang="ko-KR" dirty="0"/>
          </a:p>
          <a:p>
            <a:pPr lvl="1"/>
            <a:r>
              <a:rPr lang="ko-KR" altLang="en-US" dirty="0"/>
              <a:t>자원 관리 및 보호</a:t>
            </a:r>
            <a:endParaRPr lang="en-US" altLang="ko-KR" dirty="0"/>
          </a:p>
          <a:p>
            <a:pPr lvl="2"/>
            <a:r>
              <a:rPr lang="en-US" altLang="ko-KR" dirty="0"/>
              <a:t>CPU, </a:t>
            </a:r>
            <a:r>
              <a:rPr lang="ko-KR" altLang="en-US" dirty="0"/>
              <a:t>메모리</a:t>
            </a:r>
            <a:r>
              <a:rPr lang="en-US" altLang="ko-KR" dirty="0"/>
              <a:t>, </a:t>
            </a:r>
            <a:r>
              <a:rPr lang="ko-KR" altLang="en-US" dirty="0"/>
              <a:t>디스크</a:t>
            </a:r>
            <a:r>
              <a:rPr lang="en-US" altLang="ko-KR" dirty="0"/>
              <a:t>, </a:t>
            </a:r>
            <a:r>
              <a:rPr lang="ko-KR" altLang="en-US" dirty="0"/>
              <a:t>네트워크 등의 하드웨어 자원 관리</a:t>
            </a:r>
            <a:endParaRPr lang="en-US" altLang="ko-KR" dirty="0"/>
          </a:p>
          <a:p>
            <a:pPr lvl="2"/>
            <a:r>
              <a:rPr lang="ko-KR" altLang="en-US" dirty="0"/>
              <a:t>응용 프로그램이 사용하는 자원이 충돌하지 않도록 관리</a:t>
            </a:r>
            <a:endParaRPr lang="en-US" altLang="ko-KR" dirty="0"/>
          </a:p>
          <a:p>
            <a:pPr lvl="1"/>
            <a:r>
              <a:rPr lang="ko-KR" altLang="en-US" dirty="0"/>
              <a:t>사용자 인터페이스</a:t>
            </a:r>
            <a:r>
              <a:rPr lang="en-US" altLang="ko-KR" dirty="0"/>
              <a:t>(GUI)</a:t>
            </a:r>
          </a:p>
          <a:p>
            <a:pPr lvl="2"/>
            <a:r>
              <a:rPr lang="ko-KR" altLang="en-US" dirty="0"/>
              <a:t>사용자와 컴퓨터가 상호작용할 수 있는 기능을 그래픽 사용자 인터페이스 </a:t>
            </a:r>
            <a:r>
              <a:rPr lang="en-US" altLang="ko-KR" dirty="0"/>
              <a:t>(GUI) </a:t>
            </a:r>
            <a:r>
              <a:rPr lang="ko-KR" altLang="en-US" dirty="0"/>
              <a:t>또는 </a:t>
            </a:r>
            <a:br>
              <a:rPr lang="en-US" altLang="ko-KR" dirty="0"/>
            </a:br>
            <a:r>
              <a:rPr lang="ko-KR" altLang="en-US" dirty="0" err="1"/>
              <a:t>명령행</a:t>
            </a:r>
            <a:r>
              <a:rPr lang="ko-KR" altLang="en-US" dirty="0"/>
              <a:t> 인터페이스로 제공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78EDA7-D1D3-FFED-D567-9B082E3CF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78C34-43E3-490B-9E7D-DDD59568136A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65821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CA251A-8014-427A-72ED-A10973141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운영체제의 개요 </a:t>
            </a:r>
            <a:r>
              <a:rPr lang="en-US" altLang="ko-KR" dirty="0"/>
              <a:t>- 3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7B17CA-DDE6-D0D6-1D88-36EAC0E9F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운영체제의 구성 요소</a:t>
            </a:r>
            <a:endParaRPr lang="en-US" altLang="ko-KR" dirty="0"/>
          </a:p>
          <a:p>
            <a:pPr lvl="1"/>
            <a:r>
              <a:rPr lang="ko-KR" altLang="en-US" dirty="0"/>
              <a:t>커널</a:t>
            </a:r>
            <a:r>
              <a:rPr lang="en-US" altLang="ko-KR" dirty="0"/>
              <a:t>(Kernel)</a:t>
            </a:r>
          </a:p>
          <a:p>
            <a:pPr lvl="2"/>
            <a:r>
              <a:rPr lang="ko-KR" altLang="en-US" dirty="0"/>
              <a:t>운영체제의 핵심으로 메모리에 상주</a:t>
            </a:r>
            <a:endParaRPr lang="en-US" altLang="ko-KR" dirty="0"/>
          </a:p>
          <a:p>
            <a:pPr lvl="2"/>
            <a:r>
              <a:rPr lang="ko-KR" altLang="en-US" dirty="0"/>
              <a:t>하드웨어와 상호작용하고 프로세스 관리</a:t>
            </a:r>
            <a:r>
              <a:rPr lang="en-US" altLang="ko-KR" dirty="0"/>
              <a:t>, </a:t>
            </a:r>
            <a:r>
              <a:rPr lang="ko-KR" altLang="en-US" dirty="0"/>
              <a:t>메모리 관리 등 기본적인 시스템 서비스 제공</a:t>
            </a:r>
            <a:endParaRPr lang="en-US" altLang="ko-KR" dirty="0"/>
          </a:p>
          <a:p>
            <a:pPr lvl="1"/>
            <a:r>
              <a:rPr lang="ko-KR" altLang="en-US" dirty="0"/>
              <a:t>파일 시스템</a:t>
            </a:r>
            <a:endParaRPr lang="en-US" altLang="ko-KR" dirty="0"/>
          </a:p>
          <a:p>
            <a:pPr lvl="2"/>
            <a:r>
              <a:rPr lang="ko-KR" altLang="en-US" dirty="0"/>
              <a:t>데이터를 저장</a:t>
            </a:r>
            <a:r>
              <a:rPr lang="en-US" altLang="ko-KR" dirty="0"/>
              <a:t>·</a:t>
            </a:r>
            <a:r>
              <a:rPr lang="ko-KR" altLang="en-US" dirty="0"/>
              <a:t>관리하며</a:t>
            </a:r>
            <a:r>
              <a:rPr lang="en-US" altLang="ko-KR" dirty="0"/>
              <a:t>, </a:t>
            </a:r>
            <a:r>
              <a:rPr lang="ko-KR" altLang="en-US" dirty="0"/>
              <a:t>파일 및 디렉터리 구조를 운영</a:t>
            </a:r>
            <a:endParaRPr lang="en-US" altLang="ko-KR" dirty="0"/>
          </a:p>
          <a:p>
            <a:pPr lvl="1"/>
            <a:r>
              <a:rPr lang="ko-KR" altLang="en-US" dirty="0"/>
              <a:t>디바이스 드라이버 </a:t>
            </a:r>
            <a:endParaRPr lang="en-US" altLang="ko-KR" dirty="0"/>
          </a:p>
          <a:p>
            <a:pPr lvl="2"/>
            <a:r>
              <a:rPr lang="ko-KR" altLang="en-US" dirty="0"/>
              <a:t>하드웨어와 통신에 필요한 드라이버를 관리하며</a:t>
            </a:r>
            <a:r>
              <a:rPr lang="en-US" altLang="ko-KR" dirty="0"/>
              <a:t>, </a:t>
            </a:r>
            <a:r>
              <a:rPr lang="ko-KR" altLang="en-US" dirty="0"/>
              <a:t>다양한 하드웨어와 상호작용</a:t>
            </a:r>
            <a:endParaRPr lang="en-US" altLang="ko-KR" dirty="0"/>
          </a:p>
          <a:p>
            <a:pPr lvl="1"/>
            <a:r>
              <a:rPr lang="ko-KR" altLang="en-US" dirty="0"/>
              <a:t>시스템 호출</a:t>
            </a:r>
            <a:endParaRPr lang="en-US" altLang="ko-KR" dirty="0"/>
          </a:p>
          <a:p>
            <a:pPr lvl="2"/>
            <a:r>
              <a:rPr lang="ko-KR" altLang="en-US" dirty="0"/>
              <a:t>응용 프로그램이 운영체제에 접근할 수 있게 하는 라이브러리를 제공</a:t>
            </a:r>
            <a:endParaRPr lang="en-US" altLang="ko-KR" dirty="0"/>
          </a:p>
          <a:p>
            <a:pPr lvl="1"/>
            <a:r>
              <a:rPr lang="ko-KR" altLang="en-US" dirty="0"/>
              <a:t>인터페이스 </a:t>
            </a:r>
            <a:endParaRPr lang="en-US" altLang="ko-KR" dirty="0"/>
          </a:p>
          <a:p>
            <a:pPr lvl="2"/>
            <a:r>
              <a:rPr lang="ko-KR" altLang="en-US" dirty="0"/>
              <a:t>사용자와 운영체제 간의 상호 작용을 담당하며 명령어를 해석하고 실행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A93864-A7D0-5D30-F4E6-0CCABF763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78C34-43E3-490B-9E7D-DDD59568136A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9078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D466AD-EFEB-6520-1DBA-ECC46A62B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운영체제의 개요 </a:t>
            </a:r>
            <a:r>
              <a:rPr lang="en-US" altLang="ko-KR" dirty="0"/>
              <a:t>- 4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13FE30-DEB2-DE83-8874-ECE6ACFB2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운영체제의 구성 요소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641D2E-355D-5D2E-2545-44F20E96A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78C34-43E3-490B-9E7D-DDD59568136A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921CF96C-2B9D-87CA-7E7C-DD94E8AFBF9C}"/>
              </a:ext>
            </a:extLst>
          </p:cNvPr>
          <p:cNvGrpSpPr/>
          <p:nvPr/>
        </p:nvGrpSpPr>
        <p:grpSpPr>
          <a:xfrm>
            <a:off x="1568716" y="2481359"/>
            <a:ext cx="6006568" cy="3804242"/>
            <a:chOff x="1568716" y="1832265"/>
            <a:chExt cx="6006568" cy="3804242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FB67585-16AD-701D-D2BB-97D846B2FDE2}"/>
                </a:ext>
              </a:extLst>
            </p:cNvPr>
            <p:cNvSpPr/>
            <p:nvPr/>
          </p:nvSpPr>
          <p:spPr>
            <a:xfrm>
              <a:off x="1568716" y="1832265"/>
              <a:ext cx="6006568" cy="2934841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0AA9F7E-1B0C-0D7A-BFB9-05C50A7D5147}"/>
                </a:ext>
              </a:extLst>
            </p:cNvPr>
            <p:cNvSpPr/>
            <p:nvPr/>
          </p:nvSpPr>
          <p:spPr>
            <a:xfrm>
              <a:off x="1889027" y="1957301"/>
              <a:ext cx="2316115" cy="454462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인터페이스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E8F9E4C9-7C8F-D270-086E-2102BD0F766F}"/>
                </a:ext>
              </a:extLst>
            </p:cNvPr>
            <p:cNvSpPr/>
            <p:nvPr/>
          </p:nvSpPr>
          <p:spPr>
            <a:xfrm>
              <a:off x="1889027" y="2518402"/>
              <a:ext cx="5354992" cy="454462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시스템 호출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70C8ABCC-2088-63C3-9A55-B30C33EC4D30}"/>
                </a:ext>
              </a:extLst>
            </p:cNvPr>
            <p:cNvSpPr/>
            <p:nvPr/>
          </p:nvSpPr>
          <p:spPr>
            <a:xfrm>
              <a:off x="1889027" y="3079503"/>
              <a:ext cx="5354992" cy="1018564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커널</a:t>
              </a:r>
              <a:br>
                <a:rPr lang="en-US" altLang="ko-KR" dirty="0"/>
              </a:br>
              <a:r>
                <a:rPr lang="en-US" altLang="ko-KR" dirty="0"/>
                <a:t>(</a:t>
              </a:r>
              <a:r>
                <a:rPr lang="ko-KR" altLang="en-US" dirty="0"/>
                <a:t>프로세스 관리</a:t>
              </a:r>
              <a:r>
                <a:rPr lang="en-US" altLang="ko-KR" dirty="0"/>
                <a:t>, </a:t>
              </a:r>
              <a:r>
                <a:rPr lang="ko-KR" altLang="en-US" dirty="0"/>
                <a:t>메모리 관리</a:t>
              </a:r>
              <a:r>
                <a:rPr lang="en-US" altLang="ko-KR" dirty="0"/>
                <a:t> </a:t>
              </a:r>
              <a:r>
                <a:rPr lang="ko-KR" altLang="en-US" dirty="0"/>
                <a:t>등</a:t>
              </a:r>
              <a:r>
                <a:rPr lang="en-US" altLang="ko-KR" dirty="0"/>
                <a:t>)</a:t>
              </a:r>
              <a:endParaRPr lang="ko-KR" altLang="en-US" dirty="0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AFA47140-FA09-DA26-1AA4-B213476E0FE7}"/>
                </a:ext>
              </a:extLst>
            </p:cNvPr>
            <p:cNvSpPr/>
            <p:nvPr/>
          </p:nvSpPr>
          <p:spPr>
            <a:xfrm>
              <a:off x="1889027" y="4201704"/>
              <a:ext cx="5354992" cy="454462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디바이스 드라이버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8907FE71-B1F2-0EE9-2DCF-628B5A92A7A3}"/>
                </a:ext>
              </a:extLst>
            </p:cNvPr>
            <p:cNvSpPr/>
            <p:nvPr/>
          </p:nvSpPr>
          <p:spPr>
            <a:xfrm>
              <a:off x="1889027" y="5182045"/>
              <a:ext cx="5354992" cy="454462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하드웨어</a:t>
              </a:r>
            </a:p>
          </p:txBody>
        </p: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2198210-409D-FB7B-DBCF-469B631B1457}"/>
              </a:ext>
            </a:extLst>
          </p:cNvPr>
          <p:cNvSpPr/>
          <p:nvPr/>
        </p:nvSpPr>
        <p:spPr>
          <a:xfrm>
            <a:off x="4927904" y="1807116"/>
            <a:ext cx="2316115" cy="45446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응용 프로그램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EDBCE460-08E8-C59B-A21F-24CA01B3E098}"/>
              </a:ext>
            </a:extLst>
          </p:cNvPr>
          <p:cNvGrpSpPr/>
          <p:nvPr/>
        </p:nvGrpSpPr>
        <p:grpSpPr>
          <a:xfrm>
            <a:off x="2285996" y="1119947"/>
            <a:ext cx="1522175" cy="1310666"/>
            <a:chOff x="2338017" y="1192093"/>
            <a:chExt cx="1522175" cy="1310666"/>
          </a:xfrm>
        </p:grpSpPr>
        <p:pic>
          <p:nvPicPr>
            <p:cNvPr id="19" name="그래픽 18" descr="여성 사무직 근로자 단색으로 채워진">
              <a:extLst>
                <a:ext uri="{FF2B5EF4-FFF2-40B4-BE49-F238E27FC236}">
                  <a16:creationId xmlns:a16="http://schemas.microsoft.com/office/drawing/2014/main" id="{8B71250C-6EE4-3082-8141-1BA87FB55B6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641904" y="1192093"/>
              <a:ext cx="914400" cy="914400"/>
            </a:xfrm>
            <a:prstGeom prst="rect">
              <a:avLst/>
            </a:prstGeom>
          </p:spPr>
        </p:pic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2B1262FC-3DB6-4355-4904-E1D611401589}"/>
                </a:ext>
              </a:extLst>
            </p:cNvPr>
            <p:cNvSpPr/>
            <p:nvPr/>
          </p:nvSpPr>
          <p:spPr>
            <a:xfrm>
              <a:off x="2338017" y="1949261"/>
              <a:ext cx="1522175" cy="5534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사용자</a:t>
              </a:r>
            </a:p>
          </p:txBody>
        </p:sp>
      </p:grp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43A925B4-FA4E-913D-1B0F-E3C180BA3961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3504283" y="2034347"/>
            <a:ext cx="1423621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8ED348E3-0789-3C58-019A-4B8987C09460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3047085" y="2261578"/>
            <a:ext cx="0" cy="34481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B86E703E-ED5C-59B0-F9F9-1187418F2CE5}"/>
              </a:ext>
            </a:extLst>
          </p:cNvPr>
          <p:cNvCxnSpPr/>
          <p:nvPr/>
        </p:nvCxnSpPr>
        <p:spPr>
          <a:xfrm>
            <a:off x="6110601" y="2261578"/>
            <a:ext cx="0" cy="90591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438A0FCA-DFCA-6E4D-FF02-1F28844A9E4A}"/>
              </a:ext>
            </a:extLst>
          </p:cNvPr>
          <p:cNvCxnSpPr>
            <a:cxnSpLocks/>
            <a:stCxn id="10" idx="2"/>
            <a:endCxn id="17" idx="0"/>
          </p:cNvCxnSpPr>
          <p:nvPr/>
        </p:nvCxnSpPr>
        <p:spPr>
          <a:xfrm>
            <a:off x="4566523" y="5305260"/>
            <a:ext cx="0" cy="5258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345DD5C-1EE1-FECA-A03F-30A19B1996F9}"/>
              </a:ext>
            </a:extLst>
          </p:cNvPr>
          <p:cNvSpPr txBox="1"/>
          <p:nvPr/>
        </p:nvSpPr>
        <p:spPr>
          <a:xfrm>
            <a:off x="391488" y="3677400"/>
            <a:ext cx="1337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운영체제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6024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10AEB0-6D4F-60DA-C126-25A0C6CA0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운영체제의 개요 </a:t>
            </a:r>
            <a:r>
              <a:rPr lang="en-US" altLang="ko-KR" dirty="0"/>
              <a:t>- 5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652469-6553-5E5A-33B5-DD2133990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CPU</a:t>
            </a:r>
            <a:r>
              <a:rPr lang="ko-KR" altLang="en-US" dirty="0"/>
              <a:t>동작 모드</a:t>
            </a:r>
            <a:endParaRPr lang="en-US" altLang="ko-KR" dirty="0"/>
          </a:p>
          <a:p>
            <a:pPr lvl="1"/>
            <a:r>
              <a:rPr lang="en-US" altLang="ko-KR" dirty="0"/>
              <a:t>CPU</a:t>
            </a:r>
            <a:r>
              <a:rPr lang="ko-KR" altLang="en-US" dirty="0"/>
              <a:t>를 효율적으로 운영하고 보호하기 위해 </a:t>
            </a:r>
            <a:r>
              <a:rPr lang="en-US" altLang="ko-KR" dirty="0"/>
              <a:t>CPU</a:t>
            </a:r>
            <a:r>
              <a:rPr lang="ko-KR" altLang="en-US" dirty="0"/>
              <a:t>의 동작 모들 구분</a:t>
            </a:r>
            <a:endParaRPr lang="en-US" altLang="ko-KR" dirty="0"/>
          </a:p>
          <a:p>
            <a:pPr lvl="1"/>
            <a:r>
              <a:rPr lang="ko-KR" altLang="en-US" dirty="0"/>
              <a:t>대표적인 동작 모드는 커널 모드와 사용자 모드</a:t>
            </a:r>
            <a:endParaRPr lang="en-US" altLang="ko-KR" dirty="0"/>
          </a:p>
          <a:p>
            <a:pPr lvl="1"/>
            <a:r>
              <a:rPr lang="ko-KR" altLang="en-US" dirty="0"/>
              <a:t>커널 모드</a:t>
            </a:r>
            <a:endParaRPr lang="en-US" altLang="ko-KR" dirty="0"/>
          </a:p>
          <a:p>
            <a:pPr lvl="2"/>
            <a:r>
              <a:rPr lang="ko-KR" altLang="en-US" dirty="0" err="1"/>
              <a:t>슈퍼바이저</a:t>
            </a:r>
            <a:r>
              <a:rPr lang="ko-KR" altLang="en-US" dirty="0"/>
              <a:t> 모드라고도 함</a:t>
            </a:r>
            <a:endParaRPr lang="en-US" altLang="ko-KR" dirty="0"/>
          </a:p>
          <a:p>
            <a:pPr lvl="2"/>
            <a:r>
              <a:rPr lang="ko-KR" altLang="en-US" dirty="0"/>
              <a:t>메모리의 하드웨어 자원에 직접 접근할 수 있는 모드</a:t>
            </a:r>
            <a:endParaRPr lang="en-US" altLang="ko-KR" dirty="0"/>
          </a:p>
          <a:p>
            <a:pPr lvl="1"/>
            <a:r>
              <a:rPr lang="ko-KR" altLang="en-US" dirty="0"/>
              <a:t>사용자 모드</a:t>
            </a:r>
            <a:endParaRPr lang="en-US" altLang="ko-KR" dirty="0"/>
          </a:p>
          <a:p>
            <a:pPr lvl="2"/>
            <a:r>
              <a:rPr lang="ko-KR" altLang="en-US" dirty="0"/>
              <a:t>보호 모드라고도 함</a:t>
            </a:r>
            <a:endParaRPr lang="en-US" altLang="ko-KR" dirty="0"/>
          </a:p>
          <a:p>
            <a:pPr lvl="2"/>
            <a:r>
              <a:rPr lang="ko-KR" altLang="en-US" dirty="0"/>
              <a:t>하드웨어 자원에 직접 접근할 수 없고</a:t>
            </a:r>
            <a:r>
              <a:rPr lang="en-US" altLang="ko-KR" dirty="0"/>
              <a:t>, </a:t>
            </a:r>
            <a:r>
              <a:rPr lang="ko-KR" altLang="en-US" dirty="0"/>
              <a:t>운영체제가 제공하는 시스템 호출을 통해 </a:t>
            </a:r>
            <a:br>
              <a:rPr lang="en-US" altLang="ko-KR" dirty="0"/>
            </a:br>
            <a:r>
              <a:rPr lang="ko-KR" altLang="en-US" dirty="0"/>
              <a:t>자원 사용을 요청</a:t>
            </a:r>
            <a:endParaRPr lang="en-US" altLang="ko-KR" dirty="0"/>
          </a:p>
          <a:p>
            <a:pPr lvl="2"/>
            <a:r>
              <a:rPr lang="ko-KR" altLang="en-US" dirty="0"/>
              <a:t>핵심 기능은 커널 모드에서 수행되며</a:t>
            </a:r>
            <a:r>
              <a:rPr lang="en-US" altLang="ko-KR" dirty="0"/>
              <a:t>, </a:t>
            </a:r>
            <a:r>
              <a:rPr lang="ko-KR" altLang="en-US" dirty="0"/>
              <a:t>응용 프로그램은 사용자 모드에서 실행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98792E-57AC-2377-96F3-A153536B3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78C34-43E3-490B-9E7D-DDD59568136A}" type="slidenum">
              <a:rPr lang="ko-KR" altLang="en-US" smtClean="0"/>
              <a:pPr/>
              <a:t>8</a:t>
            </a:fld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759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0101D1-F6B0-9767-9CF8-6FBBB5405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운영체제의 개요 </a:t>
            </a:r>
            <a:r>
              <a:rPr lang="en-US" altLang="ko-KR" dirty="0"/>
              <a:t>- 6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907225-18C5-EB27-286A-B9DFE227E9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커널의 구현 방식</a:t>
            </a:r>
            <a:endParaRPr lang="en-US" altLang="ko-KR" dirty="0"/>
          </a:p>
          <a:p>
            <a:pPr lvl="1"/>
            <a:r>
              <a:rPr lang="ko-KR" altLang="en-US" dirty="0"/>
              <a:t>운영체제의 핵심 기능을 수행하는 부분</a:t>
            </a:r>
            <a:endParaRPr lang="en-US" altLang="ko-KR" dirty="0"/>
          </a:p>
          <a:p>
            <a:pPr lvl="1"/>
            <a:r>
              <a:rPr lang="ko-KR" altLang="en-US" dirty="0"/>
              <a:t>커널을 구현하는 방식은 크게 두 가지로</a:t>
            </a:r>
            <a:r>
              <a:rPr lang="en-US" altLang="ko-KR" dirty="0"/>
              <a:t>, </a:t>
            </a:r>
            <a:r>
              <a:rPr lang="ko-KR" altLang="en-US" dirty="0" err="1"/>
              <a:t>모놀리식</a:t>
            </a:r>
            <a:r>
              <a:rPr lang="ko-KR" altLang="en-US" dirty="0"/>
              <a:t> 커널과 마이크로 커널로 구현</a:t>
            </a:r>
            <a:endParaRPr lang="en-US" altLang="ko-KR" dirty="0"/>
          </a:p>
          <a:p>
            <a:pPr lvl="1"/>
            <a:r>
              <a:rPr lang="ko-KR" altLang="en-US" dirty="0" err="1"/>
              <a:t>모놀리식</a:t>
            </a:r>
            <a:r>
              <a:rPr lang="ko-KR" altLang="en-US" dirty="0"/>
              <a:t> 커널</a:t>
            </a:r>
            <a:endParaRPr lang="en-US" altLang="ko-KR" dirty="0"/>
          </a:p>
          <a:p>
            <a:pPr lvl="2"/>
            <a:r>
              <a:rPr lang="ko-KR" altLang="en-US" dirty="0"/>
              <a:t>단일형 또는 일체형 커널이라고도 함</a:t>
            </a:r>
            <a:endParaRPr lang="en-US" altLang="ko-KR" dirty="0"/>
          </a:p>
          <a:p>
            <a:pPr lvl="2"/>
            <a:r>
              <a:rPr lang="ko-KR" altLang="en-US" dirty="0"/>
              <a:t>운영체제의 기능은 대부분 커널 모드에서 수행</a:t>
            </a:r>
            <a:endParaRPr lang="en-US" altLang="ko-KR" dirty="0"/>
          </a:p>
          <a:p>
            <a:pPr lvl="1"/>
            <a:r>
              <a:rPr lang="ko-KR" altLang="en-US" dirty="0"/>
              <a:t>마이크로 커널</a:t>
            </a:r>
            <a:endParaRPr lang="en-US" altLang="ko-KR" dirty="0"/>
          </a:p>
          <a:p>
            <a:pPr lvl="2"/>
            <a:r>
              <a:rPr lang="ko-KR" altLang="en-US" dirty="0"/>
              <a:t>프로세스 관리나 메모리 관리 같은 기본 기능만 커널 모드에서 수행</a:t>
            </a:r>
            <a:endParaRPr lang="en-US" altLang="ko-KR" dirty="0"/>
          </a:p>
          <a:p>
            <a:pPr lvl="2"/>
            <a:r>
              <a:rPr lang="ko-KR" altLang="en-US" dirty="0"/>
              <a:t>나머지 기능은 사용자 모드에서 수행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D1DBE1-B3E7-6EAC-8909-FA4A4A71F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78C34-43E3-490B-9E7D-DDD59568136A}" type="slidenum">
              <a:rPr lang="ko-KR" altLang="en-US" smtClean="0"/>
              <a:pPr/>
              <a:t>9</a:t>
            </a:fld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2694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051FDD-3E1C-C346-F971-E01524C43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운영체제의 개요 </a:t>
            </a:r>
            <a:r>
              <a:rPr lang="en-US" altLang="ko-KR" dirty="0"/>
              <a:t>- 7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B05F9D-E544-31FA-17F0-013949BD2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모놀리식</a:t>
            </a:r>
            <a:r>
              <a:rPr lang="ko-KR" altLang="en-US" dirty="0"/>
              <a:t> 커널과 마이크로 커널 비교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BB7237-9771-6DFA-F964-0C41FC88B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78C34-43E3-490B-9E7D-DDD59568136A}" type="slidenum">
              <a:rPr lang="ko-KR" altLang="en-US" smtClean="0"/>
              <a:pPr/>
              <a:t>10</a:t>
            </a:fld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BE05D95-D7A3-17BE-DB50-0EF17B9AE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732607"/>
            <a:ext cx="8919221" cy="3889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018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90D555-7888-387A-7A86-70642C659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운영체제의 개요 </a:t>
            </a:r>
            <a:r>
              <a:rPr lang="en-US" altLang="ko-KR" dirty="0"/>
              <a:t>- 8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E649F3-E0A7-0526-9596-808F7D41B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운영체제의 간단한 역사</a:t>
            </a:r>
            <a:endParaRPr lang="en-US" altLang="ko-KR" dirty="0"/>
          </a:p>
          <a:p>
            <a:pPr marL="457200" lvl="1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7460D0-3E6A-92F7-EEE8-7A5417EAE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78C34-43E3-490B-9E7D-DDD59568136A}" type="slidenum">
              <a:rPr lang="ko-KR" altLang="en-US" smtClean="0"/>
              <a:pPr/>
              <a:t>11</a:t>
            </a:fld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053818A1-CDF6-C160-BE31-0F77CBE3D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620" y="1551950"/>
            <a:ext cx="7318761" cy="4749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529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1CAA89E8-B1C4-A160-0EA3-9F161787B2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가톨릭대학교 컴퓨터정보공학부</a:t>
            </a:r>
            <a:endParaRPr lang="en-US" altLang="ko-KR" dirty="0"/>
          </a:p>
          <a:p>
            <a:r>
              <a:rPr lang="ko-KR" altLang="en-US" dirty="0"/>
              <a:t>박 영 환</a:t>
            </a:r>
            <a:endParaRPr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F2C07A8-7624-0571-E068-419199AE13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/>
              <a:t>Section 02</a:t>
            </a:r>
            <a:br>
              <a:rPr lang="en-US" altLang="ko-KR" dirty="0"/>
            </a:br>
            <a:r>
              <a:rPr lang="ko-KR" altLang="en-US" dirty="0"/>
              <a:t>리눅스 기초</a:t>
            </a:r>
          </a:p>
        </p:txBody>
      </p:sp>
    </p:spTree>
    <p:extLst>
      <p:ext uri="{BB962C8B-B14F-4D97-AF65-F5344CB8AC3E}">
        <p14:creationId xmlns:p14="http://schemas.microsoft.com/office/powerpoint/2010/main" val="1497706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4ED8CA-CB00-167A-60B6-42E59D315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9F12D8-F5DD-9F29-B454-8AA50BDAD9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2FE78B-C92A-893F-D664-B30CA8C07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78C34-43E3-490B-9E7D-DDD59568136A}" type="slidenum">
              <a:rPr lang="ko-KR" altLang="en-US" smtClean="0"/>
              <a:pPr/>
              <a:t>13</a:t>
            </a:fld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9061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146</TotalTime>
  <Words>507</Words>
  <Application>Microsoft Office PowerPoint</Application>
  <PresentationFormat>화면 슬라이드 쇼(4:3)</PresentationFormat>
  <Paragraphs>99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2" baseType="lpstr">
      <vt:lpstr>Arial</vt:lpstr>
      <vt:lpstr>Pretendard SemiBold</vt:lpstr>
      <vt:lpstr>Aptos</vt:lpstr>
      <vt:lpstr>Pretendard</vt:lpstr>
      <vt:lpstr>Aptos Display</vt:lpstr>
      <vt:lpstr>Pretendard ExtraBold</vt:lpstr>
      <vt:lpstr>맑은 고딕</vt:lpstr>
      <vt:lpstr>Pretendard Medium</vt:lpstr>
      <vt:lpstr>Office 테마</vt:lpstr>
      <vt:lpstr>Chapter 01 리눅스 입문과 설치하기</vt:lpstr>
      <vt:lpstr>목차</vt:lpstr>
      <vt:lpstr>Section 01 운영체제의 개요</vt:lpstr>
      <vt:lpstr>운영체제의 개요 - 1</vt:lpstr>
      <vt:lpstr>운영체제의 개요 - 2</vt:lpstr>
      <vt:lpstr>운영체제의 개요 - 3</vt:lpstr>
      <vt:lpstr>운영체제의 개요 - 4</vt:lpstr>
      <vt:lpstr>운영체제의 개요 - 5 </vt:lpstr>
      <vt:lpstr>운영체제의 개요 - 6</vt:lpstr>
      <vt:lpstr>운영체제의 개요 - 7</vt:lpstr>
      <vt:lpstr>운영체제의 개요 - 8</vt:lpstr>
      <vt:lpstr>Section 02 리눅스 기초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/>
  <cp:lastModifiedBy>user</cp:lastModifiedBy>
  <cp:revision>21</cp:revision>
  <dcterms:created xsi:type="dcterms:W3CDTF">2026-10-17T12:34:39Z</dcterms:created>
  <dcterms:modified xsi:type="dcterms:W3CDTF">2026-10-18T14:14:54Z</dcterms:modified>
</cp:coreProperties>
</file>